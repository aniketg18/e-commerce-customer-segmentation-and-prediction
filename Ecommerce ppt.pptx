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nton" panose="020F0502020204030204" pitchFamily="2" charset="0"/>
      <p:regular r:id="rId19"/>
    </p:embeddedFont>
    <p:embeddedFont>
      <p:font typeface="Codec Pro" panose="020B0604020202020204" charset="0"/>
      <p:regular r:id="rId20"/>
    </p:embeddedFont>
    <p:embeddedFont>
      <p:font typeface="Codec Pro Bold" panose="020B0604020202020204" charset="0"/>
      <p:regular r:id="rId21"/>
    </p:embeddedFont>
    <p:embeddedFont>
      <p:font typeface="Cooper Hewitt Bold" panose="020B0604020202020204" charset="0"/>
      <p:regular r:id="rId22"/>
    </p:embeddedFont>
    <p:embeddedFont>
      <p:font typeface="DM Sans" panose="020F0502020204030204" pitchFamily="2" charset="0"/>
      <p:regular r:id="rId23"/>
    </p:embeddedFont>
    <p:embeddedFont>
      <p:font typeface="DM Sans Bold" panose="020B0604020202020204" charset="0"/>
      <p:regular r:id="rId24"/>
    </p:embeddedFont>
    <p:embeddedFont>
      <p:font typeface="Futura Bold" panose="020B0604020202020204" charset="0"/>
      <p:regular r:id="rId25"/>
    </p:embeddedFont>
    <p:embeddedFont>
      <p:font typeface="Georgia Pro Bold" panose="020B0604020202020204" charset="0"/>
      <p:regular r:id="rId26"/>
    </p:embeddedFont>
    <p:embeddedFont>
      <p:font typeface="Georgia Pro Condensed Bold" panose="020B0604020202020204" charset="0"/>
      <p:regular r:id="rId27"/>
    </p:embeddedFont>
    <p:embeddedFont>
      <p:font typeface="Georgia Pro Condensed Light" panose="020B0604020202020204" charset="0"/>
      <p:regular r:id="rId28"/>
    </p:embeddedFont>
    <p:embeddedFont>
      <p:font typeface="Georgia Pro Light" panose="020F0502020204030204" pitchFamily="18" charset="0"/>
      <p:regular r:id="rId29"/>
    </p:embeddedFont>
    <p:embeddedFont>
      <p:font typeface="HK Grotesk" panose="020B0604020202020204" charset="0"/>
      <p:regular r:id="rId30"/>
    </p:embeddedFont>
    <p:embeddedFont>
      <p:font typeface="HK Grotesk Bold" panose="020B0604020202020204" charset="0"/>
      <p:regular r:id="rId31"/>
    </p:embeddedFont>
    <p:embeddedFont>
      <p:font typeface="Noto Serif Display ExtraCondensed Bold" panose="020B0604020202020204"/>
      <p:regular r:id="rId32"/>
    </p:embeddedFont>
    <p:embeddedFont>
      <p:font typeface="Noto Serif Display ExtraCondensed Light" panose="020B0604020202020204"/>
      <p:regular r:id="rId33"/>
    </p:embeddedFont>
    <p:embeddedFont>
      <p:font typeface="Open Sans" panose="020B0606030504020204" pitchFamily="34" charset="0"/>
      <p:regular r:id="rId34"/>
    </p:embeddedFont>
    <p:embeddedFont>
      <p:font typeface="Open Sans Bold" panose="020B0604020202020204" charset="0"/>
      <p:regular r:id="rId35"/>
    </p:embeddedFont>
    <p:embeddedFont>
      <p:font typeface="Playpen Sans Bold" panose="020B0604020202020204" charset="0"/>
      <p:regular r:id="rId36"/>
    </p:embeddedFont>
    <p:embeddedFont>
      <p:font typeface="TT Hoves" panose="020B0604020202020204" charset="0"/>
      <p:regular r:id="rId37"/>
    </p:embeddedFont>
    <p:embeddedFont>
      <p:font typeface="TT Hoves Bold" panose="020B0604020202020204" charset="0"/>
      <p:regular r:id="rId38"/>
    </p:embeddedFont>
    <p:embeddedFont>
      <p:font typeface="TT Interphases" panose="020B0604020202020204" charset="0"/>
      <p:regular r:id="rId39"/>
    </p:embeddedFont>
    <p:embeddedFont>
      <p:font typeface="TT Interphases Bold" panose="020B0604020202020204" charset="0"/>
      <p:regular r:id="rId40"/>
    </p:embeddedFont>
    <p:embeddedFont>
      <p:font typeface="TT Norms Bold" panose="020B0604020202020204" charset="0"/>
      <p:regular r:id="rId41"/>
    </p:embeddedFont>
    <p:embeddedFont>
      <p:font typeface="Work Sans" panose="020F0502020204030204" pitchFamily="2" charset="0"/>
      <p:regular r:id="rId42"/>
    </p:embeddedFont>
    <p:embeddedFont>
      <p:font typeface="Work Sans Bold" panose="020B0604020202020204" charset="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529" autoAdjust="0"/>
  </p:normalViewPr>
  <p:slideViewPr>
    <p:cSldViewPr>
      <p:cViewPr varScale="1">
        <p:scale>
          <a:sx n="57" d="100"/>
          <a:sy n="57" d="100"/>
        </p:scale>
        <p:origin x="672"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theme" Target="theme/theme1.xml"/><Relationship Id="rId20" Type="http://schemas.openxmlformats.org/officeDocument/2006/relationships/font" Target="fonts/font2.fntdata"/><Relationship Id="rId41" Type="http://schemas.openxmlformats.org/officeDocument/2006/relationships/font" Target="fonts/font2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jpeg"/><Relationship Id="rId5" Type="http://schemas.openxmlformats.org/officeDocument/2006/relationships/image" Target="../media/image31.png"/><Relationship Id="rId4" Type="http://schemas.openxmlformats.org/officeDocument/2006/relationships/image" Target="../media/image30.svg"/></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9" Type="http://schemas.openxmlformats.org/officeDocument/2006/relationships/image" Target="../media/image4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A26"/>
        </a:solidFill>
        <a:effectLst/>
      </p:bgPr>
    </p:bg>
    <p:spTree>
      <p:nvGrpSpPr>
        <p:cNvPr id="1" name=""/>
        <p:cNvGrpSpPr/>
        <p:nvPr/>
      </p:nvGrpSpPr>
      <p:grpSpPr>
        <a:xfrm>
          <a:off x="0" y="0"/>
          <a:ext cx="0" cy="0"/>
          <a:chOff x="0" y="0"/>
          <a:chExt cx="0" cy="0"/>
        </a:xfrm>
      </p:grpSpPr>
      <p:grpSp>
        <p:nvGrpSpPr>
          <p:cNvPr id="2" name="Group 2"/>
          <p:cNvGrpSpPr/>
          <p:nvPr/>
        </p:nvGrpSpPr>
        <p:grpSpPr>
          <a:xfrm>
            <a:off x="9891424" y="738723"/>
            <a:ext cx="4517345" cy="823377"/>
            <a:chOff x="0" y="0"/>
            <a:chExt cx="6023127" cy="1097835"/>
          </a:xfrm>
        </p:grpSpPr>
        <p:sp>
          <p:nvSpPr>
            <p:cNvPr id="3" name="Freeform 3"/>
            <p:cNvSpPr/>
            <p:nvPr/>
          </p:nvSpPr>
          <p:spPr>
            <a:xfrm rot="-5400000" flipH="1">
              <a:off x="42366" y="184835"/>
              <a:ext cx="643433" cy="728164"/>
            </a:xfrm>
            <a:custGeom>
              <a:avLst/>
              <a:gdLst/>
              <a:ahLst/>
              <a:cxnLst/>
              <a:rect l="l" t="t" r="r" b="b"/>
              <a:pathLst>
                <a:path w="643433" h="728164">
                  <a:moveTo>
                    <a:pt x="643433" y="0"/>
                  </a:moveTo>
                  <a:lnTo>
                    <a:pt x="0" y="0"/>
                  </a:lnTo>
                  <a:lnTo>
                    <a:pt x="0" y="728165"/>
                  </a:lnTo>
                  <a:lnTo>
                    <a:pt x="643433" y="728165"/>
                  </a:lnTo>
                  <a:lnTo>
                    <a:pt x="64343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86036" y="133350"/>
              <a:ext cx="5037091" cy="964485"/>
            </a:xfrm>
            <a:prstGeom prst="rect">
              <a:avLst/>
            </a:prstGeom>
          </p:spPr>
          <p:txBody>
            <a:bodyPr lIns="0" tIns="0" rIns="0" bIns="0" rtlCol="0" anchor="t">
              <a:spAutoFit/>
            </a:bodyPr>
            <a:lstStyle/>
            <a:p>
              <a:pPr marL="0" lvl="0" indent="0" algn="l">
                <a:lnSpc>
                  <a:spcPts val="5017"/>
                </a:lnSpc>
              </a:pPr>
              <a:r>
                <a:rPr lang="en-US" sz="5453" spc="-109">
                  <a:solidFill>
                    <a:srgbClr val="F5F6F7"/>
                  </a:solidFill>
                  <a:latin typeface="Georgia Pro Light"/>
                  <a:ea typeface="Georgia Pro Light"/>
                  <a:cs typeface="Georgia Pro Light"/>
                  <a:sym typeface="Georgia Pro Light"/>
                </a:rPr>
                <a:t>E-Commerce </a:t>
              </a:r>
            </a:p>
          </p:txBody>
        </p:sp>
      </p:grpSp>
      <p:grpSp>
        <p:nvGrpSpPr>
          <p:cNvPr id="5" name="Group 5"/>
          <p:cNvGrpSpPr/>
          <p:nvPr/>
        </p:nvGrpSpPr>
        <p:grpSpPr>
          <a:xfrm>
            <a:off x="9843239" y="1562100"/>
            <a:ext cx="6348884" cy="5117699"/>
            <a:chOff x="0" y="0"/>
            <a:chExt cx="8465179" cy="6823599"/>
          </a:xfrm>
        </p:grpSpPr>
        <p:sp>
          <p:nvSpPr>
            <p:cNvPr id="6" name="TextBox 6"/>
            <p:cNvSpPr txBox="1"/>
            <p:nvPr/>
          </p:nvSpPr>
          <p:spPr>
            <a:xfrm>
              <a:off x="0" y="133350"/>
              <a:ext cx="8465179" cy="5221989"/>
            </a:xfrm>
            <a:prstGeom prst="rect">
              <a:avLst/>
            </a:prstGeom>
          </p:spPr>
          <p:txBody>
            <a:bodyPr lIns="0" tIns="0" rIns="0" bIns="0" rtlCol="0" anchor="t">
              <a:spAutoFit/>
            </a:bodyPr>
            <a:lstStyle/>
            <a:p>
              <a:pPr marL="0" lvl="0" indent="0" algn="l">
                <a:lnSpc>
                  <a:spcPts val="7530"/>
                </a:lnSpc>
              </a:pPr>
              <a:r>
                <a:rPr lang="en-US" sz="7530">
                  <a:solidFill>
                    <a:srgbClr val="F5F6F7"/>
                  </a:solidFill>
                  <a:latin typeface="Georgia Pro Light"/>
                  <a:ea typeface="Georgia Pro Light"/>
                  <a:cs typeface="Georgia Pro Light"/>
                  <a:sym typeface="Georgia Pro Light"/>
                </a:rPr>
                <a:t>Customer Segmentation AND </a:t>
              </a:r>
            </a:p>
            <a:p>
              <a:pPr marL="0" lvl="0" indent="0" algn="l">
                <a:lnSpc>
                  <a:spcPts val="7530"/>
                </a:lnSpc>
              </a:pPr>
              <a:r>
                <a:rPr lang="en-US" sz="7530">
                  <a:solidFill>
                    <a:srgbClr val="F5F6F7"/>
                  </a:solidFill>
                  <a:latin typeface="Georgia Pro Light"/>
                  <a:ea typeface="Georgia Pro Light"/>
                  <a:cs typeface="Georgia Pro Light"/>
                  <a:sym typeface="Georgia Pro Light"/>
                </a:rPr>
                <a:t>PREDICTION</a:t>
              </a:r>
            </a:p>
          </p:txBody>
        </p:sp>
        <p:sp>
          <p:nvSpPr>
            <p:cNvPr id="7" name="TextBox 7"/>
            <p:cNvSpPr txBox="1"/>
            <p:nvPr/>
          </p:nvSpPr>
          <p:spPr>
            <a:xfrm>
              <a:off x="0" y="5333464"/>
              <a:ext cx="7859412" cy="1490135"/>
            </a:xfrm>
            <a:prstGeom prst="rect">
              <a:avLst/>
            </a:prstGeom>
          </p:spPr>
          <p:txBody>
            <a:bodyPr lIns="0" tIns="0" rIns="0" bIns="0" rtlCol="0" anchor="t">
              <a:spAutoFit/>
            </a:bodyPr>
            <a:lstStyle/>
            <a:p>
              <a:pPr marL="0" lvl="0" indent="0" algn="l">
                <a:lnSpc>
                  <a:spcPts val="4510"/>
                </a:lnSpc>
              </a:pPr>
              <a:r>
                <a:rPr lang="en-US" sz="3221">
                  <a:solidFill>
                    <a:srgbClr val="F5F6F7"/>
                  </a:solidFill>
                  <a:latin typeface="DM Sans"/>
                  <a:ea typeface="DM Sans"/>
                  <a:cs typeface="DM Sans"/>
                  <a:sym typeface="DM Sans"/>
                </a:rPr>
                <a:t>Using RFM Analysis &amp; Machine Learning</a:t>
              </a:r>
            </a:p>
          </p:txBody>
        </p:sp>
      </p:grpSp>
      <p:grpSp>
        <p:nvGrpSpPr>
          <p:cNvPr id="8" name="Group 8"/>
          <p:cNvGrpSpPr/>
          <p:nvPr/>
        </p:nvGrpSpPr>
        <p:grpSpPr>
          <a:xfrm>
            <a:off x="9843239" y="8658543"/>
            <a:ext cx="5743575" cy="888872"/>
            <a:chOff x="0" y="0"/>
            <a:chExt cx="7658100" cy="1185162"/>
          </a:xfrm>
        </p:grpSpPr>
        <p:sp>
          <p:nvSpPr>
            <p:cNvPr id="9" name="TextBox 9"/>
            <p:cNvSpPr txBox="1"/>
            <p:nvPr/>
          </p:nvSpPr>
          <p:spPr>
            <a:xfrm>
              <a:off x="0" y="691344"/>
              <a:ext cx="7658100" cy="493818"/>
            </a:xfrm>
            <a:prstGeom prst="rect">
              <a:avLst/>
            </a:prstGeom>
          </p:spPr>
          <p:txBody>
            <a:bodyPr lIns="0" tIns="0" rIns="0" bIns="0" rtlCol="0" anchor="t">
              <a:spAutoFit/>
            </a:bodyPr>
            <a:lstStyle/>
            <a:p>
              <a:pPr marL="0" lvl="0" indent="0" algn="l">
                <a:lnSpc>
                  <a:spcPts val="3080"/>
                </a:lnSpc>
                <a:spcBef>
                  <a:spcPct val="0"/>
                </a:spcBef>
              </a:pPr>
              <a:r>
                <a:rPr lang="en-US" sz="2200">
                  <a:solidFill>
                    <a:srgbClr val="F5F6F7"/>
                  </a:solidFill>
                  <a:latin typeface="DM Sans"/>
                  <a:ea typeface="DM Sans"/>
                  <a:cs typeface="DM Sans"/>
                  <a:sym typeface="DM Sans"/>
                </a:rPr>
                <a:t>[Aniket Gaikwad]</a:t>
              </a:r>
            </a:p>
          </p:txBody>
        </p:sp>
        <p:sp>
          <p:nvSpPr>
            <p:cNvPr id="10" name="TextBox 10"/>
            <p:cNvSpPr txBox="1"/>
            <p:nvPr/>
          </p:nvSpPr>
          <p:spPr>
            <a:xfrm>
              <a:off x="0" y="-47625"/>
              <a:ext cx="7658100" cy="569172"/>
            </a:xfrm>
            <a:prstGeom prst="rect">
              <a:avLst/>
            </a:prstGeom>
          </p:spPr>
          <p:txBody>
            <a:bodyPr lIns="0" tIns="0" rIns="0" bIns="0" rtlCol="0" anchor="t">
              <a:spAutoFit/>
            </a:bodyPr>
            <a:lstStyle/>
            <a:p>
              <a:pPr marL="0" lvl="0" indent="0" algn="l">
                <a:lnSpc>
                  <a:spcPts val="3640"/>
                </a:lnSpc>
                <a:spcBef>
                  <a:spcPct val="0"/>
                </a:spcBef>
              </a:pPr>
              <a:r>
                <a:rPr lang="en-US" sz="2600" b="1">
                  <a:solidFill>
                    <a:srgbClr val="F5F6F7"/>
                  </a:solidFill>
                  <a:latin typeface="DM Sans Bold"/>
                  <a:ea typeface="DM Sans Bold"/>
                  <a:cs typeface="DM Sans Bold"/>
                  <a:sym typeface="DM Sans Bold"/>
                </a:rPr>
                <a:t>PRESENTED BY</a:t>
              </a:r>
            </a:p>
          </p:txBody>
        </p:sp>
      </p:grpSp>
      <p:grpSp>
        <p:nvGrpSpPr>
          <p:cNvPr id="11" name="Group 11"/>
          <p:cNvGrpSpPr/>
          <p:nvPr/>
        </p:nvGrpSpPr>
        <p:grpSpPr>
          <a:xfrm>
            <a:off x="0" y="0"/>
            <a:ext cx="9144000" cy="10287000"/>
            <a:chOff x="0" y="0"/>
            <a:chExt cx="1053100" cy="1184737"/>
          </a:xfrm>
        </p:grpSpPr>
        <p:sp>
          <p:nvSpPr>
            <p:cNvPr id="12" name="Freeform 12"/>
            <p:cNvSpPr/>
            <p:nvPr/>
          </p:nvSpPr>
          <p:spPr>
            <a:xfrm>
              <a:off x="0" y="0"/>
              <a:ext cx="1053100" cy="1184737"/>
            </a:xfrm>
            <a:custGeom>
              <a:avLst/>
              <a:gdLst/>
              <a:ahLst/>
              <a:cxnLst/>
              <a:rect l="l" t="t" r="r" b="b"/>
              <a:pathLst>
                <a:path w="1053100" h="1184737">
                  <a:moveTo>
                    <a:pt x="0" y="0"/>
                  </a:moveTo>
                  <a:lnTo>
                    <a:pt x="1053100" y="0"/>
                  </a:lnTo>
                  <a:lnTo>
                    <a:pt x="1053100" y="1184737"/>
                  </a:lnTo>
                  <a:lnTo>
                    <a:pt x="0" y="1184737"/>
                  </a:lnTo>
                  <a:close/>
                </a:path>
              </a:pathLst>
            </a:custGeom>
            <a:blipFill>
              <a:blip r:embed="rId4"/>
              <a:stretch>
                <a:fillRect l="-8593" r="-8593"/>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2669A"/>
        </a:solidFill>
        <a:effectLst/>
      </p:bgPr>
    </p:bg>
    <p:spTree>
      <p:nvGrpSpPr>
        <p:cNvPr id="1" name=""/>
        <p:cNvGrpSpPr/>
        <p:nvPr/>
      </p:nvGrpSpPr>
      <p:grpSpPr>
        <a:xfrm>
          <a:off x="0" y="0"/>
          <a:ext cx="0" cy="0"/>
          <a:chOff x="0" y="0"/>
          <a:chExt cx="0" cy="0"/>
        </a:xfrm>
      </p:grpSpPr>
      <p:sp>
        <p:nvSpPr>
          <p:cNvPr id="5" name="TextBox 5"/>
          <p:cNvSpPr txBox="1"/>
          <p:nvPr/>
        </p:nvSpPr>
        <p:spPr>
          <a:xfrm>
            <a:off x="722277" y="482102"/>
            <a:ext cx="9555909" cy="1755164"/>
          </a:xfrm>
          <a:prstGeom prst="rect">
            <a:avLst/>
          </a:prstGeom>
        </p:spPr>
        <p:txBody>
          <a:bodyPr lIns="0" tIns="0" rIns="0" bIns="0" rtlCol="0" anchor="t">
            <a:spAutoFit/>
          </a:bodyPr>
          <a:lstStyle/>
          <a:p>
            <a:pPr algn="l">
              <a:lnSpc>
                <a:spcPts val="13285"/>
              </a:lnSpc>
            </a:pPr>
            <a:r>
              <a:rPr lang="en-US" sz="13285">
                <a:solidFill>
                  <a:srgbClr val="FFFFFF"/>
                </a:solidFill>
                <a:latin typeface="Anton"/>
                <a:ea typeface="Anton"/>
                <a:cs typeface="Anton"/>
                <a:sym typeface="Anton"/>
              </a:rPr>
              <a:t>INTRODUCTION</a:t>
            </a:r>
          </a:p>
        </p:txBody>
      </p:sp>
      <p:sp>
        <p:nvSpPr>
          <p:cNvPr id="6" name="TextBox 6"/>
          <p:cNvSpPr txBox="1"/>
          <p:nvPr/>
        </p:nvSpPr>
        <p:spPr>
          <a:xfrm>
            <a:off x="722277" y="2523736"/>
            <a:ext cx="12641228" cy="6536080"/>
          </a:xfrm>
          <a:prstGeom prst="rect">
            <a:avLst/>
          </a:prstGeom>
        </p:spPr>
        <p:txBody>
          <a:bodyPr lIns="0" tIns="0" rIns="0" bIns="0" rtlCol="0" anchor="t">
            <a:spAutoFit/>
          </a:bodyPr>
          <a:lstStyle/>
          <a:p>
            <a:pPr marL="0" lvl="0" indent="0" algn="l">
              <a:lnSpc>
                <a:spcPts val="4292"/>
              </a:lnSpc>
              <a:spcBef>
                <a:spcPct val="0"/>
              </a:spcBef>
            </a:pPr>
            <a:r>
              <a:rPr lang="en-US" sz="3901">
                <a:solidFill>
                  <a:srgbClr val="FFFFFF"/>
                </a:solidFill>
                <a:latin typeface="Georgia Pro Light"/>
                <a:ea typeface="Georgia Pro Light"/>
                <a:cs typeface="Georgia Pro Light"/>
                <a:sym typeface="Georgia Pro Light"/>
              </a:rPr>
              <a:t>In today’s competitive                                             market, businesses generate massive transactional data but struggle to convert it into actionable insights. Without                               </a:t>
            </a:r>
            <a:r>
              <a:rPr lang="en-US" sz="3901" b="1">
                <a:solidFill>
                  <a:srgbClr val="FFFFFF"/>
                </a:solidFill>
                <a:latin typeface="Georgia Pro Bold"/>
                <a:ea typeface="Georgia Pro Bold"/>
                <a:cs typeface="Georgia Pro Bold"/>
                <a:sym typeface="Georgia Pro Bold"/>
              </a:rPr>
              <a:t>                                                              </a:t>
            </a:r>
            <a:r>
              <a:rPr lang="en-US" sz="3901">
                <a:solidFill>
                  <a:srgbClr val="FFFFFF"/>
                </a:solidFill>
                <a:latin typeface="Georgia Pro Light"/>
                <a:ea typeface="Georgia Pro Light"/>
                <a:cs typeface="Georgia Pro Light"/>
                <a:sym typeface="Georgia Pro Light"/>
              </a:rPr>
              <a:t>           .                           marketing efforts become generic, leading to low engagement and high churn.</a:t>
            </a:r>
          </a:p>
          <a:p>
            <a:pPr marL="0" lvl="0" indent="0" algn="l">
              <a:lnSpc>
                <a:spcPts val="4292"/>
              </a:lnSpc>
              <a:spcBef>
                <a:spcPct val="0"/>
              </a:spcBef>
            </a:pPr>
            <a:r>
              <a:rPr lang="en-US" sz="3901">
                <a:solidFill>
                  <a:srgbClr val="FFFFFF"/>
                </a:solidFill>
                <a:latin typeface="Georgia Pro Light"/>
                <a:ea typeface="Georgia Pro Light"/>
                <a:cs typeface="Georgia Pro Light"/>
                <a:sym typeface="Georgia Pro Light"/>
              </a:rPr>
              <a:t>   </a:t>
            </a:r>
          </a:p>
          <a:p>
            <a:pPr marL="0" lvl="0" indent="0" algn="l">
              <a:lnSpc>
                <a:spcPts val="4292"/>
              </a:lnSpc>
              <a:spcBef>
                <a:spcPct val="0"/>
              </a:spcBef>
            </a:pPr>
            <a:r>
              <a:rPr lang="en-US" sz="3901">
                <a:solidFill>
                  <a:srgbClr val="FFFFFF"/>
                </a:solidFill>
                <a:latin typeface="Georgia Pro Light"/>
                <a:ea typeface="Georgia Pro Light"/>
                <a:cs typeface="Georgia Pro Light"/>
                <a:sym typeface="Georgia Pro Light"/>
              </a:rPr>
              <a:t>This project aims to enhance marketing strategies and customer retention for an e-commerce company by gaining a deeper understanding of their customer base based on their purchasing patter. By leveraging machine learning, the project seeks to segment customers and predict future purchasing behavior.</a:t>
            </a:r>
          </a:p>
        </p:txBody>
      </p:sp>
      <p:grpSp>
        <p:nvGrpSpPr>
          <p:cNvPr id="2" name="Group 2"/>
          <p:cNvGrpSpPr/>
          <p:nvPr/>
        </p:nvGrpSpPr>
        <p:grpSpPr>
          <a:xfrm>
            <a:off x="13363505" y="-1031231"/>
            <a:ext cx="6436852" cy="643685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C24">
                <a:alpha val="12941"/>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5487947" y="2063370"/>
            <a:ext cx="4987226" cy="1062705"/>
          </a:xfrm>
          <a:prstGeom prst="rect">
            <a:avLst/>
          </a:prstGeom>
        </p:spPr>
        <p:txBody>
          <a:bodyPr lIns="0" tIns="0" rIns="0" bIns="0" rtlCol="0" anchor="t">
            <a:spAutoFit/>
          </a:bodyPr>
          <a:lstStyle/>
          <a:p>
            <a:pPr marL="0" lvl="0" indent="0" algn="l">
              <a:lnSpc>
                <a:spcPts val="8625"/>
              </a:lnSpc>
            </a:pPr>
            <a:r>
              <a:rPr lang="en-US" sz="6161" b="1">
                <a:solidFill>
                  <a:srgbClr val="F5F6F7"/>
                </a:solidFill>
                <a:latin typeface="Playpen Sans Bold"/>
                <a:ea typeface="Playpen Sans Bold"/>
                <a:cs typeface="Playpen Sans Bold"/>
                <a:sym typeface="Playpen Sans Bold"/>
              </a:rPr>
              <a:t>E-commerce</a:t>
            </a:r>
          </a:p>
        </p:txBody>
      </p:sp>
      <p:sp>
        <p:nvSpPr>
          <p:cNvPr id="8" name="TextBox 8"/>
          <p:cNvSpPr txBox="1"/>
          <p:nvPr/>
        </p:nvSpPr>
        <p:spPr>
          <a:xfrm>
            <a:off x="10278186" y="3492000"/>
            <a:ext cx="3369541" cy="702732"/>
          </a:xfrm>
          <a:prstGeom prst="rect">
            <a:avLst/>
          </a:prstGeom>
        </p:spPr>
        <p:txBody>
          <a:bodyPr lIns="0" tIns="0" rIns="0" bIns="0" rtlCol="0" anchor="t">
            <a:spAutoFit/>
          </a:bodyPr>
          <a:lstStyle/>
          <a:p>
            <a:pPr algn="ctr">
              <a:lnSpc>
                <a:spcPts val="5756"/>
              </a:lnSpc>
              <a:spcBef>
                <a:spcPct val="0"/>
              </a:spcBef>
            </a:pPr>
            <a:r>
              <a:rPr lang="en-US" sz="4111" b="1">
                <a:solidFill>
                  <a:srgbClr val="F5F6F7"/>
                </a:solidFill>
                <a:latin typeface="Playpen Sans Bold"/>
                <a:ea typeface="Playpen Sans Bold"/>
                <a:cs typeface="Playpen Sans Bold"/>
                <a:sym typeface="Playpen Sans Bold"/>
              </a:rPr>
              <a:t>CUSTOMER</a:t>
            </a:r>
          </a:p>
        </p:txBody>
      </p:sp>
      <p:sp>
        <p:nvSpPr>
          <p:cNvPr id="9" name="TextBox 9"/>
          <p:cNvSpPr txBox="1"/>
          <p:nvPr/>
        </p:nvSpPr>
        <p:spPr>
          <a:xfrm>
            <a:off x="152941" y="4187339"/>
            <a:ext cx="3861860" cy="545277"/>
          </a:xfrm>
          <a:prstGeom prst="rect">
            <a:avLst/>
          </a:prstGeom>
        </p:spPr>
        <p:txBody>
          <a:bodyPr wrap="square" lIns="0" tIns="0" rIns="0" bIns="0" rtlCol="0" anchor="t">
            <a:spAutoFit/>
          </a:bodyPr>
          <a:lstStyle/>
          <a:p>
            <a:pPr algn="ctr">
              <a:lnSpc>
                <a:spcPts val="4544"/>
              </a:lnSpc>
              <a:spcBef>
                <a:spcPct val="0"/>
              </a:spcBef>
            </a:pPr>
            <a:r>
              <a:rPr lang="en-US" sz="3245" b="1" dirty="0">
                <a:solidFill>
                  <a:srgbClr val="F5F6F7"/>
                </a:solidFill>
                <a:latin typeface="Playpen Sans Bold"/>
                <a:ea typeface="Playpen Sans Bold"/>
                <a:cs typeface="Playpen Sans Bold"/>
                <a:sym typeface="Playpen Sans Bold"/>
              </a:rPr>
              <a:t>SEGMENTATION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31E"/>
        </a:solidFill>
        <a:effectLst/>
      </p:bgPr>
    </p:bg>
    <p:spTree>
      <p:nvGrpSpPr>
        <p:cNvPr id="1" name=""/>
        <p:cNvGrpSpPr/>
        <p:nvPr/>
      </p:nvGrpSpPr>
      <p:grpSpPr>
        <a:xfrm>
          <a:off x="0" y="0"/>
          <a:ext cx="0" cy="0"/>
          <a:chOff x="0" y="0"/>
          <a:chExt cx="0" cy="0"/>
        </a:xfrm>
      </p:grpSpPr>
      <p:grpSp>
        <p:nvGrpSpPr>
          <p:cNvPr id="2" name="Group 2"/>
          <p:cNvGrpSpPr/>
          <p:nvPr/>
        </p:nvGrpSpPr>
        <p:grpSpPr>
          <a:xfrm>
            <a:off x="8774527" y="-702019"/>
            <a:ext cx="8484773" cy="10027706"/>
            <a:chOff x="0" y="0"/>
            <a:chExt cx="687737" cy="812800"/>
          </a:xfrm>
        </p:grpSpPr>
        <p:sp>
          <p:nvSpPr>
            <p:cNvPr id="3" name="Freeform 3"/>
            <p:cNvSpPr/>
            <p:nvPr/>
          </p:nvSpPr>
          <p:spPr>
            <a:xfrm>
              <a:off x="0" y="6002"/>
              <a:ext cx="687737" cy="800795"/>
            </a:xfrm>
            <a:custGeom>
              <a:avLst/>
              <a:gdLst/>
              <a:ahLst/>
              <a:cxnLst/>
              <a:rect l="l" t="t" r="r" b="b"/>
              <a:pathLst>
                <a:path w="687737" h="800795">
                  <a:moveTo>
                    <a:pt x="362771" y="5168"/>
                  </a:moveTo>
                  <a:lnTo>
                    <a:pt x="668835" y="186028"/>
                  </a:lnTo>
                  <a:cubicBezTo>
                    <a:pt x="680550" y="192951"/>
                    <a:pt x="687737" y="205546"/>
                    <a:pt x="687737" y="219154"/>
                  </a:cubicBezTo>
                  <a:lnTo>
                    <a:pt x="687737" y="581642"/>
                  </a:lnTo>
                  <a:cubicBezTo>
                    <a:pt x="687737" y="595250"/>
                    <a:pt x="680550" y="607845"/>
                    <a:pt x="668835" y="614768"/>
                  </a:cubicBezTo>
                  <a:lnTo>
                    <a:pt x="362771" y="795628"/>
                  </a:lnTo>
                  <a:cubicBezTo>
                    <a:pt x="351111" y="802518"/>
                    <a:pt x="336626" y="802518"/>
                    <a:pt x="324966" y="795628"/>
                  </a:cubicBezTo>
                  <a:lnTo>
                    <a:pt x="18902" y="614768"/>
                  </a:lnTo>
                  <a:cubicBezTo>
                    <a:pt x="7187" y="607845"/>
                    <a:pt x="0" y="595250"/>
                    <a:pt x="0" y="581642"/>
                  </a:cubicBezTo>
                  <a:lnTo>
                    <a:pt x="0" y="219154"/>
                  </a:lnTo>
                  <a:cubicBezTo>
                    <a:pt x="0" y="205546"/>
                    <a:pt x="7187" y="192951"/>
                    <a:pt x="18902" y="186028"/>
                  </a:cubicBezTo>
                  <a:lnTo>
                    <a:pt x="324966" y="5168"/>
                  </a:lnTo>
                  <a:cubicBezTo>
                    <a:pt x="336626" y="-1722"/>
                    <a:pt x="351111" y="-1722"/>
                    <a:pt x="362771" y="5168"/>
                  </a:cubicBezTo>
                  <a:close/>
                </a:path>
              </a:pathLst>
            </a:custGeom>
            <a:ln w="76200" cap="rnd">
              <a:solidFill>
                <a:srgbClr val="FFDE59"/>
              </a:solidFill>
              <a:prstDash val="solid"/>
              <a:round/>
            </a:ln>
          </p:spPr>
        </p:sp>
        <p:sp>
          <p:nvSpPr>
            <p:cNvPr id="4" name="TextBox 4"/>
            <p:cNvSpPr txBox="1"/>
            <p:nvPr/>
          </p:nvSpPr>
          <p:spPr>
            <a:xfrm>
              <a:off x="0" y="101600"/>
              <a:ext cx="687737"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3382247" y="4755997"/>
            <a:ext cx="5980011" cy="6576526"/>
            <a:chOff x="0" y="0"/>
            <a:chExt cx="698500" cy="768176"/>
          </a:xfrm>
        </p:grpSpPr>
        <p:sp>
          <p:nvSpPr>
            <p:cNvPr id="6" name="Freeform 6"/>
            <p:cNvSpPr/>
            <p:nvPr/>
          </p:nvSpPr>
          <p:spPr>
            <a:xfrm>
              <a:off x="0" y="5102"/>
              <a:ext cx="698500" cy="757973"/>
            </a:xfrm>
            <a:custGeom>
              <a:avLst/>
              <a:gdLst/>
              <a:ahLst/>
              <a:cxnLst/>
              <a:rect l="l" t="t" r="r" b="b"/>
              <a:pathLst>
                <a:path w="698500" h="757973">
                  <a:moveTo>
                    <a:pt x="365598" y="4410"/>
                  </a:moveTo>
                  <a:lnTo>
                    <a:pt x="682152" y="188586"/>
                  </a:lnTo>
                  <a:cubicBezTo>
                    <a:pt x="692273" y="194475"/>
                    <a:pt x="698500" y="205302"/>
                    <a:pt x="698500" y="217012"/>
                  </a:cubicBezTo>
                  <a:lnTo>
                    <a:pt x="698500" y="540961"/>
                  </a:lnTo>
                  <a:cubicBezTo>
                    <a:pt x="698500" y="552671"/>
                    <a:pt x="692273" y="563497"/>
                    <a:pt x="682152" y="569386"/>
                  </a:cubicBezTo>
                  <a:lnTo>
                    <a:pt x="365598" y="753563"/>
                  </a:lnTo>
                  <a:cubicBezTo>
                    <a:pt x="355492" y="759442"/>
                    <a:pt x="343008" y="759442"/>
                    <a:pt x="332902" y="753563"/>
                  </a:cubicBezTo>
                  <a:lnTo>
                    <a:pt x="16348" y="569386"/>
                  </a:lnTo>
                  <a:cubicBezTo>
                    <a:pt x="6227" y="563497"/>
                    <a:pt x="0" y="552671"/>
                    <a:pt x="0" y="540961"/>
                  </a:cubicBezTo>
                  <a:lnTo>
                    <a:pt x="0" y="217012"/>
                  </a:lnTo>
                  <a:cubicBezTo>
                    <a:pt x="0" y="205302"/>
                    <a:pt x="6227" y="194475"/>
                    <a:pt x="16348" y="188586"/>
                  </a:cubicBezTo>
                  <a:lnTo>
                    <a:pt x="332902" y="4410"/>
                  </a:lnTo>
                  <a:cubicBezTo>
                    <a:pt x="343008" y="-1470"/>
                    <a:pt x="355492" y="-1470"/>
                    <a:pt x="365598" y="4410"/>
                  </a:cubicBezTo>
                  <a:close/>
                </a:path>
              </a:pathLst>
            </a:custGeom>
            <a:solidFill>
              <a:srgbClr val="2367B1"/>
            </a:solidFill>
          </p:spPr>
        </p:sp>
        <p:sp>
          <p:nvSpPr>
            <p:cNvPr id="7" name="TextBox 7"/>
            <p:cNvSpPr txBox="1"/>
            <p:nvPr/>
          </p:nvSpPr>
          <p:spPr>
            <a:xfrm>
              <a:off x="0" y="101600"/>
              <a:ext cx="698500" cy="52687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5462691">
            <a:off x="367473" y="568474"/>
            <a:ext cx="434008" cy="477803"/>
            <a:chOff x="0" y="0"/>
            <a:chExt cx="698500" cy="768984"/>
          </a:xfrm>
        </p:grpSpPr>
        <p:sp>
          <p:nvSpPr>
            <p:cNvPr id="9" name="Freeform 9"/>
            <p:cNvSpPr/>
            <p:nvPr/>
          </p:nvSpPr>
          <p:spPr>
            <a:xfrm>
              <a:off x="0" y="4135"/>
              <a:ext cx="698500" cy="760714"/>
            </a:xfrm>
            <a:custGeom>
              <a:avLst/>
              <a:gdLst/>
              <a:ahLst/>
              <a:cxnLst/>
              <a:rect l="l" t="t" r="r" b="b"/>
              <a:pathLst>
                <a:path w="698500" h="760714">
                  <a:moveTo>
                    <a:pt x="362500" y="3574"/>
                  </a:moveTo>
                  <a:lnTo>
                    <a:pt x="685250" y="191356"/>
                  </a:lnTo>
                  <a:cubicBezTo>
                    <a:pt x="693453" y="196129"/>
                    <a:pt x="698500" y="204904"/>
                    <a:pt x="698500" y="214395"/>
                  </a:cubicBezTo>
                  <a:lnTo>
                    <a:pt x="698500" y="546319"/>
                  </a:lnTo>
                  <a:cubicBezTo>
                    <a:pt x="698500" y="555810"/>
                    <a:pt x="693453" y="564585"/>
                    <a:pt x="685250" y="569358"/>
                  </a:cubicBezTo>
                  <a:lnTo>
                    <a:pt x="362500" y="757140"/>
                  </a:lnTo>
                  <a:cubicBezTo>
                    <a:pt x="354309" y="761905"/>
                    <a:pt x="344191" y="761905"/>
                    <a:pt x="336000" y="757140"/>
                  </a:cubicBezTo>
                  <a:lnTo>
                    <a:pt x="13250" y="569358"/>
                  </a:lnTo>
                  <a:cubicBezTo>
                    <a:pt x="5047" y="564585"/>
                    <a:pt x="0" y="555810"/>
                    <a:pt x="0" y="546319"/>
                  </a:cubicBezTo>
                  <a:lnTo>
                    <a:pt x="0" y="214395"/>
                  </a:lnTo>
                  <a:cubicBezTo>
                    <a:pt x="0" y="204904"/>
                    <a:pt x="5047" y="196129"/>
                    <a:pt x="13250" y="191356"/>
                  </a:cubicBezTo>
                  <a:lnTo>
                    <a:pt x="336000" y="3574"/>
                  </a:lnTo>
                  <a:cubicBezTo>
                    <a:pt x="344191" y="-1191"/>
                    <a:pt x="354309" y="-1191"/>
                    <a:pt x="362500" y="3574"/>
                  </a:cubicBezTo>
                  <a:close/>
                </a:path>
              </a:pathLst>
            </a:custGeom>
            <a:solidFill>
              <a:srgbClr val="FFFFFF"/>
            </a:solidFill>
            <a:ln w="57150" cap="sq">
              <a:solidFill>
                <a:srgbClr val="022757"/>
              </a:solidFill>
              <a:prstDash val="solid"/>
              <a:miter/>
            </a:ln>
          </p:spPr>
        </p:sp>
        <p:sp>
          <p:nvSpPr>
            <p:cNvPr id="10" name="TextBox 10"/>
            <p:cNvSpPr txBox="1"/>
            <p:nvPr/>
          </p:nvSpPr>
          <p:spPr>
            <a:xfrm>
              <a:off x="0" y="101600"/>
              <a:ext cx="698500" cy="527684"/>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rot="-2006253">
            <a:off x="741735" y="351808"/>
            <a:ext cx="347950" cy="383060"/>
            <a:chOff x="0" y="0"/>
            <a:chExt cx="698500" cy="768984"/>
          </a:xfrm>
        </p:grpSpPr>
        <p:sp>
          <p:nvSpPr>
            <p:cNvPr id="12" name="Freeform 12"/>
            <p:cNvSpPr/>
            <p:nvPr/>
          </p:nvSpPr>
          <p:spPr>
            <a:xfrm>
              <a:off x="0" y="5158"/>
              <a:ext cx="698500" cy="758668"/>
            </a:xfrm>
            <a:custGeom>
              <a:avLst/>
              <a:gdLst/>
              <a:ahLst/>
              <a:cxnLst/>
              <a:rect l="l" t="t" r="r" b="b"/>
              <a:pathLst>
                <a:path w="698500" h="758668">
                  <a:moveTo>
                    <a:pt x="365777" y="4458"/>
                  </a:moveTo>
                  <a:lnTo>
                    <a:pt x="681973" y="188426"/>
                  </a:lnTo>
                  <a:cubicBezTo>
                    <a:pt x="692205" y="194380"/>
                    <a:pt x="698500" y="205325"/>
                    <a:pt x="698500" y="217163"/>
                  </a:cubicBezTo>
                  <a:lnTo>
                    <a:pt x="698500" y="541505"/>
                  </a:lnTo>
                  <a:cubicBezTo>
                    <a:pt x="698500" y="553343"/>
                    <a:pt x="692205" y="564289"/>
                    <a:pt x="681973" y="570242"/>
                  </a:cubicBezTo>
                  <a:lnTo>
                    <a:pt x="365777" y="754210"/>
                  </a:lnTo>
                  <a:cubicBezTo>
                    <a:pt x="355561" y="760154"/>
                    <a:pt x="342939" y="760154"/>
                    <a:pt x="332723" y="754210"/>
                  </a:cubicBezTo>
                  <a:lnTo>
                    <a:pt x="16527" y="570242"/>
                  </a:lnTo>
                  <a:cubicBezTo>
                    <a:pt x="6295" y="564289"/>
                    <a:pt x="0" y="553343"/>
                    <a:pt x="0" y="541505"/>
                  </a:cubicBezTo>
                  <a:lnTo>
                    <a:pt x="0" y="217163"/>
                  </a:lnTo>
                  <a:cubicBezTo>
                    <a:pt x="0" y="205325"/>
                    <a:pt x="6295" y="194380"/>
                    <a:pt x="16527" y="188426"/>
                  </a:cubicBezTo>
                  <a:lnTo>
                    <a:pt x="332723" y="4458"/>
                  </a:lnTo>
                  <a:cubicBezTo>
                    <a:pt x="342939" y="-1486"/>
                    <a:pt x="355561" y="-1486"/>
                    <a:pt x="365777" y="4458"/>
                  </a:cubicBezTo>
                  <a:close/>
                </a:path>
              </a:pathLst>
            </a:custGeom>
            <a:solidFill>
              <a:srgbClr val="FFFFFF"/>
            </a:solidFill>
            <a:ln w="57150" cap="sq">
              <a:solidFill>
                <a:srgbClr val="022757"/>
              </a:solidFill>
              <a:prstDash val="solid"/>
              <a:miter/>
            </a:ln>
          </p:spPr>
        </p:sp>
        <p:sp>
          <p:nvSpPr>
            <p:cNvPr id="13" name="TextBox 13"/>
            <p:cNvSpPr txBox="1"/>
            <p:nvPr/>
          </p:nvSpPr>
          <p:spPr>
            <a:xfrm>
              <a:off x="0" y="101600"/>
              <a:ext cx="698500" cy="527684"/>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rot="-2006253">
            <a:off x="297564" y="80034"/>
            <a:ext cx="434008" cy="477803"/>
            <a:chOff x="0" y="0"/>
            <a:chExt cx="698500" cy="768984"/>
          </a:xfrm>
        </p:grpSpPr>
        <p:sp>
          <p:nvSpPr>
            <p:cNvPr id="15" name="Freeform 15"/>
            <p:cNvSpPr/>
            <p:nvPr/>
          </p:nvSpPr>
          <p:spPr>
            <a:xfrm>
              <a:off x="0" y="4135"/>
              <a:ext cx="698500" cy="760714"/>
            </a:xfrm>
            <a:custGeom>
              <a:avLst/>
              <a:gdLst/>
              <a:ahLst/>
              <a:cxnLst/>
              <a:rect l="l" t="t" r="r" b="b"/>
              <a:pathLst>
                <a:path w="698500" h="760714">
                  <a:moveTo>
                    <a:pt x="362500" y="3574"/>
                  </a:moveTo>
                  <a:lnTo>
                    <a:pt x="685250" y="191356"/>
                  </a:lnTo>
                  <a:cubicBezTo>
                    <a:pt x="693453" y="196129"/>
                    <a:pt x="698500" y="204904"/>
                    <a:pt x="698500" y="214395"/>
                  </a:cubicBezTo>
                  <a:lnTo>
                    <a:pt x="698500" y="546319"/>
                  </a:lnTo>
                  <a:cubicBezTo>
                    <a:pt x="698500" y="555810"/>
                    <a:pt x="693453" y="564585"/>
                    <a:pt x="685250" y="569358"/>
                  </a:cubicBezTo>
                  <a:lnTo>
                    <a:pt x="362500" y="757140"/>
                  </a:lnTo>
                  <a:cubicBezTo>
                    <a:pt x="354309" y="761905"/>
                    <a:pt x="344191" y="761905"/>
                    <a:pt x="336000" y="757140"/>
                  </a:cubicBezTo>
                  <a:lnTo>
                    <a:pt x="13250" y="569358"/>
                  </a:lnTo>
                  <a:cubicBezTo>
                    <a:pt x="5047" y="564585"/>
                    <a:pt x="0" y="555810"/>
                    <a:pt x="0" y="546319"/>
                  </a:cubicBezTo>
                  <a:lnTo>
                    <a:pt x="0" y="214395"/>
                  </a:lnTo>
                  <a:cubicBezTo>
                    <a:pt x="0" y="204904"/>
                    <a:pt x="5047" y="196129"/>
                    <a:pt x="13250" y="191356"/>
                  </a:cubicBezTo>
                  <a:lnTo>
                    <a:pt x="336000" y="3574"/>
                  </a:lnTo>
                  <a:cubicBezTo>
                    <a:pt x="344191" y="-1191"/>
                    <a:pt x="354309" y="-1191"/>
                    <a:pt x="362500" y="3574"/>
                  </a:cubicBezTo>
                  <a:close/>
                </a:path>
              </a:pathLst>
            </a:custGeom>
            <a:solidFill>
              <a:srgbClr val="FFFFFF"/>
            </a:solidFill>
            <a:ln w="57150" cap="sq">
              <a:solidFill>
                <a:srgbClr val="022757"/>
              </a:solidFill>
              <a:prstDash val="solid"/>
              <a:miter/>
            </a:ln>
          </p:spPr>
        </p:sp>
        <p:sp>
          <p:nvSpPr>
            <p:cNvPr id="16" name="TextBox 16"/>
            <p:cNvSpPr txBox="1"/>
            <p:nvPr/>
          </p:nvSpPr>
          <p:spPr>
            <a:xfrm>
              <a:off x="0" y="101600"/>
              <a:ext cx="698500" cy="527684"/>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8294138" y="1236481"/>
            <a:ext cx="3832845" cy="4460037"/>
            <a:chOff x="0" y="0"/>
            <a:chExt cx="698500" cy="812800"/>
          </a:xfrm>
        </p:grpSpPr>
        <p:sp>
          <p:nvSpPr>
            <p:cNvPr id="18" name="Freeform 18"/>
            <p:cNvSpPr/>
            <p:nvPr/>
          </p:nvSpPr>
          <p:spPr>
            <a:xfrm>
              <a:off x="0" y="13110"/>
              <a:ext cx="698500" cy="786579"/>
            </a:xfrm>
            <a:custGeom>
              <a:avLst/>
              <a:gdLst/>
              <a:ahLst/>
              <a:cxnLst/>
              <a:rect l="l" t="t" r="r" b="b"/>
              <a:pathLst>
                <a:path w="698500" h="786579">
                  <a:moveTo>
                    <a:pt x="391260" y="11332"/>
                  </a:moveTo>
                  <a:lnTo>
                    <a:pt x="656490" y="165648"/>
                  </a:lnTo>
                  <a:cubicBezTo>
                    <a:pt x="682499" y="180780"/>
                    <a:pt x="698500" y="208602"/>
                    <a:pt x="698500" y="238694"/>
                  </a:cubicBezTo>
                  <a:lnTo>
                    <a:pt x="698500" y="547886"/>
                  </a:lnTo>
                  <a:cubicBezTo>
                    <a:pt x="698500" y="577978"/>
                    <a:pt x="682499" y="605800"/>
                    <a:pt x="656490" y="620932"/>
                  </a:cubicBezTo>
                  <a:lnTo>
                    <a:pt x="391260" y="775248"/>
                  </a:lnTo>
                  <a:cubicBezTo>
                    <a:pt x="365291" y="790357"/>
                    <a:pt x="333209" y="790357"/>
                    <a:pt x="307240" y="775248"/>
                  </a:cubicBezTo>
                  <a:lnTo>
                    <a:pt x="42010" y="620932"/>
                  </a:lnTo>
                  <a:cubicBezTo>
                    <a:pt x="16001" y="605800"/>
                    <a:pt x="0" y="577978"/>
                    <a:pt x="0" y="547886"/>
                  </a:cubicBezTo>
                  <a:lnTo>
                    <a:pt x="0" y="238694"/>
                  </a:lnTo>
                  <a:cubicBezTo>
                    <a:pt x="0" y="208602"/>
                    <a:pt x="16001" y="180780"/>
                    <a:pt x="42010" y="165648"/>
                  </a:cubicBezTo>
                  <a:lnTo>
                    <a:pt x="307240" y="11332"/>
                  </a:lnTo>
                  <a:cubicBezTo>
                    <a:pt x="333209" y="-3777"/>
                    <a:pt x="365291" y="-3777"/>
                    <a:pt x="391260" y="11332"/>
                  </a:cubicBezTo>
                  <a:close/>
                </a:path>
              </a:pathLst>
            </a:custGeom>
            <a:solidFill>
              <a:srgbClr val="FFDE59"/>
            </a:solidFill>
          </p:spPr>
        </p:sp>
        <p:sp>
          <p:nvSpPr>
            <p:cNvPr id="19" name="TextBox 19"/>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7621959" y="767547"/>
            <a:ext cx="3952171" cy="4598890"/>
            <a:chOff x="0" y="0"/>
            <a:chExt cx="698500" cy="812800"/>
          </a:xfrm>
        </p:grpSpPr>
        <p:sp>
          <p:nvSpPr>
            <p:cNvPr id="21" name="Freeform 21"/>
            <p:cNvSpPr/>
            <p:nvPr/>
          </p:nvSpPr>
          <p:spPr>
            <a:xfrm>
              <a:off x="0" y="12715"/>
              <a:ext cx="698500" cy="787371"/>
            </a:xfrm>
            <a:custGeom>
              <a:avLst/>
              <a:gdLst/>
              <a:ahLst/>
              <a:cxnLst/>
              <a:rect l="l" t="t" r="r" b="b"/>
              <a:pathLst>
                <a:path w="698500" h="787371">
                  <a:moveTo>
                    <a:pt x="389992" y="10989"/>
                  </a:moveTo>
                  <a:lnTo>
                    <a:pt x="657758" y="166781"/>
                  </a:lnTo>
                  <a:cubicBezTo>
                    <a:pt x="682982" y="181456"/>
                    <a:pt x="698500" y="208438"/>
                    <a:pt x="698500" y="237621"/>
                  </a:cubicBezTo>
                  <a:lnTo>
                    <a:pt x="698500" y="549749"/>
                  </a:lnTo>
                  <a:cubicBezTo>
                    <a:pt x="698500" y="578932"/>
                    <a:pt x="682982" y="605914"/>
                    <a:pt x="657758" y="620589"/>
                  </a:cubicBezTo>
                  <a:lnTo>
                    <a:pt x="389992" y="776381"/>
                  </a:lnTo>
                  <a:cubicBezTo>
                    <a:pt x="364807" y="791034"/>
                    <a:pt x="333693" y="791034"/>
                    <a:pt x="308508" y="776381"/>
                  </a:cubicBezTo>
                  <a:lnTo>
                    <a:pt x="40742" y="620589"/>
                  </a:lnTo>
                  <a:cubicBezTo>
                    <a:pt x="15518" y="605914"/>
                    <a:pt x="0" y="578932"/>
                    <a:pt x="0" y="549749"/>
                  </a:cubicBezTo>
                  <a:lnTo>
                    <a:pt x="0" y="237621"/>
                  </a:lnTo>
                  <a:cubicBezTo>
                    <a:pt x="0" y="208438"/>
                    <a:pt x="15518" y="181456"/>
                    <a:pt x="40742" y="166781"/>
                  </a:cubicBezTo>
                  <a:lnTo>
                    <a:pt x="308508" y="10989"/>
                  </a:lnTo>
                  <a:cubicBezTo>
                    <a:pt x="333693" y="-3664"/>
                    <a:pt x="364807" y="-3664"/>
                    <a:pt x="389992" y="10989"/>
                  </a:cubicBezTo>
                  <a:close/>
                </a:path>
              </a:pathLst>
            </a:custGeom>
            <a:solidFill>
              <a:srgbClr val="D6C03F"/>
            </a:solidFill>
          </p:spPr>
        </p:sp>
        <p:sp>
          <p:nvSpPr>
            <p:cNvPr id="22" name="TextBox 22"/>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23"/>
          <p:cNvGrpSpPr/>
          <p:nvPr/>
        </p:nvGrpSpPr>
        <p:grpSpPr>
          <a:xfrm>
            <a:off x="13382247" y="3778877"/>
            <a:ext cx="7132878" cy="7940703"/>
            <a:chOff x="0" y="0"/>
            <a:chExt cx="730112" cy="812800"/>
          </a:xfrm>
        </p:grpSpPr>
        <p:sp>
          <p:nvSpPr>
            <p:cNvPr id="24" name="Freeform 24"/>
            <p:cNvSpPr/>
            <p:nvPr/>
          </p:nvSpPr>
          <p:spPr>
            <a:xfrm>
              <a:off x="0" y="6779"/>
              <a:ext cx="730112" cy="799242"/>
            </a:xfrm>
            <a:custGeom>
              <a:avLst/>
              <a:gdLst/>
              <a:ahLst/>
              <a:cxnLst/>
              <a:rect l="l" t="t" r="r" b="b"/>
              <a:pathLst>
                <a:path w="730112" h="799242">
                  <a:moveTo>
                    <a:pt x="387876" y="5923"/>
                  </a:moveTo>
                  <a:lnTo>
                    <a:pt x="707292" y="183719"/>
                  </a:lnTo>
                  <a:cubicBezTo>
                    <a:pt x="721379" y="191560"/>
                    <a:pt x="730112" y="206416"/>
                    <a:pt x="730112" y="222538"/>
                  </a:cubicBezTo>
                  <a:lnTo>
                    <a:pt x="730112" y="576704"/>
                  </a:lnTo>
                  <a:cubicBezTo>
                    <a:pt x="730112" y="592826"/>
                    <a:pt x="721379" y="607682"/>
                    <a:pt x="707292" y="615523"/>
                  </a:cubicBezTo>
                  <a:lnTo>
                    <a:pt x="387876" y="793319"/>
                  </a:lnTo>
                  <a:cubicBezTo>
                    <a:pt x="373688" y="801216"/>
                    <a:pt x="356424" y="801216"/>
                    <a:pt x="342236" y="793319"/>
                  </a:cubicBezTo>
                  <a:lnTo>
                    <a:pt x="22820" y="615523"/>
                  </a:lnTo>
                  <a:cubicBezTo>
                    <a:pt x="8734" y="607682"/>
                    <a:pt x="0" y="592826"/>
                    <a:pt x="0" y="576704"/>
                  </a:cubicBezTo>
                  <a:lnTo>
                    <a:pt x="0" y="222538"/>
                  </a:lnTo>
                  <a:cubicBezTo>
                    <a:pt x="0" y="206416"/>
                    <a:pt x="8734" y="191560"/>
                    <a:pt x="22820" y="183719"/>
                  </a:cubicBezTo>
                  <a:lnTo>
                    <a:pt x="342236" y="5923"/>
                  </a:lnTo>
                  <a:cubicBezTo>
                    <a:pt x="356424" y="-1974"/>
                    <a:pt x="373688" y="-1974"/>
                    <a:pt x="387876" y="5923"/>
                  </a:cubicBezTo>
                  <a:close/>
                </a:path>
              </a:pathLst>
            </a:custGeom>
            <a:ln w="76200" cap="rnd">
              <a:solidFill>
                <a:srgbClr val="FFDE59"/>
              </a:solidFill>
              <a:prstDash val="solid"/>
              <a:round/>
            </a:ln>
          </p:spPr>
        </p:sp>
        <p:sp>
          <p:nvSpPr>
            <p:cNvPr id="25" name="TextBox 25"/>
            <p:cNvSpPr txBox="1"/>
            <p:nvPr/>
          </p:nvSpPr>
          <p:spPr>
            <a:xfrm>
              <a:off x="0" y="101600"/>
              <a:ext cx="730112"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26"/>
          <p:cNvGrpSpPr/>
          <p:nvPr/>
        </p:nvGrpSpPr>
        <p:grpSpPr>
          <a:xfrm>
            <a:off x="14076915" y="7067178"/>
            <a:ext cx="2767035" cy="3219822"/>
            <a:chOff x="0" y="0"/>
            <a:chExt cx="698500" cy="812800"/>
          </a:xfrm>
        </p:grpSpPr>
        <p:sp>
          <p:nvSpPr>
            <p:cNvPr id="27" name="Freeform 27"/>
            <p:cNvSpPr/>
            <p:nvPr/>
          </p:nvSpPr>
          <p:spPr>
            <a:xfrm>
              <a:off x="0" y="18160"/>
              <a:ext cx="698500" cy="776479"/>
            </a:xfrm>
            <a:custGeom>
              <a:avLst/>
              <a:gdLst/>
              <a:ahLst/>
              <a:cxnLst/>
              <a:rect l="l" t="t" r="r" b="b"/>
              <a:pathLst>
                <a:path w="698500" h="776479">
                  <a:moveTo>
                    <a:pt x="407442" y="15697"/>
                  </a:moveTo>
                  <a:lnTo>
                    <a:pt x="640308" y="151183"/>
                  </a:lnTo>
                  <a:cubicBezTo>
                    <a:pt x="676336" y="172145"/>
                    <a:pt x="698500" y="210683"/>
                    <a:pt x="698500" y="252365"/>
                  </a:cubicBezTo>
                  <a:lnTo>
                    <a:pt x="698500" y="524115"/>
                  </a:lnTo>
                  <a:cubicBezTo>
                    <a:pt x="698500" y="565797"/>
                    <a:pt x="676336" y="604335"/>
                    <a:pt x="640308" y="625297"/>
                  </a:cubicBezTo>
                  <a:lnTo>
                    <a:pt x="407442" y="760783"/>
                  </a:lnTo>
                  <a:cubicBezTo>
                    <a:pt x="371470" y="781712"/>
                    <a:pt x="327030" y="781712"/>
                    <a:pt x="291058" y="760783"/>
                  </a:cubicBezTo>
                  <a:lnTo>
                    <a:pt x="58192" y="625297"/>
                  </a:lnTo>
                  <a:cubicBezTo>
                    <a:pt x="22164" y="604335"/>
                    <a:pt x="0" y="565797"/>
                    <a:pt x="0" y="524115"/>
                  </a:cubicBezTo>
                  <a:lnTo>
                    <a:pt x="0" y="252365"/>
                  </a:lnTo>
                  <a:cubicBezTo>
                    <a:pt x="0" y="210683"/>
                    <a:pt x="22164" y="172145"/>
                    <a:pt x="58192" y="151183"/>
                  </a:cubicBezTo>
                  <a:lnTo>
                    <a:pt x="291058" y="15697"/>
                  </a:lnTo>
                  <a:cubicBezTo>
                    <a:pt x="327030" y="-5232"/>
                    <a:pt x="371470" y="-5232"/>
                    <a:pt x="407442" y="15697"/>
                  </a:cubicBezTo>
                  <a:close/>
                </a:path>
              </a:pathLst>
            </a:custGeom>
            <a:solidFill>
              <a:srgbClr val="0D1551"/>
            </a:solidFill>
          </p:spPr>
        </p:sp>
        <p:sp>
          <p:nvSpPr>
            <p:cNvPr id="28" name="TextBox 28"/>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29" name="Group 29"/>
          <p:cNvGrpSpPr/>
          <p:nvPr/>
        </p:nvGrpSpPr>
        <p:grpSpPr>
          <a:xfrm>
            <a:off x="8055617" y="1028700"/>
            <a:ext cx="3390495" cy="3945303"/>
            <a:chOff x="0" y="0"/>
            <a:chExt cx="698500" cy="812800"/>
          </a:xfrm>
        </p:grpSpPr>
        <p:sp>
          <p:nvSpPr>
            <p:cNvPr id="30" name="Freeform 30"/>
            <p:cNvSpPr/>
            <p:nvPr/>
          </p:nvSpPr>
          <p:spPr>
            <a:xfrm>
              <a:off x="0" y="12704"/>
              <a:ext cx="698500" cy="787393"/>
            </a:xfrm>
            <a:custGeom>
              <a:avLst/>
              <a:gdLst/>
              <a:ahLst/>
              <a:cxnLst/>
              <a:rect l="l" t="t" r="r" b="b"/>
              <a:pathLst>
                <a:path w="698500" h="787393">
                  <a:moveTo>
                    <a:pt x="389957" y="10980"/>
                  </a:moveTo>
                  <a:lnTo>
                    <a:pt x="657793" y="166812"/>
                  </a:lnTo>
                  <a:cubicBezTo>
                    <a:pt x="682996" y="181475"/>
                    <a:pt x="698500" y="208434"/>
                    <a:pt x="698500" y="237592"/>
                  </a:cubicBezTo>
                  <a:lnTo>
                    <a:pt x="698500" y="549800"/>
                  </a:lnTo>
                  <a:cubicBezTo>
                    <a:pt x="698500" y="578958"/>
                    <a:pt x="682996" y="605917"/>
                    <a:pt x="657793" y="620580"/>
                  </a:cubicBezTo>
                  <a:lnTo>
                    <a:pt x="389957" y="776412"/>
                  </a:lnTo>
                  <a:cubicBezTo>
                    <a:pt x="364794" y="791052"/>
                    <a:pt x="333706" y="791052"/>
                    <a:pt x="308543" y="776412"/>
                  </a:cubicBezTo>
                  <a:lnTo>
                    <a:pt x="40707" y="620580"/>
                  </a:lnTo>
                  <a:cubicBezTo>
                    <a:pt x="15504" y="605917"/>
                    <a:pt x="0" y="578958"/>
                    <a:pt x="0" y="549800"/>
                  </a:cubicBezTo>
                  <a:lnTo>
                    <a:pt x="0" y="237592"/>
                  </a:lnTo>
                  <a:cubicBezTo>
                    <a:pt x="0" y="208434"/>
                    <a:pt x="15504" y="181475"/>
                    <a:pt x="40707" y="166812"/>
                  </a:cubicBezTo>
                  <a:lnTo>
                    <a:pt x="308543" y="10980"/>
                  </a:lnTo>
                  <a:cubicBezTo>
                    <a:pt x="333706" y="-3660"/>
                    <a:pt x="364794" y="-3660"/>
                    <a:pt x="389957" y="10980"/>
                  </a:cubicBezTo>
                  <a:close/>
                </a:path>
              </a:pathLst>
            </a:custGeom>
            <a:blipFill>
              <a:blip r:embed="rId2"/>
              <a:stretch>
                <a:fillRect t="-16574" b="-16574"/>
              </a:stretch>
            </a:blipFill>
          </p:spPr>
        </p:sp>
      </p:grpSp>
      <p:grpSp>
        <p:nvGrpSpPr>
          <p:cNvPr id="31" name="Group 31"/>
          <p:cNvGrpSpPr/>
          <p:nvPr/>
        </p:nvGrpSpPr>
        <p:grpSpPr>
          <a:xfrm>
            <a:off x="7902798" y="287644"/>
            <a:ext cx="3489165" cy="4123661"/>
            <a:chOff x="0" y="0"/>
            <a:chExt cx="687737" cy="812800"/>
          </a:xfrm>
        </p:grpSpPr>
        <p:sp>
          <p:nvSpPr>
            <p:cNvPr id="32" name="Freeform 32"/>
            <p:cNvSpPr/>
            <p:nvPr/>
          </p:nvSpPr>
          <p:spPr>
            <a:xfrm>
              <a:off x="0" y="14596"/>
              <a:ext cx="687737" cy="783608"/>
            </a:xfrm>
            <a:custGeom>
              <a:avLst/>
              <a:gdLst/>
              <a:ahLst/>
              <a:cxnLst/>
              <a:rect l="l" t="t" r="r" b="b"/>
              <a:pathLst>
                <a:path w="687737" h="783608">
                  <a:moveTo>
                    <a:pt x="389834" y="12566"/>
                  </a:moveTo>
                  <a:lnTo>
                    <a:pt x="641771" y="161442"/>
                  </a:lnTo>
                  <a:cubicBezTo>
                    <a:pt x="670259" y="178276"/>
                    <a:pt x="687737" y="208905"/>
                    <a:pt x="687737" y="241995"/>
                  </a:cubicBezTo>
                  <a:lnTo>
                    <a:pt x="687737" y="541613"/>
                  </a:lnTo>
                  <a:cubicBezTo>
                    <a:pt x="687737" y="574703"/>
                    <a:pt x="670259" y="605332"/>
                    <a:pt x="641771" y="622166"/>
                  </a:cubicBezTo>
                  <a:lnTo>
                    <a:pt x="389834" y="771042"/>
                  </a:lnTo>
                  <a:cubicBezTo>
                    <a:pt x="361480" y="787797"/>
                    <a:pt x="326256" y="787797"/>
                    <a:pt x="297903" y="771042"/>
                  </a:cubicBezTo>
                  <a:lnTo>
                    <a:pt x="45965" y="622166"/>
                  </a:lnTo>
                  <a:cubicBezTo>
                    <a:pt x="17478" y="605332"/>
                    <a:pt x="0" y="574703"/>
                    <a:pt x="0" y="541613"/>
                  </a:cubicBezTo>
                  <a:lnTo>
                    <a:pt x="0" y="241995"/>
                  </a:lnTo>
                  <a:cubicBezTo>
                    <a:pt x="0" y="208905"/>
                    <a:pt x="17478" y="178276"/>
                    <a:pt x="45965" y="161442"/>
                  </a:cubicBezTo>
                  <a:lnTo>
                    <a:pt x="297903" y="12566"/>
                  </a:lnTo>
                  <a:cubicBezTo>
                    <a:pt x="326256" y="-4189"/>
                    <a:pt x="361480" y="-4189"/>
                    <a:pt x="389834" y="12566"/>
                  </a:cubicBezTo>
                  <a:close/>
                </a:path>
              </a:pathLst>
            </a:custGeom>
            <a:ln w="76200" cap="rnd">
              <a:solidFill>
                <a:srgbClr val="5D7ABF"/>
              </a:solidFill>
              <a:prstDash val="solid"/>
              <a:round/>
            </a:ln>
          </p:spPr>
        </p:sp>
        <p:sp>
          <p:nvSpPr>
            <p:cNvPr id="33" name="TextBox 33"/>
            <p:cNvSpPr txBox="1"/>
            <p:nvPr/>
          </p:nvSpPr>
          <p:spPr>
            <a:xfrm>
              <a:off x="0" y="101600"/>
              <a:ext cx="687737"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34" name="Group 34"/>
          <p:cNvGrpSpPr/>
          <p:nvPr/>
        </p:nvGrpSpPr>
        <p:grpSpPr>
          <a:xfrm>
            <a:off x="10546649" y="4585188"/>
            <a:ext cx="3832845" cy="4460037"/>
            <a:chOff x="0" y="0"/>
            <a:chExt cx="698500" cy="812800"/>
          </a:xfrm>
        </p:grpSpPr>
        <p:sp>
          <p:nvSpPr>
            <p:cNvPr id="35" name="Freeform 35"/>
            <p:cNvSpPr/>
            <p:nvPr/>
          </p:nvSpPr>
          <p:spPr>
            <a:xfrm>
              <a:off x="0" y="13110"/>
              <a:ext cx="698500" cy="786579"/>
            </a:xfrm>
            <a:custGeom>
              <a:avLst/>
              <a:gdLst/>
              <a:ahLst/>
              <a:cxnLst/>
              <a:rect l="l" t="t" r="r" b="b"/>
              <a:pathLst>
                <a:path w="698500" h="786579">
                  <a:moveTo>
                    <a:pt x="391260" y="11332"/>
                  </a:moveTo>
                  <a:lnTo>
                    <a:pt x="656490" y="165648"/>
                  </a:lnTo>
                  <a:cubicBezTo>
                    <a:pt x="682499" y="180780"/>
                    <a:pt x="698500" y="208602"/>
                    <a:pt x="698500" y="238694"/>
                  </a:cubicBezTo>
                  <a:lnTo>
                    <a:pt x="698500" y="547886"/>
                  </a:lnTo>
                  <a:cubicBezTo>
                    <a:pt x="698500" y="577978"/>
                    <a:pt x="682499" y="605800"/>
                    <a:pt x="656490" y="620932"/>
                  </a:cubicBezTo>
                  <a:lnTo>
                    <a:pt x="391260" y="775248"/>
                  </a:lnTo>
                  <a:cubicBezTo>
                    <a:pt x="365291" y="790357"/>
                    <a:pt x="333209" y="790357"/>
                    <a:pt x="307240" y="775248"/>
                  </a:cubicBezTo>
                  <a:lnTo>
                    <a:pt x="42010" y="620932"/>
                  </a:lnTo>
                  <a:cubicBezTo>
                    <a:pt x="16001" y="605800"/>
                    <a:pt x="0" y="577978"/>
                    <a:pt x="0" y="547886"/>
                  </a:cubicBezTo>
                  <a:lnTo>
                    <a:pt x="0" y="238694"/>
                  </a:lnTo>
                  <a:cubicBezTo>
                    <a:pt x="0" y="208602"/>
                    <a:pt x="16001" y="180780"/>
                    <a:pt x="42010" y="165648"/>
                  </a:cubicBezTo>
                  <a:lnTo>
                    <a:pt x="307240" y="11332"/>
                  </a:lnTo>
                  <a:cubicBezTo>
                    <a:pt x="333209" y="-3777"/>
                    <a:pt x="365291" y="-3777"/>
                    <a:pt x="391260" y="11332"/>
                  </a:cubicBezTo>
                  <a:close/>
                </a:path>
              </a:pathLst>
            </a:custGeom>
            <a:solidFill>
              <a:srgbClr val="FFDE59"/>
            </a:solidFill>
          </p:spPr>
        </p:sp>
        <p:sp>
          <p:nvSpPr>
            <p:cNvPr id="36" name="TextBox 36"/>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37" name="Group 37"/>
          <p:cNvGrpSpPr/>
          <p:nvPr/>
        </p:nvGrpSpPr>
        <p:grpSpPr>
          <a:xfrm>
            <a:off x="9874471" y="4116254"/>
            <a:ext cx="3952171" cy="4598890"/>
            <a:chOff x="0" y="0"/>
            <a:chExt cx="698500" cy="812800"/>
          </a:xfrm>
        </p:grpSpPr>
        <p:sp>
          <p:nvSpPr>
            <p:cNvPr id="38" name="Freeform 38"/>
            <p:cNvSpPr/>
            <p:nvPr/>
          </p:nvSpPr>
          <p:spPr>
            <a:xfrm>
              <a:off x="0" y="12715"/>
              <a:ext cx="698500" cy="787371"/>
            </a:xfrm>
            <a:custGeom>
              <a:avLst/>
              <a:gdLst/>
              <a:ahLst/>
              <a:cxnLst/>
              <a:rect l="l" t="t" r="r" b="b"/>
              <a:pathLst>
                <a:path w="698500" h="787371">
                  <a:moveTo>
                    <a:pt x="389992" y="10989"/>
                  </a:moveTo>
                  <a:lnTo>
                    <a:pt x="657758" y="166781"/>
                  </a:lnTo>
                  <a:cubicBezTo>
                    <a:pt x="682982" y="181456"/>
                    <a:pt x="698500" y="208438"/>
                    <a:pt x="698500" y="237621"/>
                  </a:cubicBezTo>
                  <a:lnTo>
                    <a:pt x="698500" y="549749"/>
                  </a:lnTo>
                  <a:cubicBezTo>
                    <a:pt x="698500" y="578932"/>
                    <a:pt x="682982" y="605914"/>
                    <a:pt x="657758" y="620589"/>
                  </a:cubicBezTo>
                  <a:lnTo>
                    <a:pt x="389992" y="776381"/>
                  </a:lnTo>
                  <a:cubicBezTo>
                    <a:pt x="364807" y="791034"/>
                    <a:pt x="333693" y="791034"/>
                    <a:pt x="308508" y="776381"/>
                  </a:cubicBezTo>
                  <a:lnTo>
                    <a:pt x="40742" y="620589"/>
                  </a:lnTo>
                  <a:cubicBezTo>
                    <a:pt x="15518" y="605914"/>
                    <a:pt x="0" y="578932"/>
                    <a:pt x="0" y="549749"/>
                  </a:cubicBezTo>
                  <a:lnTo>
                    <a:pt x="0" y="237621"/>
                  </a:lnTo>
                  <a:cubicBezTo>
                    <a:pt x="0" y="208438"/>
                    <a:pt x="15518" y="181456"/>
                    <a:pt x="40742" y="166781"/>
                  </a:cubicBezTo>
                  <a:lnTo>
                    <a:pt x="308508" y="10989"/>
                  </a:lnTo>
                  <a:cubicBezTo>
                    <a:pt x="333693" y="-3664"/>
                    <a:pt x="364807" y="-3664"/>
                    <a:pt x="389992" y="10989"/>
                  </a:cubicBezTo>
                  <a:close/>
                </a:path>
              </a:pathLst>
            </a:custGeom>
            <a:solidFill>
              <a:srgbClr val="5D7ABF"/>
            </a:solidFill>
          </p:spPr>
        </p:sp>
        <p:sp>
          <p:nvSpPr>
            <p:cNvPr id="39" name="TextBox 39"/>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40" name="Group 40"/>
          <p:cNvGrpSpPr/>
          <p:nvPr/>
        </p:nvGrpSpPr>
        <p:grpSpPr>
          <a:xfrm>
            <a:off x="10155309" y="4443048"/>
            <a:ext cx="3390495" cy="3945303"/>
            <a:chOff x="0" y="0"/>
            <a:chExt cx="698500" cy="812800"/>
          </a:xfrm>
        </p:grpSpPr>
        <p:sp>
          <p:nvSpPr>
            <p:cNvPr id="41" name="Freeform 41"/>
            <p:cNvSpPr/>
            <p:nvPr/>
          </p:nvSpPr>
          <p:spPr>
            <a:xfrm>
              <a:off x="0" y="12704"/>
              <a:ext cx="698500" cy="787393"/>
            </a:xfrm>
            <a:custGeom>
              <a:avLst/>
              <a:gdLst/>
              <a:ahLst/>
              <a:cxnLst/>
              <a:rect l="l" t="t" r="r" b="b"/>
              <a:pathLst>
                <a:path w="698500" h="787393">
                  <a:moveTo>
                    <a:pt x="389957" y="10980"/>
                  </a:moveTo>
                  <a:lnTo>
                    <a:pt x="657793" y="166812"/>
                  </a:lnTo>
                  <a:cubicBezTo>
                    <a:pt x="682996" y="181475"/>
                    <a:pt x="698500" y="208434"/>
                    <a:pt x="698500" y="237592"/>
                  </a:cubicBezTo>
                  <a:lnTo>
                    <a:pt x="698500" y="549800"/>
                  </a:lnTo>
                  <a:cubicBezTo>
                    <a:pt x="698500" y="578958"/>
                    <a:pt x="682996" y="605917"/>
                    <a:pt x="657793" y="620580"/>
                  </a:cubicBezTo>
                  <a:lnTo>
                    <a:pt x="389957" y="776412"/>
                  </a:lnTo>
                  <a:cubicBezTo>
                    <a:pt x="364794" y="791052"/>
                    <a:pt x="333706" y="791052"/>
                    <a:pt x="308543" y="776412"/>
                  </a:cubicBezTo>
                  <a:lnTo>
                    <a:pt x="40707" y="620580"/>
                  </a:lnTo>
                  <a:cubicBezTo>
                    <a:pt x="15504" y="605917"/>
                    <a:pt x="0" y="578958"/>
                    <a:pt x="0" y="549800"/>
                  </a:cubicBezTo>
                  <a:lnTo>
                    <a:pt x="0" y="237592"/>
                  </a:lnTo>
                  <a:cubicBezTo>
                    <a:pt x="0" y="208434"/>
                    <a:pt x="15504" y="181475"/>
                    <a:pt x="40707" y="166812"/>
                  </a:cubicBezTo>
                  <a:lnTo>
                    <a:pt x="308543" y="10980"/>
                  </a:lnTo>
                  <a:cubicBezTo>
                    <a:pt x="333706" y="-3660"/>
                    <a:pt x="364794" y="-3660"/>
                    <a:pt x="389957" y="10980"/>
                  </a:cubicBezTo>
                  <a:close/>
                </a:path>
              </a:pathLst>
            </a:custGeom>
            <a:blipFill>
              <a:blip r:embed="rId3"/>
              <a:stretch>
                <a:fillRect l="-34597" r="-34597"/>
              </a:stretch>
            </a:blipFill>
          </p:spPr>
        </p:sp>
      </p:grpSp>
      <p:grpSp>
        <p:nvGrpSpPr>
          <p:cNvPr id="42" name="Group 42"/>
          <p:cNvGrpSpPr/>
          <p:nvPr/>
        </p:nvGrpSpPr>
        <p:grpSpPr>
          <a:xfrm>
            <a:off x="12246309" y="1330570"/>
            <a:ext cx="3832845" cy="4460037"/>
            <a:chOff x="0" y="0"/>
            <a:chExt cx="698500" cy="812800"/>
          </a:xfrm>
        </p:grpSpPr>
        <p:sp>
          <p:nvSpPr>
            <p:cNvPr id="43" name="Freeform 43"/>
            <p:cNvSpPr/>
            <p:nvPr/>
          </p:nvSpPr>
          <p:spPr>
            <a:xfrm>
              <a:off x="0" y="13110"/>
              <a:ext cx="698500" cy="786579"/>
            </a:xfrm>
            <a:custGeom>
              <a:avLst/>
              <a:gdLst/>
              <a:ahLst/>
              <a:cxnLst/>
              <a:rect l="l" t="t" r="r" b="b"/>
              <a:pathLst>
                <a:path w="698500" h="786579">
                  <a:moveTo>
                    <a:pt x="391260" y="11332"/>
                  </a:moveTo>
                  <a:lnTo>
                    <a:pt x="656490" y="165648"/>
                  </a:lnTo>
                  <a:cubicBezTo>
                    <a:pt x="682499" y="180780"/>
                    <a:pt x="698500" y="208602"/>
                    <a:pt x="698500" y="238694"/>
                  </a:cubicBezTo>
                  <a:lnTo>
                    <a:pt x="698500" y="547886"/>
                  </a:lnTo>
                  <a:cubicBezTo>
                    <a:pt x="698500" y="577978"/>
                    <a:pt x="682499" y="605800"/>
                    <a:pt x="656490" y="620932"/>
                  </a:cubicBezTo>
                  <a:lnTo>
                    <a:pt x="391260" y="775248"/>
                  </a:lnTo>
                  <a:cubicBezTo>
                    <a:pt x="365291" y="790357"/>
                    <a:pt x="333209" y="790357"/>
                    <a:pt x="307240" y="775248"/>
                  </a:cubicBezTo>
                  <a:lnTo>
                    <a:pt x="42010" y="620932"/>
                  </a:lnTo>
                  <a:cubicBezTo>
                    <a:pt x="16001" y="605800"/>
                    <a:pt x="0" y="577978"/>
                    <a:pt x="0" y="547886"/>
                  </a:cubicBezTo>
                  <a:lnTo>
                    <a:pt x="0" y="238694"/>
                  </a:lnTo>
                  <a:cubicBezTo>
                    <a:pt x="0" y="208602"/>
                    <a:pt x="16001" y="180780"/>
                    <a:pt x="42010" y="165648"/>
                  </a:cubicBezTo>
                  <a:lnTo>
                    <a:pt x="307240" y="11332"/>
                  </a:lnTo>
                  <a:cubicBezTo>
                    <a:pt x="333209" y="-3777"/>
                    <a:pt x="365291" y="-3777"/>
                    <a:pt x="391260" y="11332"/>
                  </a:cubicBezTo>
                  <a:close/>
                </a:path>
              </a:pathLst>
            </a:custGeom>
            <a:solidFill>
              <a:srgbClr val="5D7ABF"/>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45" name="Group 45"/>
          <p:cNvGrpSpPr/>
          <p:nvPr/>
        </p:nvGrpSpPr>
        <p:grpSpPr>
          <a:xfrm>
            <a:off x="11574131" y="861636"/>
            <a:ext cx="3952171" cy="4598890"/>
            <a:chOff x="0" y="0"/>
            <a:chExt cx="698500" cy="812800"/>
          </a:xfrm>
        </p:grpSpPr>
        <p:sp>
          <p:nvSpPr>
            <p:cNvPr id="46" name="Freeform 46"/>
            <p:cNvSpPr/>
            <p:nvPr/>
          </p:nvSpPr>
          <p:spPr>
            <a:xfrm>
              <a:off x="0" y="12715"/>
              <a:ext cx="698500" cy="787371"/>
            </a:xfrm>
            <a:custGeom>
              <a:avLst/>
              <a:gdLst/>
              <a:ahLst/>
              <a:cxnLst/>
              <a:rect l="l" t="t" r="r" b="b"/>
              <a:pathLst>
                <a:path w="698500" h="787371">
                  <a:moveTo>
                    <a:pt x="389992" y="10989"/>
                  </a:moveTo>
                  <a:lnTo>
                    <a:pt x="657758" y="166781"/>
                  </a:lnTo>
                  <a:cubicBezTo>
                    <a:pt x="682982" y="181456"/>
                    <a:pt x="698500" y="208438"/>
                    <a:pt x="698500" y="237621"/>
                  </a:cubicBezTo>
                  <a:lnTo>
                    <a:pt x="698500" y="549749"/>
                  </a:lnTo>
                  <a:cubicBezTo>
                    <a:pt x="698500" y="578932"/>
                    <a:pt x="682982" y="605914"/>
                    <a:pt x="657758" y="620589"/>
                  </a:cubicBezTo>
                  <a:lnTo>
                    <a:pt x="389992" y="776381"/>
                  </a:lnTo>
                  <a:cubicBezTo>
                    <a:pt x="364807" y="791034"/>
                    <a:pt x="333693" y="791034"/>
                    <a:pt x="308508" y="776381"/>
                  </a:cubicBezTo>
                  <a:lnTo>
                    <a:pt x="40742" y="620589"/>
                  </a:lnTo>
                  <a:cubicBezTo>
                    <a:pt x="15518" y="605914"/>
                    <a:pt x="0" y="578932"/>
                    <a:pt x="0" y="549749"/>
                  </a:cubicBezTo>
                  <a:lnTo>
                    <a:pt x="0" y="237621"/>
                  </a:lnTo>
                  <a:cubicBezTo>
                    <a:pt x="0" y="208438"/>
                    <a:pt x="15518" y="181456"/>
                    <a:pt x="40742" y="166781"/>
                  </a:cubicBezTo>
                  <a:lnTo>
                    <a:pt x="308508" y="10989"/>
                  </a:lnTo>
                  <a:cubicBezTo>
                    <a:pt x="333693" y="-3664"/>
                    <a:pt x="364807" y="-3664"/>
                    <a:pt x="389992" y="10989"/>
                  </a:cubicBezTo>
                  <a:close/>
                </a:path>
              </a:pathLst>
            </a:custGeom>
            <a:solidFill>
              <a:srgbClr val="5648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48" name="Group 48"/>
          <p:cNvGrpSpPr/>
          <p:nvPr/>
        </p:nvGrpSpPr>
        <p:grpSpPr>
          <a:xfrm>
            <a:off x="11854969" y="1188430"/>
            <a:ext cx="3390495" cy="3945303"/>
            <a:chOff x="0" y="0"/>
            <a:chExt cx="698500" cy="812800"/>
          </a:xfrm>
        </p:grpSpPr>
        <p:sp>
          <p:nvSpPr>
            <p:cNvPr id="49" name="Freeform 49"/>
            <p:cNvSpPr/>
            <p:nvPr/>
          </p:nvSpPr>
          <p:spPr>
            <a:xfrm>
              <a:off x="0" y="12704"/>
              <a:ext cx="698500" cy="787393"/>
            </a:xfrm>
            <a:custGeom>
              <a:avLst/>
              <a:gdLst/>
              <a:ahLst/>
              <a:cxnLst/>
              <a:rect l="l" t="t" r="r" b="b"/>
              <a:pathLst>
                <a:path w="698500" h="787393">
                  <a:moveTo>
                    <a:pt x="389957" y="10980"/>
                  </a:moveTo>
                  <a:lnTo>
                    <a:pt x="657793" y="166812"/>
                  </a:lnTo>
                  <a:cubicBezTo>
                    <a:pt x="682996" y="181475"/>
                    <a:pt x="698500" y="208434"/>
                    <a:pt x="698500" y="237592"/>
                  </a:cubicBezTo>
                  <a:lnTo>
                    <a:pt x="698500" y="549800"/>
                  </a:lnTo>
                  <a:cubicBezTo>
                    <a:pt x="698500" y="578958"/>
                    <a:pt x="682996" y="605917"/>
                    <a:pt x="657793" y="620580"/>
                  </a:cubicBezTo>
                  <a:lnTo>
                    <a:pt x="389957" y="776412"/>
                  </a:lnTo>
                  <a:cubicBezTo>
                    <a:pt x="364794" y="791052"/>
                    <a:pt x="333706" y="791052"/>
                    <a:pt x="308543" y="776412"/>
                  </a:cubicBezTo>
                  <a:lnTo>
                    <a:pt x="40707" y="620580"/>
                  </a:lnTo>
                  <a:cubicBezTo>
                    <a:pt x="15504" y="605917"/>
                    <a:pt x="0" y="578958"/>
                    <a:pt x="0" y="549800"/>
                  </a:cubicBezTo>
                  <a:lnTo>
                    <a:pt x="0" y="237592"/>
                  </a:lnTo>
                  <a:cubicBezTo>
                    <a:pt x="0" y="208434"/>
                    <a:pt x="15504" y="181475"/>
                    <a:pt x="40707" y="166812"/>
                  </a:cubicBezTo>
                  <a:lnTo>
                    <a:pt x="308543" y="10980"/>
                  </a:lnTo>
                  <a:cubicBezTo>
                    <a:pt x="333706" y="-3660"/>
                    <a:pt x="364794" y="-3660"/>
                    <a:pt x="389957" y="10980"/>
                  </a:cubicBezTo>
                  <a:close/>
                </a:path>
              </a:pathLst>
            </a:custGeom>
            <a:blipFill>
              <a:blip r:embed="rId4"/>
              <a:stretch>
                <a:fillRect l="-34597" r="-34597"/>
              </a:stretch>
            </a:blipFill>
          </p:spPr>
        </p:sp>
      </p:grpSp>
      <p:grpSp>
        <p:nvGrpSpPr>
          <p:cNvPr id="50" name="Group 50"/>
          <p:cNvGrpSpPr/>
          <p:nvPr/>
        </p:nvGrpSpPr>
        <p:grpSpPr>
          <a:xfrm>
            <a:off x="7798190" y="5101966"/>
            <a:ext cx="1952674" cy="2272203"/>
            <a:chOff x="0" y="0"/>
            <a:chExt cx="698500" cy="812800"/>
          </a:xfrm>
        </p:grpSpPr>
        <p:sp>
          <p:nvSpPr>
            <p:cNvPr id="51" name="Freeform 51"/>
            <p:cNvSpPr/>
            <p:nvPr/>
          </p:nvSpPr>
          <p:spPr>
            <a:xfrm>
              <a:off x="0" y="15624"/>
              <a:ext cx="698500" cy="781551"/>
            </a:xfrm>
            <a:custGeom>
              <a:avLst/>
              <a:gdLst/>
              <a:ahLst/>
              <a:cxnLst/>
              <a:rect l="l" t="t" r="r" b="b"/>
              <a:pathLst>
                <a:path w="698500" h="781551">
                  <a:moveTo>
                    <a:pt x="399316" y="13505"/>
                  </a:moveTo>
                  <a:lnTo>
                    <a:pt x="648434" y="158447"/>
                  </a:lnTo>
                  <a:cubicBezTo>
                    <a:pt x="679431" y="176481"/>
                    <a:pt x="698500" y="209638"/>
                    <a:pt x="698500" y="245499"/>
                  </a:cubicBezTo>
                  <a:lnTo>
                    <a:pt x="698500" y="536053"/>
                  </a:lnTo>
                  <a:cubicBezTo>
                    <a:pt x="698500" y="571914"/>
                    <a:pt x="679431" y="605071"/>
                    <a:pt x="648434" y="623105"/>
                  </a:cubicBezTo>
                  <a:lnTo>
                    <a:pt x="399316" y="768047"/>
                  </a:lnTo>
                  <a:cubicBezTo>
                    <a:pt x="368367" y="786053"/>
                    <a:pt x="330133" y="786053"/>
                    <a:pt x="299184" y="768047"/>
                  </a:cubicBezTo>
                  <a:lnTo>
                    <a:pt x="50066" y="623105"/>
                  </a:lnTo>
                  <a:cubicBezTo>
                    <a:pt x="19069" y="605071"/>
                    <a:pt x="0" y="571914"/>
                    <a:pt x="0" y="536053"/>
                  </a:cubicBezTo>
                  <a:lnTo>
                    <a:pt x="0" y="245499"/>
                  </a:lnTo>
                  <a:cubicBezTo>
                    <a:pt x="0" y="209638"/>
                    <a:pt x="19069" y="176481"/>
                    <a:pt x="50066" y="158447"/>
                  </a:cubicBezTo>
                  <a:lnTo>
                    <a:pt x="299184" y="13505"/>
                  </a:lnTo>
                  <a:cubicBezTo>
                    <a:pt x="330133" y="-4501"/>
                    <a:pt x="368367" y="-4501"/>
                    <a:pt x="399316" y="13505"/>
                  </a:cubicBezTo>
                  <a:close/>
                </a:path>
              </a:pathLst>
            </a:custGeom>
            <a:solidFill>
              <a:srgbClr val="22669A"/>
            </a:solidFill>
          </p:spPr>
        </p:sp>
        <p:sp>
          <p:nvSpPr>
            <p:cNvPr id="52" name="TextBox 52"/>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53" name="Group 53"/>
          <p:cNvGrpSpPr/>
          <p:nvPr/>
        </p:nvGrpSpPr>
        <p:grpSpPr>
          <a:xfrm>
            <a:off x="11064239" y="4755997"/>
            <a:ext cx="1952674" cy="2272203"/>
            <a:chOff x="0" y="0"/>
            <a:chExt cx="698500" cy="812800"/>
          </a:xfrm>
        </p:grpSpPr>
        <p:sp>
          <p:nvSpPr>
            <p:cNvPr id="54" name="Freeform 54"/>
            <p:cNvSpPr/>
            <p:nvPr/>
          </p:nvSpPr>
          <p:spPr>
            <a:xfrm>
              <a:off x="0" y="15624"/>
              <a:ext cx="698500" cy="781551"/>
            </a:xfrm>
            <a:custGeom>
              <a:avLst/>
              <a:gdLst/>
              <a:ahLst/>
              <a:cxnLst/>
              <a:rect l="l" t="t" r="r" b="b"/>
              <a:pathLst>
                <a:path w="698500" h="781551">
                  <a:moveTo>
                    <a:pt x="399316" y="13505"/>
                  </a:moveTo>
                  <a:lnTo>
                    <a:pt x="648434" y="158447"/>
                  </a:lnTo>
                  <a:cubicBezTo>
                    <a:pt x="679431" y="176481"/>
                    <a:pt x="698500" y="209638"/>
                    <a:pt x="698500" y="245499"/>
                  </a:cubicBezTo>
                  <a:lnTo>
                    <a:pt x="698500" y="536053"/>
                  </a:lnTo>
                  <a:cubicBezTo>
                    <a:pt x="698500" y="571914"/>
                    <a:pt x="679431" y="605071"/>
                    <a:pt x="648434" y="623105"/>
                  </a:cubicBezTo>
                  <a:lnTo>
                    <a:pt x="399316" y="768047"/>
                  </a:lnTo>
                  <a:cubicBezTo>
                    <a:pt x="368367" y="786053"/>
                    <a:pt x="330133" y="786053"/>
                    <a:pt x="299184" y="768047"/>
                  </a:cubicBezTo>
                  <a:lnTo>
                    <a:pt x="50066" y="623105"/>
                  </a:lnTo>
                  <a:cubicBezTo>
                    <a:pt x="19069" y="605071"/>
                    <a:pt x="0" y="571914"/>
                    <a:pt x="0" y="536053"/>
                  </a:cubicBezTo>
                  <a:lnTo>
                    <a:pt x="0" y="245499"/>
                  </a:lnTo>
                  <a:cubicBezTo>
                    <a:pt x="0" y="209638"/>
                    <a:pt x="19069" y="176481"/>
                    <a:pt x="50066" y="158447"/>
                  </a:cubicBezTo>
                  <a:lnTo>
                    <a:pt x="299184" y="13505"/>
                  </a:lnTo>
                  <a:cubicBezTo>
                    <a:pt x="330133" y="-4501"/>
                    <a:pt x="368367" y="-4501"/>
                    <a:pt x="399316" y="13505"/>
                  </a:cubicBezTo>
                  <a:close/>
                </a:path>
              </a:pathLst>
            </a:custGeom>
            <a:solidFill>
              <a:srgbClr val="FFDE59">
                <a:alpha val="42745"/>
              </a:srgbClr>
            </a:solidFill>
          </p:spPr>
        </p:sp>
        <p:sp>
          <p:nvSpPr>
            <p:cNvPr id="55" name="TextBox 55"/>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56" name="Group 56"/>
          <p:cNvGrpSpPr/>
          <p:nvPr/>
        </p:nvGrpSpPr>
        <p:grpSpPr>
          <a:xfrm>
            <a:off x="15179594" y="3326122"/>
            <a:ext cx="3952171" cy="4598890"/>
            <a:chOff x="0" y="0"/>
            <a:chExt cx="698500" cy="812800"/>
          </a:xfrm>
        </p:grpSpPr>
        <p:sp>
          <p:nvSpPr>
            <p:cNvPr id="57" name="Freeform 57"/>
            <p:cNvSpPr/>
            <p:nvPr/>
          </p:nvSpPr>
          <p:spPr>
            <a:xfrm>
              <a:off x="0" y="12715"/>
              <a:ext cx="698500" cy="787371"/>
            </a:xfrm>
            <a:custGeom>
              <a:avLst/>
              <a:gdLst/>
              <a:ahLst/>
              <a:cxnLst/>
              <a:rect l="l" t="t" r="r" b="b"/>
              <a:pathLst>
                <a:path w="698500" h="787371">
                  <a:moveTo>
                    <a:pt x="389992" y="10989"/>
                  </a:moveTo>
                  <a:lnTo>
                    <a:pt x="657758" y="166781"/>
                  </a:lnTo>
                  <a:cubicBezTo>
                    <a:pt x="682982" y="181456"/>
                    <a:pt x="698500" y="208438"/>
                    <a:pt x="698500" y="237621"/>
                  </a:cubicBezTo>
                  <a:lnTo>
                    <a:pt x="698500" y="549749"/>
                  </a:lnTo>
                  <a:cubicBezTo>
                    <a:pt x="698500" y="578932"/>
                    <a:pt x="682982" y="605914"/>
                    <a:pt x="657758" y="620589"/>
                  </a:cubicBezTo>
                  <a:lnTo>
                    <a:pt x="389992" y="776381"/>
                  </a:lnTo>
                  <a:cubicBezTo>
                    <a:pt x="364807" y="791034"/>
                    <a:pt x="333693" y="791034"/>
                    <a:pt x="308508" y="776381"/>
                  </a:cubicBezTo>
                  <a:lnTo>
                    <a:pt x="40742" y="620589"/>
                  </a:lnTo>
                  <a:cubicBezTo>
                    <a:pt x="15518" y="605914"/>
                    <a:pt x="0" y="578932"/>
                    <a:pt x="0" y="549749"/>
                  </a:cubicBezTo>
                  <a:lnTo>
                    <a:pt x="0" y="237621"/>
                  </a:lnTo>
                  <a:cubicBezTo>
                    <a:pt x="0" y="208438"/>
                    <a:pt x="15518" y="181456"/>
                    <a:pt x="40742" y="166781"/>
                  </a:cubicBezTo>
                  <a:lnTo>
                    <a:pt x="308508" y="10989"/>
                  </a:lnTo>
                  <a:cubicBezTo>
                    <a:pt x="333693" y="-3664"/>
                    <a:pt x="364807" y="-3664"/>
                    <a:pt x="389992" y="10989"/>
                  </a:cubicBezTo>
                  <a:close/>
                </a:path>
              </a:pathLst>
            </a:custGeom>
            <a:solidFill>
              <a:srgbClr val="0D1551"/>
            </a:solidFill>
          </p:spPr>
        </p:sp>
        <p:sp>
          <p:nvSpPr>
            <p:cNvPr id="58" name="TextBox 58"/>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59" name="Group 59"/>
          <p:cNvGrpSpPr/>
          <p:nvPr/>
        </p:nvGrpSpPr>
        <p:grpSpPr>
          <a:xfrm>
            <a:off x="15460432" y="3652916"/>
            <a:ext cx="3390495" cy="3945303"/>
            <a:chOff x="0" y="0"/>
            <a:chExt cx="698500" cy="812800"/>
          </a:xfrm>
        </p:grpSpPr>
        <p:sp>
          <p:nvSpPr>
            <p:cNvPr id="60" name="Freeform 60"/>
            <p:cNvSpPr/>
            <p:nvPr/>
          </p:nvSpPr>
          <p:spPr>
            <a:xfrm>
              <a:off x="0" y="12704"/>
              <a:ext cx="698500" cy="787393"/>
            </a:xfrm>
            <a:custGeom>
              <a:avLst/>
              <a:gdLst/>
              <a:ahLst/>
              <a:cxnLst/>
              <a:rect l="l" t="t" r="r" b="b"/>
              <a:pathLst>
                <a:path w="698500" h="787393">
                  <a:moveTo>
                    <a:pt x="389957" y="10980"/>
                  </a:moveTo>
                  <a:lnTo>
                    <a:pt x="657793" y="166812"/>
                  </a:lnTo>
                  <a:cubicBezTo>
                    <a:pt x="682996" y="181475"/>
                    <a:pt x="698500" y="208434"/>
                    <a:pt x="698500" y="237592"/>
                  </a:cubicBezTo>
                  <a:lnTo>
                    <a:pt x="698500" y="549800"/>
                  </a:lnTo>
                  <a:cubicBezTo>
                    <a:pt x="698500" y="578958"/>
                    <a:pt x="682996" y="605917"/>
                    <a:pt x="657793" y="620580"/>
                  </a:cubicBezTo>
                  <a:lnTo>
                    <a:pt x="389957" y="776412"/>
                  </a:lnTo>
                  <a:cubicBezTo>
                    <a:pt x="364794" y="791052"/>
                    <a:pt x="333706" y="791052"/>
                    <a:pt x="308543" y="776412"/>
                  </a:cubicBezTo>
                  <a:lnTo>
                    <a:pt x="40707" y="620580"/>
                  </a:lnTo>
                  <a:cubicBezTo>
                    <a:pt x="15504" y="605917"/>
                    <a:pt x="0" y="578958"/>
                    <a:pt x="0" y="549800"/>
                  </a:cubicBezTo>
                  <a:lnTo>
                    <a:pt x="0" y="237592"/>
                  </a:lnTo>
                  <a:cubicBezTo>
                    <a:pt x="0" y="208434"/>
                    <a:pt x="15504" y="181475"/>
                    <a:pt x="40707" y="166812"/>
                  </a:cubicBezTo>
                  <a:lnTo>
                    <a:pt x="308543" y="10980"/>
                  </a:lnTo>
                  <a:cubicBezTo>
                    <a:pt x="333706" y="-3660"/>
                    <a:pt x="364794" y="-3660"/>
                    <a:pt x="389957" y="10980"/>
                  </a:cubicBezTo>
                  <a:close/>
                </a:path>
              </a:pathLst>
            </a:custGeom>
            <a:blipFill>
              <a:blip r:embed="rId5"/>
              <a:stretch>
                <a:fillRect l="-34597" r="-34597"/>
              </a:stretch>
            </a:blipFill>
          </p:spPr>
        </p:sp>
      </p:grpSp>
      <p:grpSp>
        <p:nvGrpSpPr>
          <p:cNvPr id="61" name="Group 61"/>
          <p:cNvGrpSpPr/>
          <p:nvPr/>
        </p:nvGrpSpPr>
        <p:grpSpPr>
          <a:xfrm>
            <a:off x="14273538" y="7295976"/>
            <a:ext cx="2373788" cy="2762226"/>
            <a:chOff x="0" y="0"/>
            <a:chExt cx="698500" cy="812800"/>
          </a:xfrm>
        </p:grpSpPr>
        <p:sp>
          <p:nvSpPr>
            <p:cNvPr id="62" name="Freeform 62"/>
            <p:cNvSpPr/>
            <p:nvPr/>
          </p:nvSpPr>
          <p:spPr>
            <a:xfrm>
              <a:off x="0" y="18145"/>
              <a:ext cx="698500" cy="776511"/>
            </a:xfrm>
            <a:custGeom>
              <a:avLst/>
              <a:gdLst/>
              <a:ahLst/>
              <a:cxnLst/>
              <a:rect l="l" t="t" r="r" b="b"/>
              <a:pathLst>
                <a:path w="698500" h="776511">
                  <a:moveTo>
                    <a:pt x="407392" y="15683"/>
                  </a:moveTo>
                  <a:lnTo>
                    <a:pt x="640358" y="151227"/>
                  </a:lnTo>
                  <a:cubicBezTo>
                    <a:pt x="676355" y="172171"/>
                    <a:pt x="698500" y="210675"/>
                    <a:pt x="698500" y="252322"/>
                  </a:cubicBezTo>
                  <a:lnTo>
                    <a:pt x="698500" y="524188"/>
                  </a:lnTo>
                  <a:cubicBezTo>
                    <a:pt x="698500" y="565835"/>
                    <a:pt x="676355" y="604339"/>
                    <a:pt x="640358" y="625283"/>
                  </a:cubicBezTo>
                  <a:lnTo>
                    <a:pt x="407392" y="760827"/>
                  </a:lnTo>
                  <a:cubicBezTo>
                    <a:pt x="371451" y="781738"/>
                    <a:pt x="327049" y="781738"/>
                    <a:pt x="291108" y="760827"/>
                  </a:cubicBezTo>
                  <a:lnTo>
                    <a:pt x="58142" y="625283"/>
                  </a:lnTo>
                  <a:cubicBezTo>
                    <a:pt x="22145" y="604339"/>
                    <a:pt x="0" y="565835"/>
                    <a:pt x="0" y="524188"/>
                  </a:cubicBezTo>
                  <a:lnTo>
                    <a:pt x="0" y="252322"/>
                  </a:lnTo>
                  <a:cubicBezTo>
                    <a:pt x="0" y="210675"/>
                    <a:pt x="22145" y="172171"/>
                    <a:pt x="58142" y="151227"/>
                  </a:cubicBezTo>
                  <a:lnTo>
                    <a:pt x="291108" y="15683"/>
                  </a:lnTo>
                  <a:cubicBezTo>
                    <a:pt x="327049" y="-5228"/>
                    <a:pt x="371451" y="-5228"/>
                    <a:pt x="407392" y="15683"/>
                  </a:cubicBezTo>
                  <a:close/>
                </a:path>
              </a:pathLst>
            </a:custGeom>
            <a:blipFill>
              <a:blip r:embed="rId6"/>
              <a:stretch>
                <a:fillRect l="-33428" r="-33428"/>
              </a:stretch>
            </a:blipFill>
          </p:spPr>
        </p:sp>
      </p:grpSp>
      <p:grpSp>
        <p:nvGrpSpPr>
          <p:cNvPr id="63" name="Group 63"/>
          <p:cNvGrpSpPr/>
          <p:nvPr/>
        </p:nvGrpSpPr>
        <p:grpSpPr>
          <a:xfrm>
            <a:off x="7615976" y="-916428"/>
            <a:ext cx="1528024" cy="1778064"/>
            <a:chOff x="0" y="0"/>
            <a:chExt cx="698500" cy="812800"/>
          </a:xfrm>
        </p:grpSpPr>
        <p:sp>
          <p:nvSpPr>
            <p:cNvPr id="64" name="Freeform 64"/>
            <p:cNvSpPr/>
            <p:nvPr/>
          </p:nvSpPr>
          <p:spPr>
            <a:xfrm>
              <a:off x="0" y="19966"/>
              <a:ext cx="698500" cy="772867"/>
            </a:xfrm>
            <a:custGeom>
              <a:avLst/>
              <a:gdLst/>
              <a:ahLst/>
              <a:cxnLst/>
              <a:rect l="l" t="t" r="r" b="b"/>
              <a:pathLst>
                <a:path w="698500" h="772867">
                  <a:moveTo>
                    <a:pt x="413229" y="17258"/>
                  </a:moveTo>
                  <a:lnTo>
                    <a:pt x="634521" y="146010"/>
                  </a:lnTo>
                  <a:cubicBezTo>
                    <a:pt x="674132" y="169056"/>
                    <a:pt x="698500" y="211427"/>
                    <a:pt x="698500" y="257254"/>
                  </a:cubicBezTo>
                  <a:lnTo>
                    <a:pt x="698500" y="515614"/>
                  </a:lnTo>
                  <a:cubicBezTo>
                    <a:pt x="698500" y="561441"/>
                    <a:pt x="674132" y="603812"/>
                    <a:pt x="634521" y="626858"/>
                  </a:cubicBezTo>
                  <a:lnTo>
                    <a:pt x="413229" y="755610"/>
                  </a:lnTo>
                  <a:cubicBezTo>
                    <a:pt x="373680" y="778620"/>
                    <a:pt x="324820" y="778620"/>
                    <a:pt x="285271" y="755610"/>
                  </a:cubicBezTo>
                  <a:lnTo>
                    <a:pt x="63979" y="626858"/>
                  </a:lnTo>
                  <a:cubicBezTo>
                    <a:pt x="24368" y="603812"/>
                    <a:pt x="0" y="561441"/>
                    <a:pt x="0" y="515614"/>
                  </a:cubicBezTo>
                  <a:lnTo>
                    <a:pt x="0" y="257254"/>
                  </a:lnTo>
                  <a:cubicBezTo>
                    <a:pt x="0" y="211427"/>
                    <a:pt x="24368" y="169056"/>
                    <a:pt x="63979" y="146010"/>
                  </a:cubicBezTo>
                  <a:lnTo>
                    <a:pt x="285271" y="17258"/>
                  </a:lnTo>
                  <a:cubicBezTo>
                    <a:pt x="324820" y="-5752"/>
                    <a:pt x="373680" y="-5752"/>
                    <a:pt x="413229" y="17258"/>
                  </a:cubicBezTo>
                  <a:close/>
                </a:path>
              </a:pathLst>
            </a:custGeom>
            <a:solidFill>
              <a:srgbClr val="22669A"/>
            </a:solidFill>
          </p:spPr>
        </p:sp>
        <p:sp>
          <p:nvSpPr>
            <p:cNvPr id="65" name="TextBox 65"/>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66" name="Group 66"/>
          <p:cNvGrpSpPr/>
          <p:nvPr/>
        </p:nvGrpSpPr>
        <p:grpSpPr>
          <a:xfrm>
            <a:off x="6973397" y="543472"/>
            <a:ext cx="929401" cy="1081485"/>
            <a:chOff x="0" y="0"/>
            <a:chExt cx="698500" cy="812800"/>
          </a:xfrm>
        </p:grpSpPr>
        <p:sp>
          <p:nvSpPr>
            <p:cNvPr id="67" name="Freeform 67"/>
            <p:cNvSpPr/>
            <p:nvPr/>
          </p:nvSpPr>
          <p:spPr>
            <a:xfrm>
              <a:off x="0" y="19310"/>
              <a:ext cx="698500" cy="774180"/>
            </a:xfrm>
            <a:custGeom>
              <a:avLst/>
              <a:gdLst/>
              <a:ahLst/>
              <a:cxnLst/>
              <a:rect l="l" t="t" r="r" b="b"/>
              <a:pathLst>
                <a:path w="698500" h="774180">
                  <a:moveTo>
                    <a:pt x="411125" y="16690"/>
                  </a:moveTo>
                  <a:lnTo>
                    <a:pt x="636625" y="147890"/>
                  </a:lnTo>
                  <a:cubicBezTo>
                    <a:pt x="674933" y="170178"/>
                    <a:pt x="698500" y="211156"/>
                    <a:pt x="698500" y="255476"/>
                  </a:cubicBezTo>
                  <a:lnTo>
                    <a:pt x="698500" y="518704"/>
                  </a:lnTo>
                  <a:cubicBezTo>
                    <a:pt x="698500" y="563024"/>
                    <a:pt x="674933" y="604002"/>
                    <a:pt x="636625" y="626290"/>
                  </a:cubicBezTo>
                  <a:lnTo>
                    <a:pt x="411125" y="757490"/>
                  </a:lnTo>
                  <a:cubicBezTo>
                    <a:pt x="372876" y="779744"/>
                    <a:pt x="325624" y="779744"/>
                    <a:pt x="287375" y="757490"/>
                  </a:cubicBezTo>
                  <a:lnTo>
                    <a:pt x="61875" y="626290"/>
                  </a:lnTo>
                  <a:cubicBezTo>
                    <a:pt x="23567" y="604002"/>
                    <a:pt x="0" y="563024"/>
                    <a:pt x="0" y="518704"/>
                  </a:cubicBezTo>
                  <a:lnTo>
                    <a:pt x="0" y="255476"/>
                  </a:lnTo>
                  <a:cubicBezTo>
                    <a:pt x="0" y="211156"/>
                    <a:pt x="23567" y="170178"/>
                    <a:pt x="61875" y="147890"/>
                  </a:cubicBezTo>
                  <a:lnTo>
                    <a:pt x="287375" y="16690"/>
                  </a:lnTo>
                  <a:cubicBezTo>
                    <a:pt x="325624" y="-5564"/>
                    <a:pt x="372876" y="-5564"/>
                    <a:pt x="411125" y="16690"/>
                  </a:cubicBezTo>
                  <a:close/>
                </a:path>
              </a:pathLst>
            </a:custGeom>
            <a:solidFill>
              <a:srgbClr val="FFDE59"/>
            </a:solidFill>
          </p:spPr>
        </p:sp>
        <p:sp>
          <p:nvSpPr>
            <p:cNvPr id="68" name="TextBox 68"/>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69" name="Group 69"/>
          <p:cNvGrpSpPr/>
          <p:nvPr/>
        </p:nvGrpSpPr>
        <p:grpSpPr>
          <a:xfrm>
            <a:off x="13908402" y="6799721"/>
            <a:ext cx="2170752" cy="2525966"/>
            <a:chOff x="0" y="0"/>
            <a:chExt cx="698500" cy="812800"/>
          </a:xfrm>
        </p:grpSpPr>
        <p:sp>
          <p:nvSpPr>
            <p:cNvPr id="70" name="Freeform 70"/>
            <p:cNvSpPr/>
            <p:nvPr/>
          </p:nvSpPr>
          <p:spPr>
            <a:xfrm>
              <a:off x="0" y="14055"/>
              <a:ext cx="698500" cy="784691"/>
            </a:xfrm>
            <a:custGeom>
              <a:avLst/>
              <a:gdLst/>
              <a:ahLst/>
              <a:cxnLst/>
              <a:rect l="l" t="t" r="r" b="b"/>
              <a:pathLst>
                <a:path w="698500" h="784691">
                  <a:moveTo>
                    <a:pt x="394286" y="12148"/>
                  </a:moveTo>
                  <a:lnTo>
                    <a:pt x="653464" y="162942"/>
                  </a:lnTo>
                  <a:cubicBezTo>
                    <a:pt x="681347" y="179165"/>
                    <a:pt x="698500" y="208990"/>
                    <a:pt x="698500" y="241249"/>
                  </a:cubicBezTo>
                  <a:lnTo>
                    <a:pt x="698500" y="543441"/>
                  </a:lnTo>
                  <a:cubicBezTo>
                    <a:pt x="698500" y="575700"/>
                    <a:pt x="681347" y="605525"/>
                    <a:pt x="653464" y="621748"/>
                  </a:cubicBezTo>
                  <a:lnTo>
                    <a:pt x="394286" y="772542"/>
                  </a:lnTo>
                  <a:cubicBezTo>
                    <a:pt x="366447" y="788740"/>
                    <a:pt x="332053" y="788740"/>
                    <a:pt x="304214" y="772542"/>
                  </a:cubicBezTo>
                  <a:lnTo>
                    <a:pt x="45036" y="621748"/>
                  </a:lnTo>
                  <a:cubicBezTo>
                    <a:pt x="17153" y="605525"/>
                    <a:pt x="0" y="575700"/>
                    <a:pt x="0" y="543441"/>
                  </a:cubicBezTo>
                  <a:lnTo>
                    <a:pt x="0" y="241249"/>
                  </a:lnTo>
                  <a:cubicBezTo>
                    <a:pt x="0" y="208990"/>
                    <a:pt x="17153" y="179165"/>
                    <a:pt x="45036" y="162942"/>
                  </a:cubicBezTo>
                  <a:lnTo>
                    <a:pt x="304214" y="12148"/>
                  </a:lnTo>
                  <a:cubicBezTo>
                    <a:pt x="332053" y="-4050"/>
                    <a:pt x="366447" y="-4050"/>
                    <a:pt x="394286" y="12148"/>
                  </a:cubicBezTo>
                  <a:close/>
                </a:path>
              </a:pathLst>
            </a:custGeom>
            <a:solidFill>
              <a:srgbClr val="FFDE59">
                <a:alpha val="65882"/>
              </a:srgbClr>
            </a:solidFill>
          </p:spPr>
        </p:sp>
        <p:sp>
          <p:nvSpPr>
            <p:cNvPr id="71" name="TextBox 71"/>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grpSp>
        <p:nvGrpSpPr>
          <p:cNvPr id="72" name="Group 72"/>
          <p:cNvGrpSpPr/>
          <p:nvPr/>
        </p:nvGrpSpPr>
        <p:grpSpPr>
          <a:xfrm rot="2767947">
            <a:off x="-398712" y="8954960"/>
            <a:ext cx="1528024" cy="1778064"/>
            <a:chOff x="0" y="0"/>
            <a:chExt cx="698500" cy="812800"/>
          </a:xfrm>
        </p:grpSpPr>
        <p:sp>
          <p:nvSpPr>
            <p:cNvPr id="73" name="Freeform 73"/>
            <p:cNvSpPr/>
            <p:nvPr/>
          </p:nvSpPr>
          <p:spPr>
            <a:xfrm>
              <a:off x="0" y="19966"/>
              <a:ext cx="698500" cy="772867"/>
            </a:xfrm>
            <a:custGeom>
              <a:avLst/>
              <a:gdLst/>
              <a:ahLst/>
              <a:cxnLst/>
              <a:rect l="l" t="t" r="r" b="b"/>
              <a:pathLst>
                <a:path w="698500" h="772867">
                  <a:moveTo>
                    <a:pt x="413229" y="17258"/>
                  </a:moveTo>
                  <a:lnTo>
                    <a:pt x="634521" y="146010"/>
                  </a:lnTo>
                  <a:cubicBezTo>
                    <a:pt x="674132" y="169056"/>
                    <a:pt x="698500" y="211427"/>
                    <a:pt x="698500" y="257254"/>
                  </a:cubicBezTo>
                  <a:lnTo>
                    <a:pt x="698500" y="515614"/>
                  </a:lnTo>
                  <a:cubicBezTo>
                    <a:pt x="698500" y="561441"/>
                    <a:pt x="674132" y="603812"/>
                    <a:pt x="634521" y="626858"/>
                  </a:cubicBezTo>
                  <a:lnTo>
                    <a:pt x="413229" y="755610"/>
                  </a:lnTo>
                  <a:cubicBezTo>
                    <a:pt x="373680" y="778620"/>
                    <a:pt x="324820" y="778620"/>
                    <a:pt x="285271" y="755610"/>
                  </a:cubicBezTo>
                  <a:lnTo>
                    <a:pt x="63979" y="626858"/>
                  </a:lnTo>
                  <a:cubicBezTo>
                    <a:pt x="24368" y="603812"/>
                    <a:pt x="0" y="561441"/>
                    <a:pt x="0" y="515614"/>
                  </a:cubicBezTo>
                  <a:lnTo>
                    <a:pt x="0" y="257254"/>
                  </a:lnTo>
                  <a:cubicBezTo>
                    <a:pt x="0" y="211427"/>
                    <a:pt x="24368" y="169056"/>
                    <a:pt x="63979" y="146010"/>
                  </a:cubicBezTo>
                  <a:lnTo>
                    <a:pt x="285271" y="17258"/>
                  </a:lnTo>
                  <a:cubicBezTo>
                    <a:pt x="324820" y="-5752"/>
                    <a:pt x="373680" y="-5752"/>
                    <a:pt x="413229" y="17258"/>
                  </a:cubicBezTo>
                  <a:close/>
                </a:path>
              </a:pathLst>
            </a:custGeom>
            <a:solidFill>
              <a:srgbClr val="22669A"/>
            </a:solidFill>
          </p:spPr>
        </p:sp>
        <p:sp>
          <p:nvSpPr>
            <p:cNvPr id="74" name="TextBox 74"/>
            <p:cNvSpPr txBox="1"/>
            <p:nvPr/>
          </p:nvSpPr>
          <p:spPr>
            <a:xfrm>
              <a:off x="0" y="101600"/>
              <a:ext cx="698500" cy="571500"/>
            </a:xfrm>
            <a:prstGeom prst="rect">
              <a:avLst/>
            </a:prstGeom>
          </p:spPr>
          <p:txBody>
            <a:bodyPr lIns="50800" tIns="50800" rIns="50800" bIns="50800" rtlCol="0" anchor="ctr"/>
            <a:lstStyle/>
            <a:p>
              <a:pPr algn="ctr">
                <a:lnSpc>
                  <a:spcPts val="2659"/>
                </a:lnSpc>
                <a:spcBef>
                  <a:spcPct val="0"/>
                </a:spcBef>
              </a:pPr>
              <a:endParaRPr/>
            </a:p>
          </p:txBody>
        </p:sp>
      </p:grpSp>
      <p:sp>
        <p:nvSpPr>
          <p:cNvPr id="75" name="TextBox 75"/>
          <p:cNvSpPr txBox="1"/>
          <p:nvPr/>
        </p:nvSpPr>
        <p:spPr>
          <a:xfrm>
            <a:off x="1236331" y="314738"/>
            <a:ext cx="5667162" cy="971209"/>
          </a:xfrm>
          <a:prstGeom prst="rect">
            <a:avLst/>
          </a:prstGeom>
        </p:spPr>
        <p:txBody>
          <a:bodyPr lIns="0" tIns="0" rIns="0" bIns="0" rtlCol="0" anchor="t">
            <a:spAutoFit/>
          </a:bodyPr>
          <a:lstStyle/>
          <a:p>
            <a:pPr algn="l">
              <a:lnSpc>
                <a:spcPts val="6877"/>
              </a:lnSpc>
              <a:spcBef>
                <a:spcPct val="0"/>
              </a:spcBef>
            </a:pPr>
            <a:r>
              <a:rPr lang="en-US" sz="4912" b="1">
                <a:solidFill>
                  <a:srgbClr val="FFFFFF"/>
                </a:solidFill>
                <a:latin typeface="Cooper Hewitt Bold"/>
                <a:ea typeface="Cooper Hewitt Bold"/>
                <a:cs typeface="Cooper Hewitt Bold"/>
                <a:sym typeface="Cooper Hewitt Bold"/>
              </a:rPr>
              <a:t>TABLE OF CONTENT</a:t>
            </a:r>
          </a:p>
        </p:txBody>
      </p:sp>
      <p:sp>
        <p:nvSpPr>
          <p:cNvPr id="76" name="TextBox 76"/>
          <p:cNvSpPr txBox="1"/>
          <p:nvPr/>
        </p:nvSpPr>
        <p:spPr>
          <a:xfrm>
            <a:off x="1428060" y="1643782"/>
            <a:ext cx="912376" cy="819786"/>
          </a:xfrm>
          <a:prstGeom prst="rect">
            <a:avLst/>
          </a:prstGeom>
        </p:spPr>
        <p:txBody>
          <a:bodyPr lIns="0" tIns="0" rIns="0" bIns="0" rtlCol="0" anchor="t">
            <a:spAutoFit/>
          </a:bodyPr>
          <a:lstStyle/>
          <a:p>
            <a:pPr algn="l">
              <a:lnSpc>
                <a:spcPts val="5739"/>
              </a:lnSpc>
              <a:spcBef>
                <a:spcPct val="0"/>
              </a:spcBef>
            </a:pPr>
            <a:r>
              <a:rPr lang="en-US" sz="4099" b="1">
                <a:solidFill>
                  <a:srgbClr val="FFFFFF"/>
                </a:solidFill>
                <a:latin typeface="Cooper Hewitt Bold"/>
                <a:ea typeface="Cooper Hewitt Bold"/>
                <a:cs typeface="Cooper Hewitt Bold"/>
                <a:sym typeface="Cooper Hewitt Bold"/>
              </a:rPr>
              <a:t>01</a:t>
            </a:r>
          </a:p>
        </p:txBody>
      </p:sp>
      <p:sp>
        <p:nvSpPr>
          <p:cNvPr id="77" name="TextBox 77"/>
          <p:cNvSpPr txBox="1"/>
          <p:nvPr/>
        </p:nvSpPr>
        <p:spPr>
          <a:xfrm>
            <a:off x="2270533" y="1893768"/>
            <a:ext cx="4632960" cy="448310"/>
          </a:xfrm>
          <a:prstGeom prst="rect">
            <a:avLst/>
          </a:prstGeom>
        </p:spPr>
        <p:txBody>
          <a:bodyPr lIns="0" tIns="0" rIns="0" bIns="0" rtlCol="0" anchor="t">
            <a:spAutoFit/>
          </a:bodyPr>
          <a:lstStyle/>
          <a:p>
            <a:pPr algn="l">
              <a:lnSpc>
                <a:spcPts val="3640"/>
              </a:lnSpc>
              <a:spcBef>
                <a:spcPct val="0"/>
              </a:spcBef>
            </a:pPr>
            <a:r>
              <a:rPr lang="en-US" sz="2600" b="1">
                <a:solidFill>
                  <a:srgbClr val="FFFFFF"/>
                </a:solidFill>
                <a:latin typeface="TT Norms Bold"/>
                <a:ea typeface="TT Norms Bold"/>
                <a:cs typeface="TT Norms Bold"/>
                <a:sym typeface="TT Norms Bold"/>
              </a:rPr>
              <a:t>Project objective</a:t>
            </a:r>
          </a:p>
        </p:txBody>
      </p:sp>
      <p:sp>
        <p:nvSpPr>
          <p:cNvPr id="78" name="TextBox 78"/>
          <p:cNvSpPr txBox="1"/>
          <p:nvPr/>
        </p:nvSpPr>
        <p:spPr>
          <a:xfrm>
            <a:off x="1428060" y="2323027"/>
            <a:ext cx="912376" cy="819786"/>
          </a:xfrm>
          <a:prstGeom prst="rect">
            <a:avLst/>
          </a:prstGeom>
        </p:spPr>
        <p:txBody>
          <a:bodyPr lIns="0" tIns="0" rIns="0" bIns="0" rtlCol="0" anchor="t">
            <a:spAutoFit/>
          </a:bodyPr>
          <a:lstStyle/>
          <a:p>
            <a:pPr algn="l">
              <a:lnSpc>
                <a:spcPts val="5739"/>
              </a:lnSpc>
              <a:spcBef>
                <a:spcPct val="0"/>
              </a:spcBef>
            </a:pPr>
            <a:r>
              <a:rPr lang="en-US" sz="4099" b="1">
                <a:solidFill>
                  <a:srgbClr val="FFFFFF"/>
                </a:solidFill>
                <a:latin typeface="Cooper Hewitt Bold"/>
                <a:ea typeface="Cooper Hewitt Bold"/>
                <a:cs typeface="Cooper Hewitt Bold"/>
                <a:sym typeface="Cooper Hewitt Bold"/>
              </a:rPr>
              <a:t>02</a:t>
            </a:r>
          </a:p>
        </p:txBody>
      </p:sp>
      <p:sp>
        <p:nvSpPr>
          <p:cNvPr id="79" name="TextBox 79"/>
          <p:cNvSpPr txBox="1"/>
          <p:nvPr/>
        </p:nvSpPr>
        <p:spPr>
          <a:xfrm>
            <a:off x="2307295" y="3295213"/>
            <a:ext cx="4632960" cy="448310"/>
          </a:xfrm>
          <a:prstGeom prst="rect">
            <a:avLst/>
          </a:prstGeom>
        </p:spPr>
        <p:txBody>
          <a:bodyPr lIns="0" tIns="0" rIns="0" bIns="0" rtlCol="0" anchor="t">
            <a:spAutoFit/>
          </a:bodyPr>
          <a:lstStyle/>
          <a:p>
            <a:pPr algn="l">
              <a:lnSpc>
                <a:spcPts val="3640"/>
              </a:lnSpc>
              <a:spcBef>
                <a:spcPct val="0"/>
              </a:spcBef>
            </a:pPr>
            <a:r>
              <a:rPr lang="en-US" sz="2600" b="1">
                <a:solidFill>
                  <a:srgbClr val="FFFFFF"/>
                </a:solidFill>
                <a:latin typeface="TT Norms Bold"/>
                <a:ea typeface="TT Norms Bold"/>
                <a:cs typeface="TT Norms Bold"/>
                <a:sym typeface="TT Norms Bold"/>
              </a:rPr>
              <a:t>Data overview</a:t>
            </a:r>
          </a:p>
        </p:txBody>
      </p:sp>
      <p:sp>
        <p:nvSpPr>
          <p:cNvPr id="80" name="TextBox 80"/>
          <p:cNvSpPr txBox="1"/>
          <p:nvPr/>
        </p:nvSpPr>
        <p:spPr>
          <a:xfrm>
            <a:off x="1428060" y="3050684"/>
            <a:ext cx="912376" cy="819786"/>
          </a:xfrm>
          <a:prstGeom prst="rect">
            <a:avLst/>
          </a:prstGeom>
        </p:spPr>
        <p:txBody>
          <a:bodyPr lIns="0" tIns="0" rIns="0" bIns="0" rtlCol="0" anchor="t">
            <a:spAutoFit/>
          </a:bodyPr>
          <a:lstStyle/>
          <a:p>
            <a:pPr algn="l">
              <a:lnSpc>
                <a:spcPts val="5739"/>
              </a:lnSpc>
              <a:spcBef>
                <a:spcPct val="0"/>
              </a:spcBef>
            </a:pPr>
            <a:r>
              <a:rPr lang="en-US" sz="4099" b="1">
                <a:solidFill>
                  <a:srgbClr val="FFFFFF"/>
                </a:solidFill>
                <a:latin typeface="Cooper Hewitt Bold"/>
                <a:ea typeface="Cooper Hewitt Bold"/>
                <a:cs typeface="Cooper Hewitt Bold"/>
                <a:sym typeface="Cooper Hewitt Bold"/>
              </a:rPr>
              <a:t>03</a:t>
            </a:r>
          </a:p>
        </p:txBody>
      </p:sp>
      <p:sp>
        <p:nvSpPr>
          <p:cNvPr id="81" name="TextBox 81"/>
          <p:cNvSpPr txBox="1"/>
          <p:nvPr/>
        </p:nvSpPr>
        <p:spPr>
          <a:xfrm>
            <a:off x="2270533" y="2618683"/>
            <a:ext cx="4632960" cy="448310"/>
          </a:xfrm>
          <a:prstGeom prst="rect">
            <a:avLst/>
          </a:prstGeom>
        </p:spPr>
        <p:txBody>
          <a:bodyPr lIns="0" tIns="0" rIns="0" bIns="0" rtlCol="0" anchor="t">
            <a:spAutoFit/>
          </a:bodyPr>
          <a:lstStyle/>
          <a:p>
            <a:pPr algn="l">
              <a:lnSpc>
                <a:spcPts val="3640"/>
              </a:lnSpc>
              <a:spcBef>
                <a:spcPct val="0"/>
              </a:spcBef>
            </a:pPr>
            <a:r>
              <a:rPr lang="en-US" sz="2600" b="1">
                <a:solidFill>
                  <a:srgbClr val="FFFFFF"/>
                </a:solidFill>
                <a:latin typeface="TT Norms Bold"/>
                <a:ea typeface="TT Norms Bold"/>
                <a:cs typeface="TT Norms Bold"/>
                <a:sym typeface="TT Norms Bold"/>
              </a:rPr>
              <a:t>Structured Workflow</a:t>
            </a:r>
          </a:p>
        </p:txBody>
      </p:sp>
      <p:sp>
        <p:nvSpPr>
          <p:cNvPr id="82" name="TextBox 82"/>
          <p:cNvSpPr txBox="1"/>
          <p:nvPr/>
        </p:nvSpPr>
        <p:spPr>
          <a:xfrm>
            <a:off x="1428060" y="3743700"/>
            <a:ext cx="912376" cy="819786"/>
          </a:xfrm>
          <a:prstGeom prst="rect">
            <a:avLst/>
          </a:prstGeom>
        </p:spPr>
        <p:txBody>
          <a:bodyPr lIns="0" tIns="0" rIns="0" bIns="0" rtlCol="0" anchor="t">
            <a:spAutoFit/>
          </a:bodyPr>
          <a:lstStyle/>
          <a:p>
            <a:pPr algn="l">
              <a:lnSpc>
                <a:spcPts val="5739"/>
              </a:lnSpc>
              <a:spcBef>
                <a:spcPct val="0"/>
              </a:spcBef>
            </a:pPr>
            <a:r>
              <a:rPr lang="en-US" sz="4099" b="1">
                <a:solidFill>
                  <a:srgbClr val="FFFFFF"/>
                </a:solidFill>
                <a:latin typeface="Cooper Hewitt Bold"/>
                <a:ea typeface="Cooper Hewitt Bold"/>
                <a:cs typeface="Cooper Hewitt Bold"/>
                <a:sym typeface="Cooper Hewitt Bold"/>
              </a:rPr>
              <a:t>04</a:t>
            </a:r>
          </a:p>
        </p:txBody>
      </p:sp>
      <p:sp>
        <p:nvSpPr>
          <p:cNvPr id="83" name="TextBox 83"/>
          <p:cNvSpPr txBox="1"/>
          <p:nvPr/>
        </p:nvSpPr>
        <p:spPr>
          <a:xfrm>
            <a:off x="2314212" y="3934557"/>
            <a:ext cx="3845678" cy="448310"/>
          </a:xfrm>
          <a:prstGeom prst="rect">
            <a:avLst/>
          </a:prstGeom>
        </p:spPr>
        <p:txBody>
          <a:bodyPr wrap="square" lIns="0" tIns="0" rIns="0" bIns="0" rtlCol="0" anchor="t">
            <a:spAutoFit/>
          </a:bodyPr>
          <a:lstStyle/>
          <a:p>
            <a:pPr algn="l">
              <a:lnSpc>
                <a:spcPts val="3640"/>
              </a:lnSpc>
              <a:spcBef>
                <a:spcPct val="0"/>
              </a:spcBef>
            </a:pPr>
            <a:r>
              <a:rPr lang="en-US" sz="2600" b="1" dirty="0">
                <a:solidFill>
                  <a:srgbClr val="FFFFFF"/>
                </a:solidFill>
                <a:latin typeface="TT Norms Bold"/>
                <a:ea typeface="TT Norms Bold"/>
                <a:cs typeface="TT Norms Bold"/>
                <a:sym typeface="TT Norms Bold"/>
              </a:rPr>
              <a:t>Data cleaning process</a:t>
            </a:r>
          </a:p>
        </p:txBody>
      </p:sp>
      <p:sp>
        <p:nvSpPr>
          <p:cNvPr id="84" name="TextBox 84"/>
          <p:cNvSpPr txBox="1"/>
          <p:nvPr/>
        </p:nvSpPr>
        <p:spPr>
          <a:xfrm>
            <a:off x="1428060" y="4413948"/>
            <a:ext cx="912376" cy="819786"/>
          </a:xfrm>
          <a:prstGeom prst="rect">
            <a:avLst/>
          </a:prstGeom>
        </p:spPr>
        <p:txBody>
          <a:bodyPr lIns="0" tIns="0" rIns="0" bIns="0" rtlCol="0" anchor="t">
            <a:spAutoFit/>
          </a:bodyPr>
          <a:lstStyle/>
          <a:p>
            <a:pPr algn="l">
              <a:lnSpc>
                <a:spcPts val="5739"/>
              </a:lnSpc>
              <a:spcBef>
                <a:spcPct val="0"/>
              </a:spcBef>
            </a:pPr>
            <a:r>
              <a:rPr lang="en-US" sz="4099" b="1">
                <a:solidFill>
                  <a:srgbClr val="FFFFFF"/>
                </a:solidFill>
                <a:latin typeface="Cooper Hewitt Bold"/>
                <a:ea typeface="Cooper Hewitt Bold"/>
                <a:cs typeface="Cooper Hewitt Bold"/>
                <a:sym typeface="Cooper Hewitt Bold"/>
              </a:rPr>
              <a:t>05</a:t>
            </a:r>
          </a:p>
        </p:txBody>
      </p:sp>
      <p:sp>
        <p:nvSpPr>
          <p:cNvPr id="85" name="TextBox 85"/>
          <p:cNvSpPr txBox="1"/>
          <p:nvPr/>
        </p:nvSpPr>
        <p:spPr>
          <a:xfrm>
            <a:off x="2274181" y="4695190"/>
            <a:ext cx="5562361" cy="448310"/>
          </a:xfrm>
          <a:prstGeom prst="rect">
            <a:avLst/>
          </a:prstGeom>
        </p:spPr>
        <p:txBody>
          <a:bodyPr lIns="0" tIns="0" rIns="0" bIns="0" rtlCol="0" anchor="t">
            <a:spAutoFit/>
          </a:bodyPr>
          <a:lstStyle/>
          <a:p>
            <a:pPr algn="l">
              <a:lnSpc>
                <a:spcPts val="3640"/>
              </a:lnSpc>
              <a:spcBef>
                <a:spcPct val="0"/>
              </a:spcBef>
            </a:pPr>
            <a:r>
              <a:rPr lang="en-US" sz="2600" b="1">
                <a:solidFill>
                  <a:srgbClr val="FFFFFF"/>
                </a:solidFill>
                <a:latin typeface="TT Norms Bold"/>
                <a:ea typeface="TT Norms Bold"/>
                <a:cs typeface="TT Norms Bold"/>
                <a:sym typeface="TT Norms Bold"/>
              </a:rPr>
              <a:t>RFM feature engineering</a:t>
            </a:r>
          </a:p>
        </p:txBody>
      </p:sp>
      <p:sp>
        <p:nvSpPr>
          <p:cNvPr id="86" name="TextBox 86"/>
          <p:cNvSpPr txBox="1"/>
          <p:nvPr/>
        </p:nvSpPr>
        <p:spPr>
          <a:xfrm>
            <a:off x="1400348" y="5148009"/>
            <a:ext cx="912376" cy="819786"/>
          </a:xfrm>
          <a:prstGeom prst="rect">
            <a:avLst/>
          </a:prstGeom>
        </p:spPr>
        <p:txBody>
          <a:bodyPr lIns="0" tIns="0" rIns="0" bIns="0" rtlCol="0" anchor="t">
            <a:spAutoFit/>
          </a:bodyPr>
          <a:lstStyle/>
          <a:p>
            <a:pPr algn="l">
              <a:lnSpc>
                <a:spcPts val="5739"/>
              </a:lnSpc>
              <a:spcBef>
                <a:spcPct val="0"/>
              </a:spcBef>
            </a:pPr>
            <a:r>
              <a:rPr lang="en-US" sz="4099" b="1">
                <a:solidFill>
                  <a:srgbClr val="FFFFFF"/>
                </a:solidFill>
                <a:latin typeface="Cooper Hewitt Bold"/>
                <a:ea typeface="Cooper Hewitt Bold"/>
                <a:cs typeface="Cooper Hewitt Bold"/>
                <a:sym typeface="Cooper Hewitt Bold"/>
              </a:rPr>
              <a:t>06</a:t>
            </a:r>
          </a:p>
        </p:txBody>
      </p:sp>
      <p:sp>
        <p:nvSpPr>
          <p:cNvPr id="87" name="TextBox 87"/>
          <p:cNvSpPr txBox="1"/>
          <p:nvPr/>
        </p:nvSpPr>
        <p:spPr>
          <a:xfrm>
            <a:off x="2307295" y="5372837"/>
            <a:ext cx="3852595" cy="448310"/>
          </a:xfrm>
          <a:prstGeom prst="rect">
            <a:avLst/>
          </a:prstGeom>
        </p:spPr>
        <p:txBody>
          <a:bodyPr lIns="0" tIns="0" rIns="0" bIns="0" rtlCol="0" anchor="t">
            <a:spAutoFit/>
          </a:bodyPr>
          <a:lstStyle/>
          <a:p>
            <a:pPr algn="l">
              <a:lnSpc>
                <a:spcPts val="3640"/>
              </a:lnSpc>
              <a:spcBef>
                <a:spcPct val="0"/>
              </a:spcBef>
            </a:pPr>
            <a:r>
              <a:rPr lang="en-US" sz="2600" b="1">
                <a:solidFill>
                  <a:srgbClr val="FFFFFF"/>
                </a:solidFill>
                <a:latin typeface="TT Norms Bold"/>
                <a:ea typeface="TT Norms Bold"/>
                <a:cs typeface="TT Norms Bold"/>
                <a:sym typeface="TT Norms Bold"/>
              </a:rPr>
              <a:t>Modeling Techniques</a:t>
            </a:r>
          </a:p>
        </p:txBody>
      </p:sp>
      <p:sp>
        <p:nvSpPr>
          <p:cNvPr id="88" name="TextBox 88"/>
          <p:cNvSpPr txBox="1"/>
          <p:nvPr/>
        </p:nvSpPr>
        <p:spPr>
          <a:xfrm>
            <a:off x="1428060" y="5876989"/>
            <a:ext cx="912376" cy="819786"/>
          </a:xfrm>
          <a:prstGeom prst="rect">
            <a:avLst/>
          </a:prstGeom>
        </p:spPr>
        <p:txBody>
          <a:bodyPr lIns="0" tIns="0" rIns="0" bIns="0" rtlCol="0" anchor="t">
            <a:spAutoFit/>
          </a:bodyPr>
          <a:lstStyle/>
          <a:p>
            <a:pPr algn="l">
              <a:lnSpc>
                <a:spcPts val="5739"/>
              </a:lnSpc>
              <a:spcBef>
                <a:spcPct val="0"/>
              </a:spcBef>
            </a:pPr>
            <a:r>
              <a:rPr lang="en-US" sz="4099" b="1">
                <a:solidFill>
                  <a:srgbClr val="FFFFFF"/>
                </a:solidFill>
                <a:latin typeface="Cooper Hewitt Bold"/>
                <a:ea typeface="Cooper Hewitt Bold"/>
                <a:cs typeface="Cooper Hewitt Bold"/>
                <a:sym typeface="Cooper Hewitt Bold"/>
              </a:rPr>
              <a:t>07</a:t>
            </a:r>
          </a:p>
        </p:txBody>
      </p:sp>
      <p:sp>
        <p:nvSpPr>
          <p:cNvPr id="89" name="TextBox 89"/>
          <p:cNvSpPr txBox="1"/>
          <p:nvPr/>
        </p:nvSpPr>
        <p:spPr>
          <a:xfrm>
            <a:off x="2312724" y="6134165"/>
            <a:ext cx="4632960" cy="448310"/>
          </a:xfrm>
          <a:prstGeom prst="rect">
            <a:avLst/>
          </a:prstGeom>
        </p:spPr>
        <p:txBody>
          <a:bodyPr lIns="0" tIns="0" rIns="0" bIns="0" rtlCol="0" anchor="t">
            <a:spAutoFit/>
          </a:bodyPr>
          <a:lstStyle/>
          <a:p>
            <a:pPr algn="l">
              <a:lnSpc>
                <a:spcPts val="3640"/>
              </a:lnSpc>
              <a:spcBef>
                <a:spcPct val="0"/>
              </a:spcBef>
            </a:pPr>
            <a:r>
              <a:rPr lang="en-US" sz="2600" b="1">
                <a:solidFill>
                  <a:srgbClr val="FFFFFF"/>
                </a:solidFill>
                <a:latin typeface="TT Norms Bold"/>
                <a:ea typeface="TT Norms Bold"/>
                <a:cs typeface="TT Norms Bold"/>
                <a:sym typeface="TT Norms Bold"/>
              </a:rPr>
              <a:t>Model prediction</a:t>
            </a:r>
          </a:p>
        </p:txBody>
      </p:sp>
      <p:sp>
        <p:nvSpPr>
          <p:cNvPr id="90" name="TextBox 90"/>
          <p:cNvSpPr txBox="1"/>
          <p:nvPr/>
        </p:nvSpPr>
        <p:spPr>
          <a:xfrm>
            <a:off x="1428060" y="6673279"/>
            <a:ext cx="912376" cy="819786"/>
          </a:xfrm>
          <a:prstGeom prst="rect">
            <a:avLst/>
          </a:prstGeom>
        </p:spPr>
        <p:txBody>
          <a:bodyPr lIns="0" tIns="0" rIns="0" bIns="0" rtlCol="0" anchor="t">
            <a:spAutoFit/>
          </a:bodyPr>
          <a:lstStyle/>
          <a:p>
            <a:pPr algn="l">
              <a:lnSpc>
                <a:spcPts val="5739"/>
              </a:lnSpc>
              <a:spcBef>
                <a:spcPct val="0"/>
              </a:spcBef>
            </a:pPr>
            <a:r>
              <a:rPr lang="en-US" sz="4099" b="1">
                <a:solidFill>
                  <a:srgbClr val="FFFFFF"/>
                </a:solidFill>
                <a:latin typeface="Cooper Hewitt Bold"/>
                <a:ea typeface="Cooper Hewitt Bold"/>
                <a:cs typeface="Cooper Hewitt Bold"/>
                <a:sym typeface="Cooper Hewitt Bold"/>
              </a:rPr>
              <a:t>08</a:t>
            </a:r>
          </a:p>
        </p:txBody>
      </p:sp>
      <p:sp>
        <p:nvSpPr>
          <p:cNvPr id="91" name="TextBox 91"/>
          <p:cNvSpPr txBox="1"/>
          <p:nvPr/>
        </p:nvSpPr>
        <p:spPr>
          <a:xfrm>
            <a:off x="2312724" y="6925375"/>
            <a:ext cx="4632960" cy="448310"/>
          </a:xfrm>
          <a:prstGeom prst="rect">
            <a:avLst/>
          </a:prstGeom>
        </p:spPr>
        <p:txBody>
          <a:bodyPr lIns="0" tIns="0" rIns="0" bIns="0" rtlCol="0" anchor="t">
            <a:spAutoFit/>
          </a:bodyPr>
          <a:lstStyle/>
          <a:p>
            <a:pPr algn="l">
              <a:lnSpc>
                <a:spcPts val="3640"/>
              </a:lnSpc>
              <a:spcBef>
                <a:spcPct val="0"/>
              </a:spcBef>
            </a:pPr>
            <a:r>
              <a:rPr lang="en-US" sz="2600" b="1">
                <a:solidFill>
                  <a:srgbClr val="FFFFFF"/>
                </a:solidFill>
                <a:latin typeface="TT Norms Bold"/>
                <a:ea typeface="TT Norms Bold"/>
                <a:cs typeface="TT Norms Bold"/>
                <a:sym typeface="TT Norms Bold"/>
              </a:rPr>
              <a:t>Model deployment</a:t>
            </a:r>
          </a:p>
        </p:txBody>
      </p:sp>
      <p:sp>
        <p:nvSpPr>
          <p:cNvPr id="92" name="TextBox 92"/>
          <p:cNvSpPr txBox="1"/>
          <p:nvPr/>
        </p:nvSpPr>
        <p:spPr>
          <a:xfrm>
            <a:off x="1400348" y="7415107"/>
            <a:ext cx="912376" cy="819786"/>
          </a:xfrm>
          <a:prstGeom prst="rect">
            <a:avLst/>
          </a:prstGeom>
        </p:spPr>
        <p:txBody>
          <a:bodyPr lIns="0" tIns="0" rIns="0" bIns="0" rtlCol="0" anchor="t">
            <a:spAutoFit/>
          </a:bodyPr>
          <a:lstStyle/>
          <a:p>
            <a:pPr algn="l">
              <a:lnSpc>
                <a:spcPts val="5739"/>
              </a:lnSpc>
              <a:spcBef>
                <a:spcPct val="0"/>
              </a:spcBef>
            </a:pPr>
            <a:r>
              <a:rPr lang="en-US" sz="4099" b="1">
                <a:solidFill>
                  <a:srgbClr val="FFFFFF"/>
                </a:solidFill>
                <a:latin typeface="Cooper Hewitt Bold"/>
                <a:ea typeface="Cooper Hewitt Bold"/>
                <a:cs typeface="Cooper Hewitt Bold"/>
                <a:sym typeface="Cooper Hewitt Bold"/>
              </a:rPr>
              <a:t>09</a:t>
            </a:r>
          </a:p>
        </p:txBody>
      </p:sp>
      <p:sp>
        <p:nvSpPr>
          <p:cNvPr id="93" name="TextBox 93"/>
          <p:cNvSpPr txBox="1"/>
          <p:nvPr/>
        </p:nvSpPr>
        <p:spPr>
          <a:xfrm>
            <a:off x="2270533" y="7628921"/>
            <a:ext cx="2877789" cy="448310"/>
          </a:xfrm>
          <a:prstGeom prst="rect">
            <a:avLst/>
          </a:prstGeom>
        </p:spPr>
        <p:txBody>
          <a:bodyPr wrap="square" lIns="0" tIns="0" rIns="0" bIns="0" rtlCol="0" anchor="t">
            <a:spAutoFit/>
          </a:bodyPr>
          <a:lstStyle/>
          <a:p>
            <a:pPr algn="l">
              <a:lnSpc>
                <a:spcPts val="3640"/>
              </a:lnSpc>
              <a:spcBef>
                <a:spcPct val="0"/>
              </a:spcBef>
            </a:pPr>
            <a:r>
              <a:rPr lang="en-US" sz="2600" b="1" dirty="0">
                <a:solidFill>
                  <a:srgbClr val="FFFFFF"/>
                </a:solidFill>
                <a:latin typeface="TT Norms Bold"/>
                <a:ea typeface="TT Norms Bold"/>
                <a:cs typeface="TT Norms Bold"/>
                <a:sym typeface="TT Norms Bold"/>
              </a:rPr>
              <a:t>Conclusion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2669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6115050" cy="10287000"/>
            <a:chOff x="0" y="0"/>
            <a:chExt cx="947381" cy="1593725"/>
          </a:xfrm>
        </p:grpSpPr>
        <p:sp>
          <p:nvSpPr>
            <p:cNvPr id="3" name="Freeform 3"/>
            <p:cNvSpPr/>
            <p:nvPr/>
          </p:nvSpPr>
          <p:spPr>
            <a:xfrm>
              <a:off x="0" y="0"/>
              <a:ext cx="947381" cy="1593725"/>
            </a:xfrm>
            <a:custGeom>
              <a:avLst/>
              <a:gdLst/>
              <a:ahLst/>
              <a:cxnLst/>
              <a:rect l="l" t="t" r="r" b="b"/>
              <a:pathLst>
                <a:path w="947381" h="1593725">
                  <a:moveTo>
                    <a:pt x="0" y="0"/>
                  </a:moveTo>
                  <a:lnTo>
                    <a:pt x="947381" y="0"/>
                  </a:lnTo>
                  <a:lnTo>
                    <a:pt x="947381" y="1593725"/>
                  </a:lnTo>
                  <a:lnTo>
                    <a:pt x="0" y="1593725"/>
                  </a:lnTo>
                  <a:close/>
                </a:path>
              </a:pathLst>
            </a:custGeom>
            <a:blipFill>
              <a:blip r:embed="rId2"/>
              <a:stretch>
                <a:fillRect t="-58" b="-58"/>
              </a:stretch>
            </a:blipFill>
          </p:spPr>
        </p:sp>
      </p:grpSp>
      <p:sp>
        <p:nvSpPr>
          <p:cNvPr id="4" name="TextBox 4"/>
          <p:cNvSpPr txBox="1"/>
          <p:nvPr/>
        </p:nvSpPr>
        <p:spPr>
          <a:xfrm>
            <a:off x="7858125" y="1743075"/>
            <a:ext cx="7158527" cy="1282065"/>
          </a:xfrm>
          <a:prstGeom prst="rect">
            <a:avLst/>
          </a:prstGeom>
        </p:spPr>
        <p:txBody>
          <a:bodyPr lIns="0" tIns="0" rIns="0" bIns="0" rtlCol="0" anchor="t">
            <a:spAutoFit/>
          </a:bodyPr>
          <a:lstStyle/>
          <a:p>
            <a:pPr marL="0" lvl="0" indent="0" algn="l">
              <a:lnSpc>
                <a:spcPts val="9600"/>
              </a:lnSpc>
            </a:pPr>
            <a:r>
              <a:rPr lang="en-US" sz="9600" u="none" spc="-192">
                <a:solidFill>
                  <a:srgbClr val="F2F6FC"/>
                </a:solidFill>
                <a:latin typeface="Noto Serif Display ExtraCondensed Light"/>
                <a:ea typeface="Noto Serif Display ExtraCondensed Light"/>
                <a:cs typeface="Noto Serif Display ExtraCondensed Light"/>
                <a:sym typeface="Noto Serif Display ExtraCondensed Light"/>
              </a:rPr>
              <a:t>Project Objective</a:t>
            </a:r>
          </a:p>
        </p:txBody>
      </p:sp>
      <p:sp>
        <p:nvSpPr>
          <p:cNvPr id="5" name="TextBox 5"/>
          <p:cNvSpPr txBox="1"/>
          <p:nvPr/>
        </p:nvSpPr>
        <p:spPr>
          <a:xfrm>
            <a:off x="6811877" y="3382309"/>
            <a:ext cx="10809373" cy="3119333"/>
          </a:xfrm>
          <a:prstGeom prst="rect">
            <a:avLst/>
          </a:prstGeom>
        </p:spPr>
        <p:txBody>
          <a:bodyPr lIns="0" tIns="0" rIns="0" bIns="0" rtlCol="0" anchor="t">
            <a:spAutoFit/>
          </a:bodyPr>
          <a:lstStyle/>
          <a:p>
            <a:pPr marL="0" lvl="0" indent="0" algn="l">
              <a:lnSpc>
                <a:spcPts val="3534"/>
              </a:lnSpc>
            </a:pPr>
            <a:r>
              <a:rPr lang="en-US" sz="2945" b="1" u="none" strike="noStrike">
                <a:solidFill>
                  <a:srgbClr val="F2F6FC"/>
                </a:solidFill>
                <a:latin typeface="HK Grotesk Bold"/>
                <a:ea typeface="HK Grotesk Bold"/>
                <a:cs typeface="HK Grotesk Bold"/>
                <a:sym typeface="HK Grotesk Bold"/>
              </a:rPr>
              <a:t>This project aims to segment e-commerce customers based on purchasing behavior and predict their future category using machine learning techniques. The objective is to build a robust RFM-based segmentation model and a predictive classifier that categorizes customers into meaningful groups, enabling data-driven marketing strategies, improved customer retention, and optimized business decision-making.</a:t>
            </a:r>
          </a:p>
        </p:txBody>
      </p:sp>
      <p:sp>
        <p:nvSpPr>
          <p:cNvPr id="6" name="AutoShape 6"/>
          <p:cNvSpPr/>
          <p:nvPr/>
        </p:nvSpPr>
        <p:spPr>
          <a:xfrm>
            <a:off x="6115050" y="676275"/>
            <a:ext cx="12172950" cy="0"/>
          </a:xfrm>
          <a:prstGeom prst="line">
            <a:avLst/>
          </a:prstGeom>
          <a:ln w="19050" cap="flat">
            <a:solidFill>
              <a:srgbClr val="F2F6FC"/>
            </a:solidFill>
            <a:prstDash val="solid"/>
            <a:headEnd type="none" w="sm" len="sm"/>
            <a:tailEnd type="none" w="sm" len="sm"/>
          </a:ln>
        </p:spPr>
      </p:sp>
      <p:sp>
        <p:nvSpPr>
          <p:cNvPr id="7" name="AutoShape 7"/>
          <p:cNvSpPr/>
          <p:nvPr/>
        </p:nvSpPr>
        <p:spPr>
          <a:xfrm>
            <a:off x="6115050" y="9620250"/>
            <a:ext cx="12172950" cy="0"/>
          </a:xfrm>
          <a:prstGeom prst="line">
            <a:avLst/>
          </a:prstGeom>
          <a:ln w="19050" cap="flat">
            <a:solidFill>
              <a:srgbClr val="F2F6FC"/>
            </a:solidFill>
            <a:prstDash val="solid"/>
            <a:headEnd type="none" w="sm" len="sm"/>
            <a:tailEnd type="none" w="sm"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5F7"/>
        </a:solidFill>
        <a:effectLst/>
      </p:bgPr>
    </p:bg>
    <p:spTree>
      <p:nvGrpSpPr>
        <p:cNvPr id="1" name=""/>
        <p:cNvGrpSpPr/>
        <p:nvPr/>
      </p:nvGrpSpPr>
      <p:grpSpPr>
        <a:xfrm>
          <a:off x="0" y="0"/>
          <a:ext cx="0" cy="0"/>
          <a:chOff x="0" y="0"/>
          <a:chExt cx="0" cy="0"/>
        </a:xfrm>
      </p:grpSpPr>
      <p:sp>
        <p:nvSpPr>
          <p:cNvPr id="2" name="Freeform 2"/>
          <p:cNvSpPr/>
          <p:nvPr/>
        </p:nvSpPr>
        <p:spPr>
          <a:xfrm>
            <a:off x="7300897" y="1028700"/>
            <a:ext cx="5985852" cy="5256667"/>
          </a:xfrm>
          <a:custGeom>
            <a:avLst/>
            <a:gdLst/>
            <a:ahLst/>
            <a:cxnLst/>
            <a:rect l="l" t="t" r="r" b="b"/>
            <a:pathLst>
              <a:path w="5985852" h="5256667">
                <a:moveTo>
                  <a:pt x="0" y="0"/>
                </a:moveTo>
                <a:lnTo>
                  <a:pt x="5985853" y="0"/>
                </a:lnTo>
                <a:lnTo>
                  <a:pt x="5985853" y="5256667"/>
                </a:lnTo>
                <a:lnTo>
                  <a:pt x="0" y="52566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1910117" y="490693"/>
            <a:ext cx="5980252" cy="5251748"/>
          </a:xfrm>
          <a:custGeom>
            <a:avLst/>
            <a:gdLst/>
            <a:ahLst/>
            <a:cxnLst/>
            <a:rect l="l" t="t" r="r" b="b"/>
            <a:pathLst>
              <a:path w="5980252" h="5251748">
                <a:moveTo>
                  <a:pt x="0" y="5251749"/>
                </a:moveTo>
                <a:lnTo>
                  <a:pt x="5980251" y="5251749"/>
                </a:lnTo>
                <a:lnTo>
                  <a:pt x="5980251" y="0"/>
                </a:lnTo>
                <a:lnTo>
                  <a:pt x="0" y="0"/>
                </a:lnTo>
                <a:lnTo>
                  <a:pt x="0" y="5251749"/>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752877" y="832537"/>
            <a:ext cx="419100" cy="419100"/>
            <a:chOff x="0" y="0"/>
            <a:chExt cx="110380" cy="110380"/>
          </a:xfrm>
        </p:grpSpPr>
        <p:sp>
          <p:nvSpPr>
            <p:cNvPr id="5" name="Freeform 5"/>
            <p:cNvSpPr/>
            <p:nvPr/>
          </p:nvSpPr>
          <p:spPr>
            <a:xfrm>
              <a:off x="0" y="0"/>
              <a:ext cx="110380" cy="110380"/>
            </a:xfrm>
            <a:custGeom>
              <a:avLst/>
              <a:gdLst/>
              <a:ahLst/>
              <a:cxnLst/>
              <a:rect l="l" t="t" r="r" b="b"/>
              <a:pathLst>
                <a:path w="110380" h="110380">
                  <a:moveTo>
                    <a:pt x="0" y="0"/>
                  </a:moveTo>
                  <a:lnTo>
                    <a:pt x="110380" y="0"/>
                  </a:lnTo>
                  <a:lnTo>
                    <a:pt x="110380" y="110380"/>
                  </a:lnTo>
                  <a:lnTo>
                    <a:pt x="0" y="110380"/>
                  </a:lnTo>
                  <a:close/>
                </a:path>
              </a:pathLst>
            </a:custGeom>
            <a:solidFill>
              <a:srgbClr val="56E11B"/>
            </a:solidFill>
          </p:spPr>
        </p:sp>
        <p:sp>
          <p:nvSpPr>
            <p:cNvPr id="6" name="TextBox 6"/>
            <p:cNvSpPr txBox="1"/>
            <p:nvPr/>
          </p:nvSpPr>
          <p:spPr>
            <a:xfrm>
              <a:off x="0" y="-19050"/>
              <a:ext cx="110380" cy="129430"/>
            </a:xfrm>
            <a:prstGeom prst="rect">
              <a:avLst/>
            </a:prstGeom>
          </p:spPr>
          <p:txBody>
            <a:bodyPr lIns="50800" tIns="50800" rIns="50800" bIns="50800" rtlCol="0" anchor="ctr"/>
            <a:lstStyle/>
            <a:p>
              <a:pPr marL="0" lvl="0" indent="0" algn="ctr">
                <a:lnSpc>
                  <a:spcPts val="2240"/>
                </a:lnSpc>
                <a:spcBef>
                  <a:spcPct val="0"/>
                </a:spcBef>
              </a:pPr>
              <a:r>
                <a:rPr lang="en-US" sz="1600" b="1" u="none" strike="noStrike">
                  <a:solidFill>
                    <a:srgbClr val="000000"/>
                  </a:solidFill>
                  <a:latin typeface="TT Hoves Bold"/>
                  <a:ea typeface="TT Hoves Bold"/>
                  <a:cs typeface="TT Hoves Bold"/>
                  <a:sym typeface="TT Hoves Bold"/>
                </a:rPr>
                <a:t>1</a:t>
              </a:r>
            </a:p>
          </p:txBody>
        </p:sp>
      </p:grpSp>
      <p:sp>
        <p:nvSpPr>
          <p:cNvPr id="7" name="TextBox 7"/>
          <p:cNvSpPr txBox="1"/>
          <p:nvPr/>
        </p:nvSpPr>
        <p:spPr>
          <a:xfrm>
            <a:off x="1282833" y="1132432"/>
            <a:ext cx="5003672" cy="870938"/>
          </a:xfrm>
          <a:prstGeom prst="rect">
            <a:avLst/>
          </a:prstGeom>
        </p:spPr>
        <p:txBody>
          <a:bodyPr lIns="0" tIns="0" rIns="0" bIns="0" rtlCol="0" anchor="t">
            <a:spAutoFit/>
          </a:bodyPr>
          <a:lstStyle/>
          <a:p>
            <a:pPr marL="369427" lvl="1" indent="-184714" algn="l">
              <a:lnSpc>
                <a:spcPts val="2395"/>
              </a:lnSpc>
              <a:spcBef>
                <a:spcPct val="0"/>
              </a:spcBef>
              <a:buFont typeface="Arial"/>
              <a:buChar char="•"/>
            </a:pPr>
            <a:r>
              <a:rPr lang="en-US" sz="1711">
                <a:solidFill>
                  <a:srgbClr val="000000"/>
                </a:solidFill>
                <a:latin typeface="TT Hoves"/>
                <a:ea typeface="TT Hoves"/>
                <a:cs typeface="TT Hoves"/>
                <a:sym typeface="TT Hoves"/>
              </a:rPr>
              <a:t>Imported raw e-commerce transactional dataset</a:t>
            </a:r>
          </a:p>
          <a:p>
            <a:pPr marL="369427" lvl="1" indent="-184714" algn="l">
              <a:lnSpc>
                <a:spcPts val="2395"/>
              </a:lnSpc>
              <a:spcBef>
                <a:spcPct val="0"/>
              </a:spcBef>
              <a:buFont typeface="Arial"/>
              <a:buChar char="•"/>
            </a:pPr>
            <a:r>
              <a:rPr lang="en-US" sz="1711">
                <a:solidFill>
                  <a:srgbClr val="000000"/>
                </a:solidFill>
                <a:latin typeface="TT Hoves"/>
                <a:ea typeface="TT Hoves"/>
                <a:cs typeface="TT Hoves"/>
                <a:sym typeface="TT Hoves"/>
              </a:rPr>
              <a:t>Original shape: 541,909 rows × 8 columns</a:t>
            </a:r>
          </a:p>
          <a:p>
            <a:pPr algn="l">
              <a:lnSpc>
                <a:spcPts val="2395"/>
              </a:lnSpc>
              <a:spcBef>
                <a:spcPct val="0"/>
              </a:spcBef>
            </a:pPr>
            <a:endParaRPr lang="en-US" sz="1711">
              <a:solidFill>
                <a:srgbClr val="000000"/>
              </a:solidFill>
              <a:latin typeface="TT Hoves"/>
              <a:ea typeface="TT Hoves"/>
              <a:cs typeface="TT Hoves"/>
              <a:sym typeface="TT Hoves"/>
            </a:endParaRPr>
          </a:p>
        </p:txBody>
      </p:sp>
      <p:sp>
        <p:nvSpPr>
          <p:cNvPr id="8" name="TextBox 8"/>
          <p:cNvSpPr txBox="1"/>
          <p:nvPr/>
        </p:nvSpPr>
        <p:spPr>
          <a:xfrm>
            <a:off x="1393689" y="733477"/>
            <a:ext cx="2813778" cy="382270"/>
          </a:xfrm>
          <a:prstGeom prst="rect">
            <a:avLst/>
          </a:prstGeom>
        </p:spPr>
        <p:txBody>
          <a:bodyPr lIns="0" tIns="0" rIns="0" bIns="0" rtlCol="0" anchor="t">
            <a:spAutoFit/>
          </a:bodyPr>
          <a:lstStyle/>
          <a:p>
            <a:pPr algn="l">
              <a:lnSpc>
                <a:spcPts val="3079"/>
              </a:lnSpc>
              <a:spcBef>
                <a:spcPct val="0"/>
              </a:spcBef>
            </a:pPr>
            <a:r>
              <a:rPr lang="en-US" sz="2199" b="1">
                <a:solidFill>
                  <a:srgbClr val="000000"/>
                </a:solidFill>
                <a:latin typeface="TT Hoves Bold"/>
                <a:ea typeface="TT Hoves Bold"/>
                <a:cs typeface="TT Hoves Bold"/>
                <a:sym typeface="TT Hoves Bold"/>
              </a:rPr>
              <a:t>Data collection</a:t>
            </a:r>
          </a:p>
        </p:txBody>
      </p:sp>
      <p:grpSp>
        <p:nvGrpSpPr>
          <p:cNvPr id="9" name="Group 9"/>
          <p:cNvGrpSpPr/>
          <p:nvPr/>
        </p:nvGrpSpPr>
        <p:grpSpPr>
          <a:xfrm>
            <a:off x="752877" y="2396206"/>
            <a:ext cx="419100" cy="419100"/>
            <a:chOff x="0" y="0"/>
            <a:chExt cx="110380" cy="110380"/>
          </a:xfrm>
        </p:grpSpPr>
        <p:sp>
          <p:nvSpPr>
            <p:cNvPr id="10" name="Freeform 10"/>
            <p:cNvSpPr/>
            <p:nvPr/>
          </p:nvSpPr>
          <p:spPr>
            <a:xfrm>
              <a:off x="0" y="0"/>
              <a:ext cx="110380" cy="110380"/>
            </a:xfrm>
            <a:custGeom>
              <a:avLst/>
              <a:gdLst/>
              <a:ahLst/>
              <a:cxnLst/>
              <a:rect l="l" t="t" r="r" b="b"/>
              <a:pathLst>
                <a:path w="110380" h="110380">
                  <a:moveTo>
                    <a:pt x="0" y="0"/>
                  </a:moveTo>
                  <a:lnTo>
                    <a:pt x="110380" y="0"/>
                  </a:lnTo>
                  <a:lnTo>
                    <a:pt x="110380" y="110380"/>
                  </a:lnTo>
                  <a:lnTo>
                    <a:pt x="0" y="110380"/>
                  </a:lnTo>
                  <a:close/>
                </a:path>
              </a:pathLst>
            </a:custGeom>
            <a:solidFill>
              <a:srgbClr val="00C267"/>
            </a:solidFill>
          </p:spPr>
        </p:sp>
        <p:sp>
          <p:nvSpPr>
            <p:cNvPr id="11" name="TextBox 11"/>
            <p:cNvSpPr txBox="1"/>
            <p:nvPr/>
          </p:nvSpPr>
          <p:spPr>
            <a:xfrm>
              <a:off x="0" y="-19050"/>
              <a:ext cx="110380" cy="129430"/>
            </a:xfrm>
            <a:prstGeom prst="rect">
              <a:avLst/>
            </a:prstGeom>
          </p:spPr>
          <p:txBody>
            <a:bodyPr lIns="50800" tIns="50800" rIns="50800" bIns="50800" rtlCol="0" anchor="ctr"/>
            <a:lstStyle/>
            <a:p>
              <a:pPr marL="0" lvl="0" indent="0" algn="ctr">
                <a:lnSpc>
                  <a:spcPts val="2240"/>
                </a:lnSpc>
                <a:spcBef>
                  <a:spcPct val="0"/>
                </a:spcBef>
              </a:pPr>
              <a:r>
                <a:rPr lang="en-US" sz="1600" b="1">
                  <a:solidFill>
                    <a:srgbClr val="000000"/>
                  </a:solidFill>
                  <a:latin typeface="TT Hoves Bold"/>
                  <a:ea typeface="TT Hoves Bold"/>
                  <a:cs typeface="TT Hoves Bold"/>
                  <a:sym typeface="TT Hoves Bold"/>
                </a:rPr>
                <a:t>2</a:t>
              </a:r>
            </a:p>
          </p:txBody>
        </p:sp>
      </p:grpSp>
      <p:sp>
        <p:nvSpPr>
          <p:cNvPr id="12" name="TextBox 12"/>
          <p:cNvSpPr txBox="1"/>
          <p:nvPr/>
        </p:nvSpPr>
        <p:spPr>
          <a:xfrm>
            <a:off x="1393689" y="2812577"/>
            <a:ext cx="3519228" cy="817656"/>
          </a:xfrm>
          <a:prstGeom prst="rect">
            <a:avLst/>
          </a:prstGeom>
        </p:spPr>
        <p:txBody>
          <a:bodyPr lIns="0" tIns="0" rIns="0" bIns="0" rtlCol="0" anchor="t">
            <a:spAutoFit/>
          </a:bodyPr>
          <a:lstStyle/>
          <a:p>
            <a:pPr marL="350075" lvl="1" indent="-175038" algn="l">
              <a:lnSpc>
                <a:spcPts val="2270"/>
              </a:lnSpc>
              <a:spcBef>
                <a:spcPct val="0"/>
              </a:spcBef>
              <a:buFont typeface="Arial"/>
              <a:buChar char="•"/>
            </a:pPr>
            <a:r>
              <a:rPr lang="en-US" sz="1621">
                <a:solidFill>
                  <a:srgbClr val="000000"/>
                </a:solidFill>
                <a:latin typeface="TT Hoves"/>
                <a:ea typeface="TT Hoves"/>
                <a:cs typeface="TT Hoves"/>
                <a:sym typeface="TT Hoves"/>
              </a:rPr>
              <a:t>Removed missing CustomerID</a:t>
            </a:r>
          </a:p>
          <a:p>
            <a:pPr marL="350075" lvl="1" indent="-175038" algn="l">
              <a:lnSpc>
                <a:spcPts val="2270"/>
              </a:lnSpc>
              <a:spcBef>
                <a:spcPct val="0"/>
              </a:spcBef>
              <a:buFont typeface="Arial"/>
              <a:buChar char="•"/>
            </a:pPr>
            <a:r>
              <a:rPr lang="en-US" sz="1621">
                <a:solidFill>
                  <a:srgbClr val="000000"/>
                </a:solidFill>
                <a:latin typeface="TT Hoves"/>
                <a:ea typeface="TT Hoves"/>
                <a:cs typeface="TT Hoves"/>
                <a:sym typeface="TT Hoves"/>
              </a:rPr>
              <a:t>Removed cancelled invoices etc</a:t>
            </a:r>
          </a:p>
          <a:p>
            <a:pPr algn="l">
              <a:lnSpc>
                <a:spcPts val="2270"/>
              </a:lnSpc>
              <a:spcBef>
                <a:spcPct val="0"/>
              </a:spcBef>
            </a:pPr>
            <a:endParaRPr lang="en-US" sz="1621">
              <a:solidFill>
                <a:srgbClr val="000000"/>
              </a:solidFill>
              <a:latin typeface="TT Hoves"/>
              <a:ea typeface="TT Hoves"/>
              <a:cs typeface="TT Hoves"/>
              <a:sym typeface="TT Hoves"/>
            </a:endParaRPr>
          </a:p>
        </p:txBody>
      </p:sp>
      <p:sp>
        <p:nvSpPr>
          <p:cNvPr id="13" name="TextBox 13"/>
          <p:cNvSpPr txBox="1"/>
          <p:nvPr/>
        </p:nvSpPr>
        <p:spPr>
          <a:xfrm>
            <a:off x="1393689" y="2348581"/>
            <a:ext cx="4369328" cy="365760"/>
          </a:xfrm>
          <a:prstGeom prst="rect">
            <a:avLst/>
          </a:prstGeom>
        </p:spPr>
        <p:txBody>
          <a:bodyPr lIns="0" tIns="0" rIns="0" bIns="0" rtlCol="0" anchor="t">
            <a:spAutoFit/>
          </a:bodyPr>
          <a:lstStyle/>
          <a:p>
            <a:pPr algn="l">
              <a:lnSpc>
                <a:spcPts val="2939"/>
              </a:lnSpc>
              <a:spcBef>
                <a:spcPct val="0"/>
              </a:spcBef>
            </a:pPr>
            <a:r>
              <a:rPr lang="en-US" sz="2099" b="1">
                <a:solidFill>
                  <a:srgbClr val="000000"/>
                </a:solidFill>
                <a:latin typeface="TT Hoves Bold"/>
                <a:ea typeface="TT Hoves Bold"/>
                <a:cs typeface="TT Hoves Bold"/>
                <a:sym typeface="TT Hoves Bold"/>
              </a:rPr>
              <a:t>Data Cleaning &amp; Preprocessing</a:t>
            </a:r>
          </a:p>
        </p:txBody>
      </p:sp>
      <p:grpSp>
        <p:nvGrpSpPr>
          <p:cNvPr id="14" name="Group 14"/>
          <p:cNvGrpSpPr/>
          <p:nvPr/>
        </p:nvGrpSpPr>
        <p:grpSpPr>
          <a:xfrm>
            <a:off x="752877" y="4171436"/>
            <a:ext cx="419100" cy="419100"/>
            <a:chOff x="0" y="0"/>
            <a:chExt cx="110380" cy="110380"/>
          </a:xfrm>
        </p:grpSpPr>
        <p:sp>
          <p:nvSpPr>
            <p:cNvPr id="15" name="Freeform 15"/>
            <p:cNvSpPr/>
            <p:nvPr/>
          </p:nvSpPr>
          <p:spPr>
            <a:xfrm>
              <a:off x="0" y="0"/>
              <a:ext cx="110380" cy="110380"/>
            </a:xfrm>
            <a:custGeom>
              <a:avLst/>
              <a:gdLst/>
              <a:ahLst/>
              <a:cxnLst/>
              <a:rect l="l" t="t" r="r" b="b"/>
              <a:pathLst>
                <a:path w="110380" h="110380">
                  <a:moveTo>
                    <a:pt x="0" y="0"/>
                  </a:moveTo>
                  <a:lnTo>
                    <a:pt x="110380" y="0"/>
                  </a:lnTo>
                  <a:lnTo>
                    <a:pt x="110380" y="110380"/>
                  </a:lnTo>
                  <a:lnTo>
                    <a:pt x="0" y="110380"/>
                  </a:lnTo>
                  <a:close/>
                </a:path>
              </a:pathLst>
            </a:custGeom>
            <a:solidFill>
              <a:srgbClr val="009D81"/>
            </a:solidFill>
          </p:spPr>
        </p:sp>
        <p:sp>
          <p:nvSpPr>
            <p:cNvPr id="16" name="TextBox 16"/>
            <p:cNvSpPr txBox="1"/>
            <p:nvPr/>
          </p:nvSpPr>
          <p:spPr>
            <a:xfrm>
              <a:off x="0" y="-19050"/>
              <a:ext cx="110380" cy="129430"/>
            </a:xfrm>
            <a:prstGeom prst="rect">
              <a:avLst/>
            </a:prstGeom>
          </p:spPr>
          <p:txBody>
            <a:bodyPr lIns="50800" tIns="50800" rIns="50800" bIns="50800" rtlCol="0" anchor="ctr"/>
            <a:lstStyle/>
            <a:p>
              <a:pPr marL="0" lvl="0" indent="0" algn="ctr">
                <a:lnSpc>
                  <a:spcPts val="2240"/>
                </a:lnSpc>
                <a:spcBef>
                  <a:spcPct val="0"/>
                </a:spcBef>
              </a:pPr>
              <a:r>
                <a:rPr lang="en-US" sz="1600" b="1">
                  <a:solidFill>
                    <a:srgbClr val="000000"/>
                  </a:solidFill>
                  <a:latin typeface="TT Hoves Bold"/>
                  <a:ea typeface="TT Hoves Bold"/>
                  <a:cs typeface="TT Hoves Bold"/>
                  <a:sym typeface="TT Hoves Bold"/>
                </a:rPr>
                <a:t>3</a:t>
              </a:r>
            </a:p>
          </p:txBody>
        </p:sp>
      </p:grpSp>
      <p:sp>
        <p:nvSpPr>
          <p:cNvPr id="17" name="TextBox 17"/>
          <p:cNvSpPr txBox="1"/>
          <p:nvPr/>
        </p:nvSpPr>
        <p:spPr>
          <a:xfrm>
            <a:off x="1393689" y="4542911"/>
            <a:ext cx="4643551" cy="600589"/>
          </a:xfrm>
          <a:prstGeom prst="rect">
            <a:avLst/>
          </a:prstGeom>
        </p:spPr>
        <p:txBody>
          <a:bodyPr lIns="0" tIns="0" rIns="0" bIns="0" rtlCol="0" anchor="t">
            <a:spAutoFit/>
          </a:bodyPr>
          <a:lstStyle/>
          <a:p>
            <a:pPr marL="379646" lvl="1" indent="-189823" algn="l">
              <a:lnSpc>
                <a:spcPts val="2461"/>
              </a:lnSpc>
              <a:spcBef>
                <a:spcPct val="0"/>
              </a:spcBef>
              <a:buFont typeface="Arial"/>
              <a:buChar char="•"/>
            </a:pPr>
            <a:r>
              <a:rPr lang="en-US" sz="1758">
                <a:solidFill>
                  <a:srgbClr val="000000"/>
                </a:solidFill>
                <a:latin typeface="TT Hoves"/>
                <a:ea typeface="TT Hoves"/>
                <a:cs typeface="TT Hoves"/>
                <a:sym typeface="TT Hoves"/>
              </a:rPr>
              <a:t>Analyzed purchase behavior</a:t>
            </a:r>
          </a:p>
          <a:p>
            <a:pPr marL="379646" lvl="1" indent="-189823" algn="l">
              <a:lnSpc>
                <a:spcPts val="2461"/>
              </a:lnSpc>
              <a:spcBef>
                <a:spcPct val="0"/>
              </a:spcBef>
              <a:buFont typeface="Arial"/>
              <a:buChar char="•"/>
            </a:pPr>
            <a:r>
              <a:rPr lang="en-US" sz="1758">
                <a:solidFill>
                  <a:srgbClr val="000000"/>
                </a:solidFill>
                <a:latin typeface="TT Hoves"/>
                <a:ea typeface="TT Hoves"/>
                <a:cs typeface="TT Hoves"/>
                <a:sym typeface="TT Hoves"/>
              </a:rPr>
              <a:t>Detected presence of outliers</a:t>
            </a:r>
          </a:p>
        </p:txBody>
      </p:sp>
      <p:sp>
        <p:nvSpPr>
          <p:cNvPr id="18" name="TextBox 18"/>
          <p:cNvSpPr txBox="1"/>
          <p:nvPr/>
        </p:nvSpPr>
        <p:spPr>
          <a:xfrm>
            <a:off x="1393689" y="4111300"/>
            <a:ext cx="4147616" cy="365760"/>
          </a:xfrm>
          <a:prstGeom prst="rect">
            <a:avLst/>
          </a:prstGeom>
        </p:spPr>
        <p:txBody>
          <a:bodyPr lIns="0" tIns="0" rIns="0" bIns="0" rtlCol="0" anchor="t">
            <a:spAutoFit/>
          </a:bodyPr>
          <a:lstStyle/>
          <a:p>
            <a:pPr algn="l">
              <a:lnSpc>
                <a:spcPts val="2939"/>
              </a:lnSpc>
              <a:spcBef>
                <a:spcPct val="0"/>
              </a:spcBef>
            </a:pPr>
            <a:r>
              <a:rPr lang="en-US" sz="2099" b="1">
                <a:solidFill>
                  <a:srgbClr val="000000"/>
                </a:solidFill>
                <a:latin typeface="TT Hoves Bold"/>
                <a:ea typeface="TT Hoves Bold"/>
                <a:cs typeface="TT Hoves Bold"/>
                <a:sym typeface="TT Hoves Bold"/>
              </a:rPr>
              <a:t>Exploratory Data Analysis (EDA)</a:t>
            </a:r>
          </a:p>
        </p:txBody>
      </p:sp>
      <p:grpSp>
        <p:nvGrpSpPr>
          <p:cNvPr id="19" name="Group 19"/>
          <p:cNvGrpSpPr/>
          <p:nvPr/>
        </p:nvGrpSpPr>
        <p:grpSpPr>
          <a:xfrm>
            <a:off x="752877" y="5972175"/>
            <a:ext cx="419100" cy="419100"/>
            <a:chOff x="0" y="0"/>
            <a:chExt cx="110380" cy="110380"/>
          </a:xfrm>
        </p:grpSpPr>
        <p:sp>
          <p:nvSpPr>
            <p:cNvPr id="20" name="Freeform 20"/>
            <p:cNvSpPr/>
            <p:nvPr/>
          </p:nvSpPr>
          <p:spPr>
            <a:xfrm>
              <a:off x="0" y="0"/>
              <a:ext cx="110380" cy="110380"/>
            </a:xfrm>
            <a:custGeom>
              <a:avLst/>
              <a:gdLst/>
              <a:ahLst/>
              <a:cxnLst/>
              <a:rect l="l" t="t" r="r" b="b"/>
              <a:pathLst>
                <a:path w="110380" h="110380">
                  <a:moveTo>
                    <a:pt x="0" y="0"/>
                  </a:moveTo>
                  <a:lnTo>
                    <a:pt x="110380" y="0"/>
                  </a:lnTo>
                  <a:lnTo>
                    <a:pt x="110380" y="110380"/>
                  </a:lnTo>
                  <a:lnTo>
                    <a:pt x="0" y="110380"/>
                  </a:lnTo>
                  <a:close/>
                </a:path>
              </a:pathLst>
            </a:custGeom>
            <a:solidFill>
              <a:srgbClr val="007B80"/>
            </a:solidFill>
          </p:spPr>
        </p:sp>
        <p:sp>
          <p:nvSpPr>
            <p:cNvPr id="21" name="TextBox 21"/>
            <p:cNvSpPr txBox="1"/>
            <p:nvPr/>
          </p:nvSpPr>
          <p:spPr>
            <a:xfrm>
              <a:off x="0" y="-19050"/>
              <a:ext cx="110380" cy="129430"/>
            </a:xfrm>
            <a:prstGeom prst="rect">
              <a:avLst/>
            </a:prstGeom>
          </p:spPr>
          <p:txBody>
            <a:bodyPr lIns="50800" tIns="50800" rIns="50800" bIns="50800" rtlCol="0" anchor="ctr"/>
            <a:lstStyle/>
            <a:p>
              <a:pPr marL="0" lvl="0" indent="0" algn="ctr">
                <a:lnSpc>
                  <a:spcPts val="2240"/>
                </a:lnSpc>
                <a:spcBef>
                  <a:spcPct val="0"/>
                </a:spcBef>
              </a:pPr>
              <a:r>
                <a:rPr lang="en-US" sz="1600" b="1">
                  <a:solidFill>
                    <a:srgbClr val="000000"/>
                  </a:solidFill>
                  <a:latin typeface="TT Hoves Bold"/>
                  <a:ea typeface="TT Hoves Bold"/>
                  <a:cs typeface="TT Hoves Bold"/>
                  <a:sym typeface="TT Hoves Bold"/>
                </a:rPr>
                <a:t>4</a:t>
              </a:r>
            </a:p>
          </p:txBody>
        </p:sp>
      </p:grpSp>
      <p:sp>
        <p:nvSpPr>
          <p:cNvPr id="22" name="TextBox 22"/>
          <p:cNvSpPr txBox="1"/>
          <p:nvPr/>
        </p:nvSpPr>
        <p:spPr>
          <a:xfrm>
            <a:off x="1393689" y="6340539"/>
            <a:ext cx="4892816" cy="1083310"/>
          </a:xfrm>
          <a:prstGeom prst="rect">
            <a:avLst/>
          </a:prstGeom>
        </p:spPr>
        <p:txBody>
          <a:bodyPr lIns="0" tIns="0" rIns="0" bIns="0" rtlCol="0" anchor="t">
            <a:spAutoFit/>
          </a:bodyPr>
          <a:lstStyle/>
          <a:p>
            <a:pPr algn="l">
              <a:lnSpc>
                <a:spcPts val="2240"/>
              </a:lnSpc>
              <a:spcBef>
                <a:spcPct val="0"/>
              </a:spcBef>
            </a:pPr>
            <a:r>
              <a:rPr lang="en-US" sz="1600">
                <a:solidFill>
                  <a:srgbClr val="000000"/>
                </a:solidFill>
                <a:latin typeface="TT Hoves"/>
                <a:ea typeface="TT Hoves"/>
                <a:cs typeface="TT Hoves"/>
                <a:sym typeface="TT Hoves"/>
              </a:rPr>
              <a:t>Grouped transactions by CustomerID and calculated:</a:t>
            </a:r>
          </a:p>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Recency </a:t>
            </a:r>
          </a:p>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Frequency </a:t>
            </a:r>
          </a:p>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Monetary </a:t>
            </a:r>
          </a:p>
        </p:txBody>
      </p:sp>
      <p:sp>
        <p:nvSpPr>
          <p:cNvPr id="23" name="TextBox 23"/>
          <p:cNvSpPr txBox="1"/>
          <p:nvPr/>
        </p:nvSpPr>
        <p:spPr>
          <a:xfrm>
            <a:off x="1393689" y="5955729"/>
            <a:ext cx="5133840" cy="365760"/>
          </a:xfrm>
          <a:prstGeom prst="rect">
            <a:avLst/>
          </a:prstGeom>
        </p:spPr>
        <p:txBody>
          <a:bodyPr lIns="0" tIns="0" rIns="0" bIns="0" rtlCol="0" anchor="t">
            <a:spAutoFit/>
          </a:bodyPr>
          <a:lstStyle/>
          <a:p>
            <a:pPr algn="l">
              <a:lnSpc>
                <a:spcPts val="2939"/>
              </a:lnSpc>
              <a:spcBef>
                <a:spcPct val="0"/>
              </a:spcBef>
            </a:pPr>
            <a:r>
              <a:rPr lang="en-US" sz="2099" b="1">
                <a:solidFill>
                  <a:srgbClr val="000000"/>
                </a:solidFill>
                <a:latin typeface="TT Hoves Bold"/>
                <a:ea typeface="TT Hoves Bold"/>
                <a:cs typeface="TT Hoves Bold"/>
                <a:sym typeface="TT Hoves Bold"/>
              </a:rPr>
              <a:t>Feature Engineering – RFM Calculation</a:t>
            </a:r>
          </a:p>
        </p:txBody>
      </p:sp>
      <p:grpSp>
        <p:nvGrpSpPr>
          <p:cNvPr id="24" name="Group 24"/>
          <p:cNvGrpSpPr/>
          <p:nvPr/>
        </p:nvGrpSpPr>
        <p:grpSpPr>
          <a:xfrm>
            <a:off x="752877" y="7960642"/>
            <a:ext cx="419100" cy="419100"/>
            <a:chOff x="0" y="0"/>
            <a:chExt cx="110380" cy="110380"/>
          </a:xfrm>
        </p:grpSpPr>
        <p:sp>
          <p:nvSpPr>
            <p:cNvPr id="25" name="Freeform 25"/>
            <p:cNvSpPr/>
            <p:nvPr/>
          </p:nvSpPr>
          <p:spPr>
            <a:xfrm>
              <a:off x="0" y="0"/>
              <a:ext cx="110380" cy="110380"/>
            </a:xfrm>
            <a:custGeom>
              <a:avLst/>
              <a:gdLst/>
              <a:ahLst/>
              <a:cxnLst/>
              <a:rect l="l" t="t" r="r" b="b"/>
              <a:pathLst>
                <a:path w="110380" h="110380">
                  <a:moveTo>
                    <a:pt x="0" y="0"/>
                  </a:moveTo>
                  <a:lnTo>
                    <a:pt x="110380" y="0"/>
                  </a:lnTo>
                  <a:lnTo>
                    <a:pt x="110380" y="110380"/>
                  </a:lnTo>
                  <a:lnTo>
                    <a:pt x="0" y="110380"/>
                  </a:lnTo>
                  <a:close/>
                </a:path>
              </a:pathLst>
            </a:custGeom>
            <a:solidFill>
              <a:srgbClr val="004259"/>
            </a:solidFill>
          </p:spPr>
        </p:sp>
        <p:sp>
          <p:nvSpPr>
            <p:cNvPr id="26" name="TextBox 26"/>
            <p:cNvSpPr txBox="1"/>
            <p:nvPr/>
          </p:nvSpPr>
          <p:spPr>
            <a:xfrm>
              <a:off x="0" y="-19050"/>
              <a:ext cx="110380" cy="129430"/>
            </a:xfrm>
            <a:prstGeom prst="rect">
              <a:avLst/>
            </a:prstGeom>
          </p:spPr>
          <p:txBody>
            <a:bodyPr lIns="50800" tIns="50800" rIns="50800" bIns="50800" rtlCol="0" anchor="ctr"/>
            <a:lstStyle/>
            <a:p>
              <a:pPr marL="0" lvl="0" indent="0" algn="ctr">
                <a:lnSpc>
                  <a:spcPts val="2240"/>
                </a:lnSpc>
                <a:spcBef>
                  <a:spcPct val="0"/>
                </a:spcBef>
              </a:pPr>
              <a:r>
                <a:rPr lang="en-US" sz="1600" b="1">
                  <a:solidFill>
                    <a:srgbClr val="000000"/>
                  </a:solidFill>
                  <a:latin typeface="TT Hoves Bold"/>
                  <a:ea typeface="TT Hoves Bold"/>
                  <a:cs typeface="TT Hoves Bold"/>
                  <a:sym typeface="TT Hoves Bold"/>
                </a:rPr>
                <a:t>5</a:t>
              </a:r>
            </a:p>
          </p:txBody>
        </p:sp>
      </p:grpSp>
      <p:sp>
        <p:nvSpPr>
          <p:cNvPr id="27" name="TextBox 27"/>
          <p:cNvSpPr txBox="1"/>
          <p:nvPr/>
        </p:nvSpPr>
        <p:spPr>
          <a:xfrm>
            <a:off x="1393689" y="8360692"/>
            <a:ext cx="4369328" cy="1083310"/>
          </a:xfrm>
          <a:prstGeom prst="rect">
            <a:avLst/>
          </a:prstGeom>
        </p:spPr>
        <p:txBody>
          <a:bodyPr lIns="0" tIns="0" rIns="0" bIns="0" rtlCol="0" anchor="t">
            <a:spAutoFit/>
          </a:bodyPr>
          <a:lstStyle/>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Applied StandardScaler  Required because clustering is distance-based</a:t>
            </a:r>
          </a:p>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Prevented Monetary from dominating model</a:t>
            </a:r>
          </a:p>
          <a:p>
            <a:pPr algn="l">
              <a:lnSpc>
                <a:spcPts val="2240"/>
              </a:lnSpc>
              <a:spcBef>
                <a:spcPct val="0"/>
              </a:spcBef>
            </a:pPr>
            <a:endParaRPr lang="en-US" sz="1600">
              <a:solidFill>
                <a:srgbClr val="000000"/>
              </a:solidFill>
              <a:latin typeface="TT Hoves"/>
              <a:ea typeface="TT Hoves"/>
              <a:cs typeface="TT Hoves"/>
              <a:sym typeface="TT Hoves"/>
            </a:endParaRPr>
          </a:p>
        </p:txBody>
      </p:sp>
      <p:sp>
        <p:nvSpPr>
          <p:cNvPr id="28" name="TextBox 28"/>
          <p:cNvSpPr txBox="1"/>
          <p:nvPr/>
        </p:nvSpPr>
        <p:spPr>
          <a:xfrm>
            <a:off x="1333902" y="7932321"/>
            <a:ext cx="2813778" cy="365760"/>
          </a:xfrm>
          <a:prstGeom prst="rect">
            <a:avLst/>
          </a:prstGeom>
        </p:spPr>
        <p:txBody>
          <a:bodyPr lIns="0" tIns="0" rIns="0" bIns="0" rtlCol="0" anchor="t">
            <a:spAutoFit/>
          </a:bodyPr>
          <a:lstStyle/>
          <a:p>
            <a:pPr algn="l">
              <a:lnSpc>
                <a:spcPts val="2939"/>
              </a:lnSpc>
              <a:spcBef>
                <a:spcPct val="0"/>
              </a:spcBef>
            </a:pPr>
            <a:r>
              <a:rPr lang="en-US" sz="2099" b="1">
                <a:solidFill>
                  <a:srgbClr val="000000"/>
                </a:solidFill>
                <a:latin typeface="TT Hoves Bold"/>
                <a:ea typeface="TT Hoves Bold"/>
                <a:cs typeface="TT Hoves Bold"/>
                <a:sym typeface="TT Hoves Bold"/>
              </a:rPr>
              <a:t>Feature Scaling</a:t>
            </a:r>
          </a:p>
        </p:txBody>
      </p:sp>
      <p:grpSp>
        <p:nvGrpSpPr>
          <p:cNvPr id="29" name="Group 29"/>
          <p:cNvGrpSpPr/>
          <p:nvPr/>
        </p:nvGrpSpPr>
        <p:grpSpPr>
          <a:xfrm>
            <a:off x="6808825" y="6447292"/>
            <a:ext cx="419100" cy="419100"/>
            <a:chOff x="0" y="0"/>
            <a:chExt cx="110380" cy="110380"/>
          </a:xfrm>
        </p:grpSpPr>
        <p:sp>
          <p:nvSpPr>
            <p:cNvPr id="30" name="Freeform 30"/>
            <p:cNvSpPr/>
            <p:nvPr/>
          </p:nvSpPr>
          <p:spPr>
            <a:xfrm>
              <a:off x="0" y="0"/>
              <a:ext cx="110380" cy="110380"/>
            </a:xfrm>
            <a:custGeom>
              <a:avLst/>
              <a:gdLst/>
              <a:ahLst/>
              <a:cxnLst/>
              <a:rect l="l" t="t" r="r" b="b"/>
              <a:pathLst>
                <a:path w="110380" h="110380">
                  <a:moveTo>
                    <a:pt x="0" y="0"/>
                  </a:moveTo>
                  <a:lnTo>
                    <a:pt x="110380" y="0"/>
                  </a:lnTo>
                  <a:lnTo>
                    <a:pt x="110380" y="110380"/>
                  </a:lnTo>
                  <a:lnTo>
                    <a:pt x="0" y="110380"/>
                  </a:lnTo>
                  <a:close/>
                </a:path>
              </a:pathLst>
            </a:custGeom>
            <a:solidFill>
              <a:srgbClr val="000038"/>
            </a:solidFill>
          </p:spPr>
        </p:sp>
        <p:sp>
          <p:nvSpPr>
            <p:cNvPr id="31" name="TextBox 31"/>
            <p:cNvSpPr txBox="1"/>
            <p:nvPr/>
          </p:nvSpPr>
          <p:spPr>
            <a:xfrm>
              <a:off x="0" y="-19050"/>
              <a:ext cx="110380" cy="129430"/>
            </a:xfrm>
            <a:prstGeom prst="rect">
              <a:avLst/>
            </a:prstGeom>
          </p:spPr>
          <p:txBody>
            <a:bodyPr lIns="50800" tIns="50800" rIns="50800" bIns="50800" rtlCol="0" anchor="ctr"/>
            <a:lstStyle/>
            <a:p>
              <a:pPr marL="0" lvl="0" indent="0" algn="ctr">
                <a:lnSpc>
                  <a:spcPts val="2240"/>
                </a:lnSpc>
                <a:spcBef>
                  <a:spcPct val="0"/>
                </a:spcBef>
              </a:pPr>
              <a:r>
                <a:rPr lang="en-US" sz="1600" b="1">
                  <a:solidFill>
                    <a:srgbClr val="000000"/>
                  </a:solidFill>
                  <a:latin typeface="TT Hoves Bold"/>
                  <a:ea typeface="TT Hoves Bold"/>
                  <a:cs typeface="TT Hoves Bold"/>
                  <a:sym typeface="TT Hoves Bold"/>
                </a:rPr>
                <a:t>6</a:t>
              </a:r>
            </a:p>
          </p:txBody>
        </p:sp>
      </p:grpSp>
      <p:sp>
        <p:nvSpPr>
          <p:cNvPr id="32" name="TextBox 32"/>
          <p:cNvSpPr txBox="1"/>
          <p:nvPr/>
        </p:nvSpPr>
        <p:spPr>
          <a:xfrm>
            <a:off x="7447000" y="6906477"/>
            <a:ext cx="4214570" cy="1359535"/>
          </a:xfrm>
          <a:prstGeom prst="rect">
            <a:avLst/>
          </a:prstGeom>
        </p:spPr>
        <p:txBody>
          <a:bodyPr lIns="0" tIns="0" rIns="0" bIns="0" rtlCol="0" anchor="t">
            <a:spAutoFit/>
          </a:bodyPr>
          <a:lstStyle/>
          <a:p>
            <a:pPr algn="l">
              <a:lnSpc>
                <a:spcPts val="2240"/>
              </a:lnSpc>
              <a:spcBef>
                <a:spcPct val="0"/>
              </a:spcBef>
            </a:pPr>
            <a:r>
              <a:rPr lang="en-US" sz="1600">
                <a:solidFill>
                  <a:srgbClr val="000000"/>
                </a:solidFill>
                <a:latin typeface="TT Hoves"/>
                <a:ea typeface="TT Hoves"/>
                <a:cs typeface="TT Hoves"/>
                <a:sym typeface="TT Hoves"/>
              </a:rPr>
              <a:t>Tested multiple clustering algorithms:</a:t>
            </a:r>
          </a:p>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KMeans</a:t>
            </a:r>
          </a:p>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Hierarchical Clustering</a:t>
            </a:r>
          </a:p>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DBSCAN</a:t>
            </a:r>
          </a:p>
          <a:p>
            <a:pPr algn="l">
              <a:lnSpc>
                <a:spcPts val="2240"/>
              </a:lnSpc>
              <a:spcBef>
                <a:spcPct val="0"/>
              </a:spcBef>
            </a:pPr>
            <a:endParaRPr lang="en-US" sz="1600">
              <a:solidFill>
                <a:srgbClr val="000000"/>
              </a:solidFill>
              <a:latin typeface="TT Hoves"/>
              <a:ea typeface="TT Hoves"/>
              <a:cs typeface="TT Hoves"/>
              <a:sym typeface="TT Hoves"/>
            </a:endParaRPr>
          </a:p>
        </p:txBody>
      </p:sp>
      <p:sp>
        <p:nvSpPr>
          <p:cNvPr id="33" name="TextBox 33"/>
          <p:cNvSpPr txBox="1"/>
          <p:nvPr/>
        </p:nvSpPr>
        <p:spPr>
          <a:xfrm>
            <a:off x="7447000" y="6399667"/>
            <a:ext cx="5003249" cy="365760"/>
          </a:xfrm>
          <a:prstGeom prst="rect">
            <a:avLst/>
          </a:prstGeom>
        </p:spPr>
        <p:txBody>
          <a:bodyPr lIns="0" tIns="0" rIns="0" bIns="0" rtlCol="0" anchor="t">
            <a:spAutoFit/>
          </a:bodyPr>
          <a:lstStyle/>
          <a:p>
            <a:pPr algn="l">
              <a:lnSpc>
                <a:spcPts val="2940"/>
              </a:lnSpc>
              <a:spcBef>
                <a:spcPct val="0"/>
              </a:spcBef>
            </a:pPr>
            <a:r>
              <a:rPr lang="en-US" sz="2100" b="1">
                <a:solidFill>
                  <a:srgbClr val="000000"/>
                </a:solidFill>
                <a:latin typeface="TT Hoves Bold"/>
                <a:ea typeface="TT Hoves Bold"/>
                <a:cs typeface="TT Hoves Bold"/>
                <a:sym typeface="TT Hoves Bold"/>
              </a:rPr>
              <a:t>Unsupervised Model Implementation</a:t>
            </a:r>
          </a:p>
        </p:txBody>
      </p:sp>
      <p:grpSp>
        <p:nvGrpSpPr>
          <p:cNvPr id="34" name="Group 34"/>
          <p:cNvGrpSpPr/>
          <p:nvPr/>
        </p:nvGrpSpPr>
        <p:grpSpPr>
          <a:xfrm>
            <a:off x="6808825" y="8518083"/>
            <a:ext cx="419100" cy="368478"/>
            <a:chOff x="0" y="0"/>
            <a:chExt cx="110380" cy="97048"/>
          </a:xfrm>
        </p:grpSpPr>
        <p:sp>
          <p:nvSpPr>
            <p:cNvPr id="35" name="Freeform 35"/>
            <p:cNvSpPr/>
            <p:nvPr/>
          </p:nvSpPr>
          <p:spPr>
            <a:xfrm>
              <a:off x="0" y="0"/>
              <a:ext cx="110380" cy="97048"/>
            </a:xfrm>
            <a:custGeom>
              <a:avLst/>
              <a:gdLst/>
              <a:ahLst/>
              <a:cxnLst/>
              <a:rect l="l" t="t" r="r" b="b"/>
              <a:pathLst>
                <a:path w="110380" h="97048">
                  <a:moveTo>
                    <a:pt x="0" y="0"/>
                  </a:moveTo>
                  <a:lnTo>
                    <a:pt x="110380" y="0"/>
                  </a:lnTo>
                  <a:lnTo>
                    <a:pt x="110380" y="97048"/>
                  </a:lnTo>
                  <a:lnTo>
                    <a:pt x="0" y="97048"/>
                  </a:lnTo>
                  <a:close/>
                </a:path>
              </a:pathLst>
            </a:custGeom>
            <a:solidFill>
              <a:srgbClr val="000038"/>
            </a:solidFill>
          </p:spPr>
        </p:sp>
        <p:sp>
          <p:nvSpPr>
            <p:cNvPr id="36" name="TextBox 36"/>
            <p:cNvSpPr txBox="1"/>
            <p:nvPr/>
          </p:nvSpPr>
          <p:spPr>
            <a:xfrm>
              <a:off x="0" y="-19050"/>
              <a:ext cx="110380" cy="116098"/>
            </a:xfrm>
            <a:prstGeom prst="rect">
              <a:avLst/>
            </a:prstGeom>
          </p:spPr>
          <p:txBody>
            <a:bodyPr lIns="50800" tIns="50800" rIns="50800" bIns="50800" rtlCol="0" anchor="ctr"/>
            <a:lstStyle/>
            <a:p>
              <a:pPr marL="0" lvl="0" indent="0" algn="ctr">
                <a:lnSpc>
                  <a:spcPts val="2240"/>
                </a:lnSpc>
                <a:spcBef>
                  <a:spcPct val="0"/>
                </a:spcBef>
              </a:pPr>
              <a:r>
                <a:rPr lang="en-US" sz="1600" b="1">
                  <a:solidFill>
                    <a:srgbClr val="000000"/>
                  </a:solidFill>
                  <a:latin typeface="TT Hoves Bold"/>
                  <a:ea typeface="TT Hoves Bold"/>
                  <a:cs typeface="TT Hoves Bold"/>
                  <a:sym typeface="TT Hoves Bold"/>
                </a:rPr>
                <a:t>7</a:t>
              </a:r>
            </a:p>
          </p:txBody>
        </p:sp>
      </p:grpSp>
      <p:sp>
        <p:nvSpPr>
          <p:cNvPr id="37" name="TextBox 37"/>
          <p:cNvSpPr txBox="1"/>
          <p:nvPr/>
        </p:nvSpPr>
        <p:spPr>
          <a:xfrm>
            <a:off x="7447000" y="8414514"/>
            <a:ext cx="3865105" cy="365760"/>
          </a:xfrm>
          <a:prstGeom prst="rect">
            <a:avLst/>
          </a:prstGeom>
        </p:spPr>
        <p:txBody>
          <a:bodyPr lIns="0" tIns="0" rIns="0" bIns="0" rtlCol="0" anchor="t">
            <a:spAutoFit/>
          </a:bodyPr>
          <a:lstStyle/>
          <a:p>
            <a:pPr algn="l">
              <a:lnSpc>
                <a:spcPts val="2940"/>
              </a:lnSpc>
              <a:spcBef>
                <a:spcPct val="0"/>
              </a:spcBef>
            </a:pPr>
            <a:r>
              <a:rPr lang="en-US" sz="2100" b="1">
                <a:solidFill>
                  <a:srgbClr val="000000"/>
                </a:solidFill>
                <a:latin typeface="TT Hoves Bold"/>
                <a:ea typeface="TT Hoves Bold"/>
                <a:cs typeface="TT Hoves Bold"/>
                <a:sym typeface="TT Hoves Bold"/>
              </a:rPr>
              <a:t>Model Evaluation &amp; Selection</a:t>
            </a:r>
          </a:p>
        </p:txBody>
      </p:sp>
      <p:sp>
        <p:nvSpPr>
          <p:cNvPr id="38" name="TextBox 38"/>
          <p:cNvSpPr txBox="1"/>
          <p:nvPr/>
        </p:nvSpPr>
        <p:spPr>
          <a:xfrm>
            <a:off x="7447000" y="8867511"/>
            <a:ext cx="4214570" cy="807085"/>
          </a:xfrm>
          <a:prstGeom prst="rect">
            <a:avLst/>
          </a:prstGeom>
        </p:spPr>
        <p:txBody>
          <a:bodyPr lIns="0" tIns="0" rIns="0" bIns="0" rtlCol="0" anchor="t">
            <a:spAutoFit/>
          </a:bodyPr>
          <a:lstStyle/>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Compared models using Silhouette Score</a:t>
            </a:r>
          </a:p>
          <a:p>
            <a:pPr algn="l">
              <a:lnSpc>
                <a:spcPts val="2240"/>
              </a:lnSpc>
              <a:spcBef>
                <a:spcPct val="0"/>
              </a:spcBef>
            </a:pPr>
            <a:endParaRPr lang="en-US" sz="1600">
              <a:solidFill>
                <a:srgbClr val="000000"/>
              </a:solidFill>
              <a:latin typeface="TT Hoves"/>
              <a:ea typeface="TT Hoves"/>
              <a:cs typeface="TT Hoves"/>
              <a:sym typeface="TT Hoves"/>
            </a:endParaRPr>
          </a:p>
          <a:p>
            <a:pPr algn="l">
              <a:lnSpc>
                <a:spcPts val="2240"/>
              </a:lnSpc>
              <a:spcBef>
                <a:spcPct val="0"/>
              </a:spcBef>
            </a:pPr>
            <a:endParaRPr lang="en-US" sz="1600">
              <a:solidFill>
                <a:srgbClr val="000000"/>
              </a:solidFill>
              <a:latin typeface="TT Hoves"/>
              <a:ea typeface="TT Hoves"/>
              <a:cs typeface="TT Hoves"/>
              <a:sym typeface="TT Hoves"/>
            </a:endParaRPr>
          </a:p>
        </p:txBody>
      </p:sp>
      <p:grpSp>
        <p:nvGrpSpPr>
          <p:cNvPr id="39" name="Group 39"/>
          <p:cNvGrpSpPr/>
          <p:nvPr/>
        </p:nvGrpSpPr>
        <p:grpSpPr>
          <a:xfrm>
            <a:off x="12867650" y="6447292"/>
            <a:ext cx="419100" cy="419100"/>
            <a:chOff x="0" y="0"/>
            <a:chExt cx="110380" cy="110380"/>
          </a:xfrm>
        </p:grpSpPr>
        <p:sp>
          <p:nvSpPr>
            <p:cNvPr id="40" name="Freeform 40"/>
            <p:cNvSpPr/>
            <p:nvPr/>
          </p:nvSpPr>
          <p:spPr>
            <a:xfrm>
              <a:off x="0" y="0"/>
              <a:ext cx="110380" cy="110380"/>
            </a:xfrm>
            <a:custGeom>
              <a:avLst/>
              <a:gdLst/>
              <a:ahLst/>
              <a:cxnLst/>
              <a:rect l="l" t="t" r="r" b="b"/>
              <a:pathLst>
                <a:path w="110380" h="110380">
                  <a:moveTo>
                    <a:pt x="0" y="0"/>
                  </a:moveTo>
                  <a:lnTo>
                    <a:pt x="110380" y="0"/>
                  </a:lnTo>
                  <a:lnTo>
                    <a:pt x="110380" y="110380"/>
                  </a:lnTo>
                  <a:lnTo>
                    <a:pt x="0" y="110380"/>
                  </a:lnTo>
                  <a:close/>
                </a:path>
              </a:pathLst>
            </a:custGeom>
            <a:solidFill>
              <a:srgbClr val="000038"/>
            </a:solidFill>
          </p:spPr>
        </p:sp>
        <p:sp>
          <p:nvSpPr>
            <p:cNvPr id="41" name="TextBox 41"/>
            <p:cNvSpPr txBox="1"/>
            <p:nvPr/>
          </p:nvSpPr>
          <p:spPr>
            <a:xfrm>
              <a:off x="0" y="-19050"/>
              <a:ext cx="110380" cy="129430"/>
            </a:xfrm>
            <a:prstGeom prst="rect">
              <a:avLst/>
            </a:prstGeom>
          </p:spPr>
          <p:txBody>
            <a:bodyPr lIns="50800" tIns="50800" rIns="50800" bIns="50800" rtlCol="0" anchor="ctr"/>
            <a:lstStyle/>
            <a:p>
              <a:pPr marL="0" lvl="0" indent="0" algn="ctr">
                <a:lnSpc>
                  <a:spcPts val="2240"/>
                </a:lnSpc>
                <a:spcBef>
                  <a:spcPct val="0"/>
                </a:spcBef>
              </a:pPr>
              <a:r>
                <a:rPr lang="en-US" sz="1600" b="1">
                  <a:solidFill>
                    <a:srgbClr val="000000"/>
                  </a:solidFill>
                  <a:latin typeface="TT Hoves Bold"/>
                  <a:ea typeface="TT Hoves Bold"/>
                  <a:cs typeface="TT Hoves Bold"/>
                  <a:sym typeface="TT Hoves Bold"/>
                </a:rPr>
                <a:t>8</a:t>
              </a:r>
            </a:p>
          </p:txBody>
        </p:sp>
      </p:grpSp>
      <p:sp>
        <p:nvSpPr>
          <p:cNvPr id="42" name="TextBox 42"/>
          <p:cNvSpPr txBox="1"/>
          <p:nvPr/>
        </p:nvSpPr>
        <p:spPr>
          <a:xfrm>
            <a:off x="13498888" y="6399667"/>
            <a:ext cx="3865105" cy="365760"/>
          </a:xfrm>
          <a:prstGeom prst="rect">
            <a:avLst/>
          </a:prstGeom>
        </p:spPr>
        <p:txBody>
          <a:bodyPr lIns="0" tIns="0" rIns="0" bIns="0" rtlCol="0" anchor="t">
            <a:spAutoFit/>
          </a:bodyPr>
          <a:lstStyle/>
          <a:p>
            <a:pPr algn="l">
              <a:lnSpc>
                <a:spcPts val="2940"/>
              </a:lnSpc>
              <a:spcBef>
                <a:spcPct val="0"/>
              </a:spcBef>
            </a:pPr>
            <a:r>
              <a:rPr lang="en-US" sz="2100" b="1">
                <a:solidFill>
                  <a:srgbClr val="000000"/>
                </a:solidFill>
                <a:latin typeface="TT Hoves Bold"/>
                <a:ea typeface="TT Hoves Bold"/>
                <a:cs typeface="TT Hoves Bold"/>
                <a:sym typeface="TT Hoves Bold"/>
              </a:rPr>
              <a:t> Cluster Interpretation</a:t>
            </a:r>
          </a:p>
        </p:txBody>
      </p:sp>
      <p:sp>
        <p:nvSpPr>
          <p:cNvPr id="43" name="TextBox 43"/>
          <p:cNvSpPr txBox="1"/>
          <p:nvPr/>
        </p:nvSpPr>
        <p:spPr>
          <a:xfrm>
            <a:off x="13498888" y="6835976"/>
            <a:ext cx="4214570" cy="807085"/>
          </a:xfrm>
          <a:prstGeom prst="rect">
            <a:avLst/>
          </a:prstGeom>
        </p:spPr>
        <p:txBody>
          <a:bodyPr lIns="0" tIns="0" rIns="0" bIns="0" rtlCol="0" anchor="t">
            <a:spAutoFit/>
          </a:bodyPr>
          <a:lstStyle/>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Analyzed average RFM values per cluster</a:t>
            </a:r>
          </a:p>
          <a:p>
            <a:pPr algn="l">
              <a:lnSpc>
                <a:spcPts val="2240"/>
              </a:lnSpc>
              <a:spcBef>
                <a:spcPct val="0"/>
              </a:spcBef>
            </a:pPr>
            <a:r>
              <a:rPr lang="en-US" sz="1600">
                <a:solidFill>
                  <a:srgbClr val="000000"/>
                </a:solidFill>
                <a:latin typeface="TT Hoves"/>
                <a:ea typeface="TT Hoves"/>
                <a:cs typeface="TT Hoves"/>
                <a:sym typeface="TT Hoves"/>
              </a:rPr>
              <a:t>       and Labeled clusters </a:t>
            </a:r>
          </a:p>
          <a:p>
            <a:pPr algn="l">
              <a:lnSpc>
                <a:spcPts val="2240"/>
              </a:lnSpc>
              <a:spcBef>
                <a:spcPct val="0"/>
              </a:spcBef>
            </a:pPr>
            <a:endParaRPr lang="en-US" sz="1600">
              <a:solidFill>
                <a:srgbClr val="000000"/>
              </a:solidFill>
              <a:latin typeface="TT Hoves"/>
              <a:ea typeface="TT Hoves"/>
              <a:cs typeface="TT Hoves"/>
              <a:sym typeface="TT Hoves"/>
            </a:endParaRPr>
          </a:p>
        </p:txBody>
      </p:sp>
      <p:sp>
        <p:nvSpPr>
          <p:cNvPr id="44" name="TextBox 44"/>
          <p:cNvSpPr txBox="1"/>
          <p:nvPr/>
        </p:nvSpPr>
        <p:spPr>
          <a:xfrm>
            <a:off x="13394830" y="7881186"/>
            <a:ext cx="3865105" cy="365760"/>
          </a:xfrm>
          <a:prstGeom prst="rect">
            <a:avLst/>
          </a:prstGeom>
        </p:spPr>
        <p:txBody>
          <a:bodyPr lIns="0" tIns="0" rIns="0" bIns="0" rtlCol="0" anchor="t">
            <a:spAutoFit/>
          </a:bodyPr>
          <a:lstStyle/>
          <a:p>
            <a:pPr algn="l">
              <a:lnSpc>
                <a:spcPts val="2940"/>
              </a:lnSpc>
              <a:spcBef>
                <a:spcPct val="0"/>
              </a:spcBef>
            </a:pPr>
            <a:r>
              <a:rPr lang="en-US" sz="2100" b="1">
                <a:solidFill>
                  <a:srgbClr val="000000"/>
                </a:solidFill>
                <a:latin typeface="TT Hoves Bold"/>
                <a:ea typeface="TT Hoves Bold"/>
                <a:cs typeface="TT Hoves Bold"/>
                <a:sym typeface="TT Hoves Bold"/>
              </a:rPr>
              <a:t> Supervised Prediction Phase</a:t>
            </a:r>
          </a:p>
        </p:txBody>
      </p:sp>
      <p:grpSp>
        <p:nvGrpSpPr>
          <p:cNvPr id="45" name="Group 45"/>
          <p:cNvGrpSpPr/>
          <p:nvPr/>
        </p:nvGrpSpPr>
        <p:grpSpPr>
          <a:xfrm>
            <a:off x="12867650" y="7928811"/>
            <a:ext cx="419100" cy="368478"/>
            <a:chOff x="0" y="0"/>
            <a:chExt cx="110380" cy="97048"/>
          </a:xfrm>
        </p:grpSpPr>
        <p:sp>
          <p:nvSpPr>
            <p:cNvPr id="46" name="Freeform 46"/>
            <p:cNvSpPr/>
            <p:nvPr/>
          </p:nvSpPr>
          <p:spPr>
            <a:xfrm>
              <a:off x="0" y="0"/>
              <a:ext cx="110380" cy="97048"/>
            </a:xfrm>
            <a:custGeom>
              <a:avLst/>
              <a:gdLst/>
              <a:ahLst/>
              <a:cxnLst/>
              <a:rect l="l" t="t" r="r" b="b"/>
              <a:pathLst>
                <a:path w="110380" h="97048">
                  <a:moveTo>
                    <a:pt x="0" y="0"/>
                  </a:moveTo>
                  <a:lnTo>
                    <a:pt x="110380" y="0"/>
                  </a:lnTo>
                  <a:lnTo>
                    <a:pt x="110380" y="97048"/>
                  </a:lnTo>
                  <a:lnTo>
                    <a:pt x="0" y="97048"/>
                  </a:lnTo>
                  <a:close/>
                </a:path>
              </a:pathLst>
            </a:custGeom>
            <a:solidFill>
              <a:srgbClr val="000038"/>
            </a:solidFill>
          </p:spPr>
        </p:sp>
        <p:sp>
          <p:nvSpPr>
            <p:cNvPr id="47" name="TextBox 47"/>
            <p:cNvSpPr txBox="1"/>
            <p:nvPr/>
          </p:nvSpPr>
          <p:spPr>
            <a:xfrm>
              <a:off x="0" y="-19050"/>
              <a:ext cx="110380" cy="116098"/>
            </a:xfrm>
            <a:prstGeom prst="rect">
              <a:avLst/>
            </a:prstGeom>
          </p:spPr>
          <p:txBody>
            <a:bodyPr lIns="50800" tIns="50800" rIns="50800" bIns="50800" rtlCol="0" anchor="ctr"/>
            <a:lstStyle/>
            <a:p>
              <a:pPr marL="0" lvl="0" indent="0" algn="ctr">
                <a:lnSpc>
                  <a:spcPts val="2240"/>
                </a:lnSpc>
                <a:spcBef>
                  <a:spcPct val="0"/>
                </a:spcBef>
              </a:pPr>
              <a:r>
                <a:rPr lang="en-US" sz="1600" b="1">
                  <a:solidFill>
                    <a:srgbClr val="000000"/>
                  </a:solidFill>
                  <a:latin typeface="TT Hoves Bold"/>
                  <a:ea typeface="TT Hoves Bold"/>
                  <a:cs typeface="TT Hoves Bold"/>
                  <a:sym typeface="TT Hoves Bold"/>
                </a:rPr>
                <a:t>9</a:t>
              </a:r>
            </a:p>
          </p:txBody>
        </p:sp>
      </p:grpSp>
      <p:sp>
        <p:nvSpPr>
          <p:cNvPr id="48" name="TextBox 48"/>
          <p:cNvSpPr txBox="1"/>
          <p:nvPr/>
        </p:nvSpPr>
        <p:spPr>
          <a:xfrm>
            <a:off x="13394830" y="8327534"/>
            <a:ext cx="4667054" cy="1083310"/>
          </a:xfrm>
          <a:prstGeom prst="rect">
            <a:avLst/>
          </a:prstGeom>
        </p:spPr>
        <p:txBody>
          <a:bodyPr lIns="0" tIns="0" rIns="0" bIns="0" rtlCol="0" anchor="t">
            <a:spAutoFit/>
          </a:bodyPr>
          <a:lstStyle/>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Used cluster labels as target variable</a:t>
            </a:r>
          </a:p>
          <a:p>
            <a:pPr algn="l">
              <a:lnSpc>
                <a:spcPts val="2240"/>
              </a:lnSpc>
              <a:spcBef>
                <a:spcPct val="0"/>
              </a:spcBef>
            </a:pPr>
            <a:r>
              <a:rPr lang="en-US" sz="1600">
                <a:solidFill>
                  <a:srgbClr val="000000"/>
                </a:solidFill>
                <a:latin typeface="TT Hoves"/>
                <a:ea typeface="TT Hoves"/>
                <a:cs typeface="TT Hoves"/>
                <a:sym typeface="TT Hoves"/>
              </a:rPr>
              <a:t>        Trained:</a:t>
            </a:r>
          </a:p>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Logistic Regression</a:t>
            </a:r>
          </a:p>
          <a:p>
            <a:pPr marL="345441" lvl="1" indent="-172721" algn="l">
              <a:lnSpc>
                <a:spcPts val="2240"/>
              </a:lnSpc>
              <a:spcBef>
                <a:spcPct val="0"/>
              </a:spcBef>
              <a:buFont typeface="Arial"/>
              <a:buChar char="•"/>
            </a:pPr>
            <a:r>
              <a:rPr lang="en-US" sz="1600">
                <a:solidFill>
                  <a:srgbClr val="000000"/>
                </a:solidFill>
                <a:latin typeface="TT Hoves"/>
                <a:ea typeface="TT Hoves"/>
                <a:cs typeface="TT Hoves"/>
                <a:sym typeface="TT Hoves"/>
              </a:rPr>
              <a:t>Random Forest</a:t>
            </a:r>
          </a:p>
        </p:txBody>
      </p:sp>
      <p:sp>
        <p:nvSpPr>
          <p:cNvPr id="49" name="TextBox 49"/>
          <p:cNvSpPr txBox="1"/>
          <p:nvPr/>
        </p:nvSpPr>
        <p:spPr>
          <a:xfrm>
            <a:off x="4711064" y="183704"/>
            <a:ext cx="8156586" cy="787846"/>
          </a:xfrm>
          <a:prstGeom prst="rect">
            <a:avLst/>
          </a:prstGeom>
        </p:spPr>
        <p:txBody>
          <a:bodyPr lIns="0" tIns="0" rIns="0" bIns="0" rtlCol="0" anchor="t">
            <a:spAutoFit/>
          </a:bodyPr>
          <a:lstStyle/>
          <a:p>
            <a:pPr marL="0" lvl="0" indent="0" algn="l">
              <a:lnSpc>
                <a:spcPts val="5919"/>
              </a:lnSpc>
            </a:pPr>
            <a:r>
              <a:rPr lang="en-US" sz="5919" b="1" u="none" spc="-118">
                <a:solidFill>
                  <a:srgbClr val="000000"/>
                </a:solidFill>
                <a:latin typeface="Noto Serif Display ExtraCondensed Bold"/>
                <a:ea typeface="Noto Serif Display ExtraCondensed Bold"/>
                <a:cs typeface="Noto Serif Display ExtraCondensed Bold"/>
                <a:sym typeface="Noto Serif Display ExtraCondensed Bold"/>
              </a:rPr>
              <a:t>STRUCTURED WORKFLOW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A26"/>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sp>
        <p:nvSpPr>
          <p:cNvPr id="4" name="TextBox 4"/>
          <p:cNvSpPr txBox="1"/>
          <p:nvPr/>
        </p:nvSpPr>
        <p:spPr>
          <a:xfrm>
            <a:off x="819150" y="468403"/>
            <a:ext cx="8324850" cy="1149353"/>
          </a:xfrm>
          <a:prstGeom prst="rect">
            <a:avLst/>
          </a:prstGeom>
        </p:spPr>
        <p:txBody>
          <a:bodyPr lIns="0" tIns="0" rIns="0" bIns="0" rtlCol="0" anchor="t">
            <a:spAutoFit/>
          </a:bodyPr>
          <a:lstStyle/>
          <a:p>
            <a:pPr marL="0" lvl="0" indent="0" algn="l">
              <a:lnSpc>
                <a:spcPts val="8800"/>
              </a:lnSpc>
            </a:pPr>
            <a:r>
              <a:rPr lang="en-US" sz="8000">
                <a:solidFill>
                  <a:srgbClr val="F5F6F7"/>
                </a:solidFill>
                <a:latin typeface="Georgia Pro Light"/>
                <a:ea typeface="Georgia Pro Light"/>
                <a:cs typeface="Georgia Pro Light"/>
                <a:sym typeface="Georgia Pro Light"/>
              </a:rPr>
              <a:t>Dataset Overview</a:t>
            </a:r>
          </a:p>
        </p:txBody>
      </p:sp>
      <p:sp>
        <p:nvSpPr>
          <p:cNvPr id="5" name="TextBox 5"/>
          <p:cNvSpPr txBox="1"/>
          <p:nvPr/>
        </p:nvSpPr>
        <p:spPr>
          <a:xfrm>
            <a:off x="819150" y="1570132"/>
            <a:ext cx="7488460" cy="8125566"/>
          </a:xfrm>
          <a:prstGeom prst="rect">
            <a:avLst/>
          </a:prstGeom>
        </p:spPr>
        <p:txBody>
          <a:bodyPr lIns="0" tIns="0" rIns="0" bIns="0" rtlCol="0" anchor="t">
            <a:spAutoFit/>
          </a:bodyPr>
          <a:lstStyle/>
          <a:p>
            <a:pPr marL="0" lvl="0" indent="0" algn="l">
              <a:lnSpc>
                <a:spcPts val="3400"/>
              </a:lnSpc>
            </a:pPr>
            <a:r>
              <a:rPr lang="en-US" sz="2428">
                <a:solidFill>
                  <a:srgbClr val="F5F6F7"/>
                </a:solidFill>
                <a:latin typeface="DM Sans"/>
                <a:ea typeface="DM Sans"/>
                <a:cs typeface="DM Sans"/>
                <a:sym typeface="DM Sans"/>
              </a:rPr>
              <a:t> The original dataset consisted of </a:t>
            </a:r>
            <a:r>
              <a:rPr lang="en-US" sz="2428" b="1" u="sng">
                <a:solidFill>
                  <a:srgbClr val="F5F6F7"/>
                </a:solidFill>
                <a:latin typeface="DM Sans Bold"/>
                <a:ea typeface="DM Sans Bold"/>
                <a:cs typeface="DM Sans Bold"/>
                <a:sym typeface="DM Sans Bold"/>
              </a:rPr>
              <a:t>541,909</a:t>
            </a:r>
            <a:r>
              <a:rPr lang="en-US" sz="2428" b="1">
                <a:solidFill>
                  <a:srgbClr val="F5F6F7"/>
                </a:solidFill>
                <a:latin typeface="DM Sans Bold"/>
                <a:ea typeface="DM Sans Bold"/>
                <a:cs typeface="DM Sans Bold"/>
                <a:sym typeface="DM Sans Bold"/>
              </a:rPr>
              <a:t> </a:t>
            </a:r>
            <a:r>
              <a:rPr lang="en-US" sz="2428">
                <a:solidFill>
                  <a:srgbClr val="F5F6F7"/>
                </a:solidFill>
                <a:latin typeface="DM Sans"/>
                <a:ea typeface="DM Sans"/>
                <a:cs typeface="DM Sans"/>
                <a:sym typeface="DM Sans"/>
              </a:rPr>
              <a:t>transactional records with 8 features, including           - InvoiceNo</a:t>
            </a:r>
          </a:p>
          <a:p>
            <a:pPr marL="0" lvl="0" indent="0" algn="l">
              <a:lnSpc>
                <a:spcPts val="3400"/>
              </a:lnSpc>
            </a:pPr>
            <a:r>
              <a:rPr lang="en-US" sz="2428">
                <a:solidFill>
                  <a:srgbClr val="F5F6F7"/>
                </a:solidFill>
                <a:latin typeface="DM Sans"/>
                <a:ea typeface="DM Sans"/>
                <a:cs typeface="DM Sans"/>
                <a:sym typeface="DM Sans"/>
              </a:rPr>
              <a:t>- StockCode</a:t>
            </a:r>
          </a:p>
          <a:p>
            <a:pPr marL="0" lvl="0" indent="0" algn="l">
              <a:lnSpc>
                <a:spcPts val="3400"/>
              </a:lnSpc>
            </a:pPr>
            <a:r>
              <a:rPr lang="en-US" sz="2428">
                <a:solidFill>
                  <a:srgbClr val="F5F6F7"/>
                </a:solidFill>
                <a:latin typeface="DM Sans"/>
                <a:ea typeface="DM Sans"/>
                <a:cs typeface="DM Sans"/>
                <a:sym typeface="DM Sans"/>
              </a:rPr>
              <a:t>- Description </a:t>
            </a:r>
          </a:p>
          <a:p>
            <a:pPr marL="0" lvl="0" indent="0" algn="l">
              <a:lnSpc>
                <a:spcPts val="3400"/>
              </a:lnSpc>
            </a:pPr>
            <a:r>
              <a:rPr lang="en-US" sz="2428">
                <a:solidFill>
                  <a:srgbClr val="F5F6F7"/>
                </a:solidFill>
                <a:latin typeface="DM Sans"/>
                <a:ea typeface="DM Sans"/>
                <a:cs typeface="DM Sans"/>
                <a:sym typeface="DM Sans"/>
              </a:rPr>
              <a:t>-Quantity </a:t>
            </a:r>
          </a:p>
          <a:p>
            <a:pPr marL="0" lvl="0" indent="0" algn="l">
              <a:lnSpc>
                <a:spcPts val="3400"/>
              </a:lnSpc>
            </a:pPr>
            <a:r>
              <a:rPr lang="en-US" sz="2428">
                <a:solidFill>
                  <a:srgbClr val="F5F6F7"/>
                </a:solidFill>
                <a:latin typeface="DM Sans"/>
                <a:ea typeface="DM Sans"/>
                <a:cs typeface="DM Sans"/>
                <a:sym typeface="DM Sans"/>
              </a:rPr>
              <a:t>-InvoiceDate </a:t>
            </a:r>
          </a:p>
          <a:p>
            <a:pPr marL="0" lvl="0" indent="0" algn="l">
              <a:lnSpc>
                <a:spcPts val="3400"/>
              </a:lnSpc>
            </a:pPr>
            <a:r>
              <a:rPr lang="en-US" sz="2428">
                <a:solidFill>
                  <a:srgbClr val="F5F6F7"/>
                </a:solidFill>
                <a:latin typeface="DM Sans"/>
                <a:ea typeface="DM Sans"/>
                <a:cs typeface="DM Sans"/>
                <a:sym typeface="DM Sans"/>
              </a:rPr>
              <a:t>-UnitPrice </a:t>
            </a:r>
          </a:p>
          <a:p>
            <a:pPr marL="0" lvl="0" indent="0" algn="l">
              <a:lnSpc>
                <a:spcPts val="3400"/>
              </a:lnSpc>
            </a:pPr>
            <a:r>
              <a:rPr lang="en-US" sz="2428">
                <a:solidFill>
                  <a:srgbClr val="F5F6F7"/>
                </a:solidFill>
                <a:latin typeface="DM Sans"/>
                <a:ea typeface="DM Sans"/>
                <a:cs typeface="DM Sans"/>
                <a:sym typeface="DM Sans"/>
              </a:rPr>
              <a:t>-CustomerID</a:t>
            </a:r>
          </a:p>
          <a:p>
            <a:pPr marL="0" lvl="0" indent="0" algn="l">
              <a:lnSpc>
                <a:spcPts val="3400"/>
              </a:lnSpc>
            </a:pPr>
            <a:r>
              <a:rPr lang="en-US" sz="2428">
                <a:solidFill>
                  <a:srgbClr val="F5F6F7"/>
                </a:solidFill>
                <a:latin typeface="DM Sans"/>
                <a:ea typeface="DM Sans"/>
                <a:cs typeface="DM Sans"/>
                <a:sym typeface="DM Sans"/>
              </a:rPr>
              <a:t>-Country. </a:t>
            </a:r>
          </a:p>
          <a:p>
            <a:pPr marL="0" lvl="0" indent="0" algn="l">
              <a:lnSpc>
                <a:spcPts val="3400"/>
              </a:lnSpc>
            </a:pPr>
            <a:r>
              <a:rPr lang="en-US" sz="2428">
                <a:solidFill>
                  <a:srgbClr val="F5F6F7"/>
                </a:solidFill>
                <a:latin typeface="DM Sans"/>
                <a:ea typeface="DM Sans"/>
                <a:cs typeface="DM Sans"/>
                <a:sym typeface="DM Sans"/>
              </a:rPr>
              <a:t>After data cleaning, removing missing CustomerID values, cancelled invoices, and invalid transactions the dataset was reduced to </a:t>
            </a:r>
            <a:r>
              <a:rPr lang="en-US" sz="2428" b="1" u="sng">
                <a:solidFill>
                  <a:srgbClr val="F5F6F7"/>
                </a:solidFill>
                <a:latin typeface="DM Sans Bold"/>
                <a:ea typeface="DM Sans Bold"/>
                <a:cs typeface="DM Sans Bold"/>
                <a:sym typeface="DM Sans Bold"/>
              </a:rPr>
              <a:t>397,884 </a:t>
            </a:r>
            <a:r>
              <a:rPr lang="en-US" sz="2428">
                <a:solidFill>
                  <a:srgbClr val="F5F6F7"/>
                </a:solidFill>
                <a:latin typeface="DM Sans"/>
                <a:ea typeface="DM Sans"/>
                <a:cs typeface="DM Sans"/>
                <a:sym typeface="DM Sans"/>
              </a:rPr>
              <a:t>valid transactions. These transactions were then aggregated at the customer level, resulting in </a:t>
            </a:r>
            <a:r>
              <a:rPr lang="en-US" sz="2428" b="1" u="sng">
                <a:solidFill>
                  <a:srgbClr val="F5F6F7"/>
                </a:solidFill>
                <a:latin typeface="DM Sans Bold"/>
                <a:ea typeface="DM Sans Bold"/>
                <a:cs typeface="DM Sans Bold"/>
                <a:sym typeface="DM Sans Bold"/>
              </a:rPr>
              <a:t>4,338 </a:t>
            </a:r>
            <a:r>
              <a:rPr lang="en-US" sz="2428">
                <a:solidFill>
                  <a:srgbClr val="F5F6F7"/>
                </a:solidFill>
                <a:latin typeface="DM Sans"/>
                <a:ea typeface="DM Sans"/>
                <a:cs typeface="DM Sans"/>
                <a:sym typeface="DM Sans"/>
              </a:rPr>
              <a:t>unique customers. The segmentation and prediction analysis were performed on this customer-level dataset using engineered RFM features to capture purchasing behavior effectively.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2669A"/>
        </a:solidFill>
        <a:effectLst/>
      </p:bgPr>
    </p:bg>
    <p:spTree>
      <p:nvGrpSpPr>
        <p:cNvPr id="1" name=""/>
        <p:cNvGrpSpPr/>
        <p:nvPr/>
      </p:nvGrpSpPr>
      <p:grpSpPr>
        <a:xfrm>
          <a:off x="0" y="0"/>
          <a:ext cx="0" cy="0"/>
          <a:chOff x="0" y="0"/>
          <a:chExt cx="0" cy="0"/>
        </a:xfrm>
      </p:grpSpPr>
      <p:grpSp>
        <p:nvGrpSpPr>
          <p:cNvPr id="2" name="Group 2"/>
          <p:cNvGrpSpPr/>
          <p:nvPr/>
        </p:nvGrpSpPr>
        <p:grpSpPr>
          <a:xfrm>
            <a:off x="1085061" y="1222552"/>
            <a:ext cx="6636856" cy="9788348"/>
            <a:chOff x="0" y="0"/>
            <a:chExt cx="1028223" cy="1539683"/>
          </a:xfrm>
        </p:grpSpPr>
        <p:sp>
          <p:nvSpPr>
            <p:cNvPr id="3" name="Freeform 3"/>
            <p:cNvSpPr/>
            <p:nvPr/>
          </p:nvSpPr>
          <p:spPr>
            <a:xfrm>
              <a:off x="0" y="0"/>
              <a:ext cx="1028223" cy="1539683"/>
            </a:xfrm>
            <a:custGeom>
              <a:avLst/>
              <a:gdLst/>
              <a:ahLst/>
              <a:cxnLst/>
              <a:rect l="l" t="t" r="r" b="b"/>
              <a:pathLst>
                <a:path w="1028223" h="1539683">
                  <a:moveTo>
                    <a:pt x="116650" y="0"/>
                  </a:moveTo>
                  <a:lnTo>
                    <a:pt x="911572" y="0"/>
                  </a:lnTo>
                  <a:cubicBezTo>
                    <a:pt x="975997" y="0"/>
                    <a:pt x="1028223" y="52226"/>
                    <a:pt x="1028223" y="116650"/>
                  </a:cubicBezTo>
                  <a:lnTo>
                    <a:pt x="1028223" y="1423033"/>
                  </a:lnTo>
                  <a:cubicBezTo>
                    <a:pt x="1028223" y="1453970"/>
                    <a:pt x="1015933" y="1483641"/>
                    <a:pt x="994057" y="1505517"/>
                  </a:cubicBezTo>
                  <a:cubicBezTo>
                    <a:pt x="972180" y="1527393"/>
                    <a:pt x="942510" y="1539683"/>
                    <a:pt x="911572" y="1539683"/>
                  </a:cubicBezTo>
                  <a:lnTo>
                    <a:pt x="116650" y="1539683"/>
                  </a:lnTo>
                  <a:cubicBezTo>
                    <a:pt x="85713" y="1539683"/>
                    <a:pt x="56042" y="1527393"/>
                    <a:pt x="34166" y="1505517"/>
                  </a:cubicBezTo>
                  <a:cubicBezTo>
                    <a:pt x="12290" y="1483641"/>
                    <a:pt x="0" y="1453970"/>
                    <a:pt x="0" y="1423033"/>
                  </a:cubicBezTo>
                  <a:lnTo>
                    <a:pt x="0" y="116650"/>
                  </a:lnTo>
                  <a:cubicBezTo>
                    <a:pt x="0" y="85713"/>
                    <a:pt x="12290" y="56042"/>
                    <a:pt x="34166" y="34166"/>
                  </a:cubicBezTo>
                  <a:cubicBezTo>
                    <a:pt x="56042" y="12290"/>
                    <a:pt x="85713" y="0"/>
                    <a:pt x="116650" y="0"/>
                  </a:cubicBezTo>
                  <a:close/>
                </a:path>
              </a:pathLst>
            </a:custGeom>
            <a:blipFill>
              <a:blip r:embed="rId2"/>
              <a:stretch>
                <a:fillRect l="-4762" r="-4762"/>
              </a:stretch>
            </a:blipFill>
          </p:spPr>
        </p:sp>
      </p:grpSp>
      <p:grpSp>
        <p:nvGrpSpPr>
          <p:cNvPr id="4" name="Group 4"/>
          <p:cNvGrpSpPr/>
          <p:nvPr/>
        </p:nvGrpSpPr>
        <p:grpSpPr>
          <a:xfrm>
            <a:off x="8711303" y="3459861"/>
            <a:ext cx="1066808" cy="106680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sp>
        <p:sp>
          <p:nvSpPr>
            <p:cNvPr id="6" name="TextBox 6"/>
            <p:cNvSpPr txBox="1"/>
            <p:nvPr/>
          </p:nvSpPr>
          <p:spPr>
            <a:xfrm>
              <a:off x="76200" y="9525"/>
              <a:ext cx="660400" cy="727075"/>
            </a:xfrm>
            <a:prstGeom prst="rect">
              <a:avLst/>
            </a:prstGeom>
          </p:spPr>
          <p:txBody>
            <a:bodyPr lIns="50800" tIns="50800" rIns="50800" bIns="50800" rtlCol="0" anchor="ctr"/>
            <a:lstStyle/>
            <a:p>
              <a:pPr algn="ctr">
                <a:lnSpc>
                  <a:spcPts val="2660"/>
                </a:lnSpc>
              </a:pPr>
              <a:endParaRPr/>
            </a:p>
          </p:txBody>
        </p:sp>
      </p:grpSp>
      <p:grpSp>
        <p:nvGrpSpPr>
          <p:cNvPr id="7" name="Group 7"/>
          <p:cNvGrpSpPr/>
          <p:nvPr/>
        </p:nvGrpSpPr>
        <p:grpSpPr>
          <a:xfrm>
            <a:off x="13244272" y="3528445"/>
            <a:ext cx="1066808" cy="106680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sp>
        <p:sp>
          <p:nvSpPr>
            <p:cNvPr id="9" name="TextBox 9"/>
            <p:cNvSpPr txBox="1"/>
            <p:nvPr/>
          </p:nvSpPr>
          <p:spPr>
            <a:xfrm>
              <a:off x="76200" y="9525"/>
              <a:ext cx="660400" cy="727075"/>
            </a:xfrm>
            <a:prstGeom prst="rect">
              <a:avLst/>
            </a:prstGeom>
          </p:spPr>
          <p:txBody>
            <a:bodyPr lIns="50800" tIns="50800" rIns="50800" bIns="50800" rtlCol="0" anchor="ctr"/>
            <a:lstStyle/>
            <a:p>
              <a:pPr algn="ctr">
                <a:lnSpc>
                  <a:spcPts val="2660"/>
                </a:lnSpc>
              </a:pPr>
              <a:endParaRPr/>
            </a:p>
          </p:txBody>
        </p:sp>
      </p:grpSp>
      <p:grpSp>
        <p:nvGrpSpPr>
          <p:cNvPr id="10" name="Group 10"/>
          <p:cNvGrpSpPr/>
          <p:nvPr/>
        </p:nvGrpSpPr>
        <p:grpSpPr>
          <a:xfrm>
            <a:off x="8711303" y="413031"/>
            <a:ext cx="1066808" cy="106680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sp>
        <p:sp>
          <p:nvSpPr>
            <p:cNvPr id="12" name="TextBox 12"/>
            <p:cNvSpPr txBox="1"/>
            <p:nvPr/>
          </p:nvSpPr>
          <p:spPr>
            <a:xfrm>
              <a:off x="76200" y="9525"/>
              <a:ext cx="660400" cy="727075"/>
            </a:xfrm>
            <a:prstGeom prst="rect">
              <a:avLst/>
            </a:prstGeom>
          </p:spPr>
          <p:txBody>
            <a:bodyPr lIns="50800" tIns="50800" rIns="50800" bIns="50800" rtlCol="0" anchor="ctr"/>
            <a:lstStyle/>
            <a:p>
              <a:pPr algn="ctr">
                <a:lnSpc>
                  <a:spcPts val="2660"/>
                </a:lnSpc>
              </a:pPr>
              <a:endParaRPr/>
            </a:p>
          </p:txBody>
        </p:sp>
      </p:grpSp>
      <p:grpSp>
        <p:nvGrpSpPr>
          <p:cNvPr id="13" name="Group 13"/>
          <p:cNvGrpSpPr/>
          <p:nvPr/>
        </p:nvGrpSpPr>
        <p:grpSpPr>
          <a:xfrm>
            <a:off x="13419371" y="381056"/>
            <a:ext cx="1066808" cy="106680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sp>
        <p:sp>
          <p:nvSpPr>
            <p:cNvPr id="15" name="TextBox 15"/>
            <p:cNvSpPr txBox="1"/>
            <p:nvPr/>
          </p:nvSpPr>
          <p:spPr>
            <a:xfrm>
              <a:off x="76200" y="9525"/>
              <a:ext cx="660400" cy="727075"/>
            </a:xfrm>
            <a:prstGeom prst="rect">
              <a:avLst/>
            </a:prstGeom>
          </p:spPr>
          <p:txBody>
            <a:bodyPr lIns="50800" tIns="50800" rIns="50800" bIns="50800" rtlCol="0" anchor="ctr"/>
            <a:lstStyle/>
            <a:p>
              <a:pPr algn="ctr">
                <a:lnSpc>
                  <a:spcPts val="2660"/>
                </a:lnSpc>
              </a:pPr>
              <a:endParaRPr/>
            </a:p>
          </p:txBody>
        </p:sp>
      </p:grpSp>
      <p:sp>
        <p:nvSpPr>
          <p:cNvPr id="16" name="TextBox 16"/>
          <p:cNvSpPr txBox="1"/>
          <p:nvPr/>
        </p:nvSpPr>
        <p:spPr>
          <a:xfrm>
            <a:off x="13419371" y="571560"/>
            <a:ext cx="1066808" cy="571500"/>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Codec Pro Bold"/>
                <a:ea typeface="Codec Pro Bold"/>
                <a:cs typeface="Codec Pro Bold"/>
                <a:sym typeface="Codec Pro Bold"/>
              </a:rPr>
              <a:t>02</a:t>
            </a:r>
          </a:p>
        </p:txBody>
      </p:sp>
      <p:sp>
        <p:nvSpPr>
          <p:cNvPr id="17" name="TextBox 17"/>
          <p:cNvSpPr txBox="1"/>
          <p:nvPr/>
        </p:nvSpPr>
        <p:spPr>
          <a:xfrm>
            <a:off x="8711303" y="3650365"/>
            <a:ext cx="1066808" cy="571500"/>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Codec Pro Bold"/>
                <a:ea typeface="Codec Pro Bold"/>
                <a:cs typeface="Codec Pro Bold"/>
                <a:sym typeface="Codec Pro Bold"/>
              </a:rPr>
              <a:t>03</a:t>
            </a:r>
          </a:p>
        </p:txBody>
      </p:sp>
      <p:sp>
        <p:nvSpPr>
          <p:cNvPr id="18" name="TextBox 18"/>
          <p:cNvSpPr txBox="1"/>
          <p:nvPr/>
        </p:nvSpPr>
        <p:spPr>
          <a:xfrm>
            <a:off x="13244272" y="3718949"/>
            <a:ext cx="1066808" cy="571500"/>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Codec Pro Bold"/>
                <a:ea typeface="Codec Pro Bold"/>
                <a:cs typeface="Codec Pro Bold"/>
                <a:sym typeface="Codec Pro Bold"/>
              </a:rPr>
              <a:t>04</a:t>
            </a:r>
          </a:p>
        </p:txBody>
      </p:sp>
      <p:sp>
        <p:nvSpPr>
          <p:cNvPr id="19" name="TextBox 19"/>
          <p:cNvSpPr txBox="1"/>
          <p:nvPr/>
        </p:nvSpPr>
        <p:spPr>
          <a:xfrm>
            <a:off x="8711303" y="603535"/>
            <a:ext cx="1066808" cy="571444"/>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Codec Pro Bold"/>
                <a:ea typeface="Codec Pro Bold"/>
                <a:cs typeface="Codec Pro Bold"/>
                <a:sym typeface="Codec Pro Bold"/>
              </a:rPr>
              <a:t>01</a:t>
            </a:r>
          </a:p>
        </p:txBody>
      </p:sp>
      <p:sp>
        <p:nvSpPr>
          <p:cNvPr id="20" name="TextBox 20"/>
          <p:cNvSpPr txBox="1"/>
          <p:nvPr/>
        </p:nvSpPr>
        <p:spPr>
          <a:xfrm>
            <a:off x="8458351" y="1524064"/>
            <a:ext cx="3808345" cy="502920"/>
          </a:xfrm>
          <a:prstGeom prst="rect">
            <a:avLst/>
          </a:prstGeom>
        </p:spPr>
        <p:txBody>
          <a:bodyPr lIns="0" tIns="0" rIns="0" bIns="0" rtlCol="0" anchor="t">
            <a:spAutoFit/>
          </a:bodyPr>
          <a:lstStyle/>
          <a:p>
            <a:pPr algn="l">
              <a:lnSpc>
                <a:spcPts val="3779"/>
              </a:lnSpc>
              <a:spcBef>
                <a:spcPct val="0"/>
              </a:spcBef>
            </a:pPr>
            <a:r>
              <a:rPr lang="en-US" sz="2700" b="1">
                <a:solidFill>
                  <a:srgbClr val="FFFFFF"/>
                </a:solidFill>
                <a:latin typeface="Codec Pro Bold"/>
                <a:ea typeface="Codec Pro Bold"/>
                <a:cs typeface="Codec Pro Bold"/>
                <a:sym typeface="Codec Pro Bold"/>
              </a:rPr>
              <a:t>Created Clean Dataset</a:t>
            </a:r>
          </a:p>
        </p:txBody>
      </p:sp>
      <p:sp>
        <p:nvSpPr>
          <p:cNvPr id="21" name="TextBox 21"/>
          <p:cNvSpPr txBox="1"/>
          <p:nvPr/>
        </p:nvSpPr>
        <p:spPr>
          <a:xfrm>
            <a:off x="13244272" y="1524064"/>
            <a:ext cx="4868629" cy="502920"/>
          </a:xfrm>
          <a:prstGeom prst="rect">
            <a:avLst/>
          </a:prstGeom>
        </p:spPr>
        <p:txBody>
          <a:bodyPr lIns="0" tIns="0" rIns="0" bIns="0" rtlCol="0" anchor="t">
            <a:spAutoFit/>
          </a:bodyPr>
          <a:lstStyle/>
          <a:p>
            <a:pPr algn="l">
              <a:lnSpc>
                <a:spcPts val="3780"/>
              </a:lnSpc>
              <a:spcBef>
                <a:spcPct val="0"/>
              </a:spcBef>
            </a:pPr>
            <a:r>
              <a:rPr lang="en-US" sz="2700" b="1">
                <a:solidFill>
                  <a:srgbClr val="FFFFFF"/>
                </a:solidFill>
                <a:latin typeface="Codec Pro Bold"/>
                <a:ea typeface="Codec Pro Bold"/>
                <a:cs typeface="Codec Pro Bold"/>
                <a:sym typeface="Codec Pro Bold"/>
              </a:rPr>
              <a:t>Checked for Missing Values</a:t>
            </a:r>
          </a:p>
        </p:txBody>
      </p:sp>
      <p:sp>
        <p:nvSpPr>
          <p:cNvPr id="22" name="TextBox 22"/>
          <p:cNvSpPr txBox="1"/>
          <p:nvPr/>
        </p:nvSpPr>
        <p:spPr>
          <a:xfrm>
            <a:off x="8426767" y="4574295"/>
            <a:ext cx="4114768" cy="469900"/>
          </a:xfrm>
          <a:prstGeom prst="rect">
            <a:avLst/>
          </a:prstGeom>
        </p:spPr>
        <p:txBody>
          <a:bodyPr lIns="0" tIns="0" rIns="0" bIns="0" rtlCol="0" anchor="t">
            <a:spAutoFit/>
          </a:bodyPr>
          <a:lstStyle/>
          <a:p>
            <a:pPr algn="l">
              <a:lnSpc>
                <a:spcPts val="3500"/>
              </a:lnSpc>
              <a:spcBef>
                <a:spcPct val="0"/>
              </a:spcBef>
            </a:pPr>
            <a:r>
              <a:rPr lang="en-US" sz="2500" b="1">
                <a:solidFill>
                  <a:srgbClr val="FFFFFF"/>
                </a:solidFill>
                <a:latin typeface="Codec Pro Bold"/>
                <a:ea typeface="Codec Pro Bold"/>
                <a:cs typeface="Codec Pro Bold"/>
                <a:sym typeface="Codec Pro Bold"/>
              </a:rPr>
              <a:t>Removed ‘C’ Transactions</a:t>
            </a:r>
          </a:p>
        </p:txBody>
      </p:sp>
      <p:sp>
        <p:nvSpPr>
          <p:cNvPr id="23" name="TextBox 23"/>
          <p:cNvSpPr txBox="1"/>
          <p:nvPr/>
        </p:nvSpPr>
        <p:spPr>
          <a:xfrm>
            <a:off x="13244272" y="4671454"/>
            <a:ext cx="4518438" cy="486410"/>
          </a:xfrm>
          <a:prstGeom prst="rect">
            <a:avLst/>
          </a:prstGeom>
        </p:spPr>
        <p:txBody>
          <a:bodyPr lIns="0" tIns="0" rIns="0" bIns="0" rtlCol="0" anchor="t">
            <a:spAutoFit/>
          </a:bodyPr>
          <a:lstStyle/>
          <a:p>
            <a:pPr algn="l">
              <a:lnSpc>
                <a:spcPts val="3640"/>
              </a:lnSpc>
              <a:spcBef>
                <a:spcPct val="0"/>
              </a:spcBef>
            </a:pPr>
            <a:r>
              <a:rPr lang="en-US" sz="2600" b="1">
                <a:solidFill>
                  <a:srgbClr val="FFFFFF"/>
                </a:solidFill>
                <a:latin typeface="Codec Pro Bold"/>
                <a:ea typeface="Codec Pro Bold"/>
                <a:cs typeface="Codec Pro Bold"/>
                <a:sym typeface="Codec Pro Bold"/>
              </a:rPr>
              <a:t>Removed Negative / Invalid </a:t>
            </a:r>
          </a:p>
        </p:txBody>
      </p:sp>
      <p:sp>
        <p:nvSpPr>
          <p:cNvPr id="24" name="TextBox 24"/>
          <p:cNvSpPr txBox="1"/>
          <p:nvPr/>
        </p:nvSpPr>
        <p:spPr>
          <a:xfrm>
            <a:off x="8426767" y="2103184"/>
            <a:ext cx="3839929" cy="1018540"/>
          </a:xfrm>
          <a:prstGeom prst="rect">
            <a:avLst/>
          </a:prstGeom>
        </p:spPr>
        <p:txBody>
          <a:bodyPr lIns="0" tIns="0" rIns="0" bIns="0" rtlCol="0" anchor="t">
            <a:spAutoFit/>
          </a:bodyPr>
          <a:lstStyle/>
          <a:p>
            <a:pPr algn="l">
              <a:lnSpc>
                <a:spcPts val="2660"/>
              </a:lnSpc>
              <a:spcBef>
                <a:spcPct val="0"/>
              </a:spcBef>
            </a:pPr>
            <a:r>
              <a:rPr lang="en-US" sz="1900">
                <a:solidFill>
                  <a:srgbClr val="FFFFFF"/>
                </a:solidFill>
                <a:latin typeface="Codec Pro"/>
                <a:ea typeface="Codec Pro"/>
                <a:cs typeface="Codec Pro"/>
                <a:sym typeface="Codec Pro"/>
              </a:rPr>
              <a:t>Preserves original raw dataset and ensures safe preprocessing without data loss.</a:t>
            </a:r>
          </a:p>
        </p:txBody>
      </p:sp>
      <p:sp>
        <p:nvSpPr>
          <p:cNvPr id="25" name="TextBox 25"/>
          <p:cNvSpPr txBox="1"/>
          <p:nvPr/>
        </p:nvSpPr>
        <p:spPr>
          <a:xfrm>
            <a:off x="13244272" y="2103184"/>
            <a:ext cx="4408994" cy="1351915"/>
          </a:xfrm>
          <a:prstGeom prst="rect">
            <a:avLst/>
          </a:prstGeom>
        </p:spPr>
        <p:txBody>
          <a:bodyPr lIns="0" tIns="0" rIns="0" bIns="0" rtlCol="0" anchor="t">
            <a:spAutoFit/>
          </a:bodyPr>
          <a:lstStyle/>
          <a:p>
            <a:pPr algn="l">
              <a:lnSpc>
                <a:spcPts val="2660"/>
              </a:lnSpc>
              <a:spcBef>
                <a:spcPct val="0"/>
              </a:spcBef>
            </a:pPr>
            <a:r>
              <a:rPr lang="en-US" sz="1900">
                <a:solidFill>
                  <a:srgbClr val="FFFFFF"/>
                </a:solidFill>
                <a:latin typeface="Codec Pro"/>
                <a:ea typeface="Codec Pro"/>
                <a:cs typeface="Codec Pro"/>
                <a:sym typeface="Codec Pro"/>
              </a:rPr>
              <a:t>Dropped rows where CustomerID was null.Transactions without CustomerID cannot be used for grouping or RFM calculation.</a:t>
            </a:r>
          </a:p>
        </p:txBody>
      </p:sp>
      <p:sp>
        <p:nvSpPr>
          <p:cNvPr id="26" name="TextBox 26"/>
          <p:cNvSpPr txBox="1"/>
          <p:nvPr/>
        </p:nvSpPr>
        <p:spPr>
          <a:xfrm>
            <a:off x="8458351" y="5148969"/>
            <a:ext cx="4627875" cy="2018665"/>
          </a:xfrm>
          <a:prstGeom prst="rect">
            <a:avLst/>
          </a:prstGeom>
        </p:spPr>
        <p:txBody>
          <a:bodyPr lIns="0" tIns="0" rIns="0" bIns="0" rtlCol="0" anchor="t">
            <a:spAutoFit/>
          </a:bodyPr>
          <a:lstStyle/>
          <a:p>
            <a:pPr algn="l">
              <a:lnSpc>
                <a:spcPts val="2660"/>
              </a:lnSpc>
              <a:spcBef>
                <a:spcPct val="0"/>
              </a:spcBef>
            </a:pPr>
            <a:r>
              <a:rPr lang="en-US" sz="1900">
                <a:solidFill>
                  <a:srgbClr val="FFFFFF"/>
                </a:solidFill>
                <a:latin typeface="Codec Pro"/>
                <a:ea typeface="Codec Pro"/>
                <a:cs typeface="Codec Pro"/>
                <a:sym typeface="Codec Pro"/>
              </a:rPr>
              <a:t>Filtered out invoices where InvoiceNo started with ‘C’. represent cancelled or returned transactions and do not reflect actual purchasing behavior. Including them would distort Frequency and Monetary metrics</a:t>
            </a:r>
          </a:p>
        </p:txBody>
      </p:sp>
      <p:sp>
        <p:nvSpPr>
          <p:cNvPr id="27" name="TextBox 27"/>
          <p:cNvSpPr txBox="1"/>
          <p:nvPr/>
        </p:nvSpPr>
        <p:spPr>
          <a:xfrm>
            <a:off x="13244272" y="5217553"/>
            <a:ext cx="4015028" cy="1685290"/>
          </a:xfrm>
          <a:prstGeom prst="rect">
            <a:avLst/>
          </a:prstGeom>
        </p:spPr>
        <p:txBody>
          <a:bodyPr lIns="0" tIns="0" rIns="0" bIns="0" rtlCol="0" anchor="t">
            <a:spAutoFit/>
          </a:bodyPr>
          <a:lstStyle/>
          <a:p>
            <a:pPr algn="l">
              <a:lnSpc>
                <a:spcPts val="2660"/>
              </a:lnSpc>
              <a:spcBef>
                <a:spcPct val="0"/>
              </a:spcBef>
            </a:pPr>
            <a:r>
              <a:rPr lang="en-US" sz="1900">
                <a:solidFill>
                  <a:srgbClr val="FFFFFF"/>
                </a:solidFill>
                <a:latin typeface="Codec Pro"/>
                <a:ea typeface="Codec Pro"/>
                <a:cs typeface="Codec Pro"/>
                <a:sym typeface="Codec Pro"/>
              </a:rPr>
              <a:t>Excluded rows with negative Quantity. Required for calculating RFM, which measures the number of days since a customer's last purchase and  frequent purchase</a:t>
            </a:r>
          </a:p>
        </p:txBody>
      </p:sp>
      <p:grpSp>
        <p:nvGrpSpPr>
          <p:cNvPr id="28" name="Group 28"/>
          <p:cNvGrpSpPr/>
          <p:nvPr/>
        </p:nvGrpSpPr>
        <p:grpSpPr>
          <a:xfrm>
            <a:off x="12331328" y="7291459"/>
            <a:ext cx="1066808" cy="1066808"/>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sp>
        <p:sp>
          <p:nvSpPr>
            <p:cNvPr id="30" name="TextBox 30"/>
            <p:cNvSpPr txBox="1"/>
            <p:nvPr/>
          </p:nvSpPr>
          <p:spPr>
            <a:xfrm>
              <a:off x="76200" y="9525"/>
              <a:ext cx="660400" cy="727075"/>
            </a:xfrm>
            <a:prstGeom prst="rect">
              <a:avLst/>
            </a:prstGeom>
          </p:spPr>
          <p:txBody>
            <a:bodyPr lIns="50800" tIns="50800" rIns="50800" bIns="50800" rtlCol="0" anchor="ctr"/>
            <a:lstStyle/>
            <a:p>
              <a:pPr algn="ctr">
                <a:lnSpc>
                  <a:spcPts val="2660"/>
                </a:lnSpc>
              </a:pPr>
              <a:endParaRPr/>
            </a:p>
          </p:txBody>
        </p:sp>
      </p:grpSp>
      <p:sp>
        <p:nvSpPr>
          <p:cNvPr id="31" name="TextBox 31"/>
          <p:cNvSpPr txBox="1"/>
          <p:nvPr/>
        </p:nvSpPr>
        <p:spPr>
          <a:xfrm>
            <a:off x="12331328" y="7481963"/>
            <a:ext cx="1066808" cy="579120"/>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Codec Pro Bold"/>
                <a:ea typeface="Codec Pro Bold"/>
                <a:cs typeface="Codec Pro Bold"/>
                <a:sym typeface="Codec Pro Bold"/>
              </a:rPr>
              <a:t>05</a:t>
            </a:r>
          </a:p>
        </p:txBody>
      </p:sp>
      <p:sp>
        <p:nvSpPr>
          <p:cNvPr id="32" name="TextBox 32"/>
          <p:cNvSpPr txBox="1"/>
          <p:nvPr/>
        </p:nvSpPr>
        <p:spPr>
          <a:xfrm>
            <a:off x="10930331" y="8434467"/>
            <a:ext cx="4518438" cy="486410"/>
          </a:xfrm>
          <a:prstGeom prst="rect">
            <a:avLst/>
          </a:prstGeom>
        </p:spPr>
        <p:txBody>
          <a:bodyPr lIns="0" tIns="0" rIns="0" bIns="0" rtlCol="0" anchor="t">
            <a:spAutoFit/>
          </a:bodyPr>
          <a:lstStyle/>
          <a:p>
            <a:pPr algn="l">
              <a:lnSpc>
                <a:spcPts val="3640"/>
              </a:lnSpc>
              <a:spcBef>
                <a:spcPct val="0"/>
              </a:spcBef>
            </a:pPr>
            <a:r>
              <a:rPr lang="en-US" sz="2600" b="1">
                <a:solidFill>
                  <a:srgbClr val="FFFFFF"/>
                </a:solidFill>
                <a:latin typeface="Codec Pro Bold"/>
                <a:ea typeface="Codec Pro Bold"/>
                <a:cs typeface="Codec Pro Bold"/>
                <a:sym typeface="Codec Pro Bold"/>
              </a:rPr>
              <a:t>Converted Date Format</a:t>
            </a:r>
          </a:p>
        </p:txBody>
      </p:sp>
      <p:sp>
        <p:nvSpPr>
          <p:cNvPr id="33" name="TextBox 33"/>
          <p:cNvSpPr txBox="1"/>
          <p:nvPr/>
        </p:nvSpPr>
        <p:spPr>
          <a:xfrm>
            <a:off x="10205547" y="9025652"/>
            <a:ext cx="5761359" cy="1018540"/>
          </a:xfrm>
          <a:prstGeom prst="rect">
            <a:avLst/>
          </a:prstGeom>
        </p:spPr>
        <p:txBody>
          <a:bodyPr lIns="0" tIns="0" rIns="0" bIns="0" rtlCol="0" anchor="t">
            <a:spAutoFit/>
          </a:bodyPr>
          <a:lstStyle/>
          <a:p>
            <a:pPr algn="l">
              <a:lnSpc>
                <a:spcPts val="2660"/>
              </a:lnSpc>
              <a:spcBef>
                <a:spcPct val="0"/>
              </a:spcBef>
            </a:pPr>
            <a:r>
              <a:rPr lang="en-US" sz="1900">
                <a:solidFill>
                  <a:srgbClr val="FFFFFF"/>
                </a:solidFill>
                <a:latin typeface="Codec Pro"/>
                <a:ea typeface="Codec Pro"/>
                <a:cs typeface="Codec Pro"/>
                <a:sym typeface="Codec Pro"/>
              </a:rPr>
              <a:t>InvoiceDate to datetime format. Invoice Required for calculating Recency, which measures the number of days since a customer's last purchase.</a:t>
            </a:r>
          </a:p>
        </p:txBody>
      </p:sp>
      <p:sp>
        <p:nvSpPr>
          <p:cNvPr id="34" name="TextBox 34"/>
          <p:cNvSpPr txBox="1"/>
          <p:nvPr/>
        </p:nvSpPr>
        <p:spPr>
          <a:xfrm>
            <a:off x="762684" y="257588"/>
            <a:ext cx="7524106" cy="917391"/>
          </a:xfrm>
          <a:prstGeom prst="rect">
            <a:avLst/>
          </a:prstGeom>
        </p:spPr>
        <p:txBody>
          <a:bodyPr lIns="0" tIns="0" rIns="0" bIns="0" rtlCol="0" anchor="t">
            <a:spAutoFit/>
          </a:bodyPr>
          <a:lstStyle/>
          <a:p>
            <a:pPr marL="0" lvl="0" indent="0" algn="l">
              <a:lnSpc>
                <a:spcPts val="7052"/>
              </a:lnSpc>
            </a:pPr>
            <a:r>
              <a:rPr lang="en-US" sz="6411">
                <a:solidFill>
                  <a:srgbClr val="F5F6F7"/>
                </a:solidFill>
                <a:latin typeface="Georgia Pro Light"/>
                <a:ea typeface="Georgia Pro Light"/>
                <a:cs typeface="Georgia Pro Light"/>
                <a:sym typeface="Georgia Pro Light"/>
              </a:rPr>
              <a:t>Data cleaning process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1B25"/>
        </a:solidFill>
        <a:effectLst/>
      </p:bgPr>
    </p:bg>
    <p:spTree>
      <p:nvGrpSpPr>
        <p:cNvPr id="1" name=""/>
        <p:cNvGrpSpPr/>
        <p:nvPr/>
      </p:nvGrpSpPr>
      <p:grpSpPr>
        <a:xfrm>
          <a:off x="0" y="0"/>
          <a:ext cx="0" cy="0"/>
          <a:chOff x="0" y="0"/>
          <a:chExt cx="0" cy="0"/>
        </a:xfrm>
      </p:grpSpPr>
      <p:grpSp>
        <p:nvGrpSpPr>
          <p:cNvPr id="2" name="Group 2"/>
          <p:cNvGrpSpPr/>
          <p:nvPr/>
        </p:nvGrpSpPr>
        <p:grpSpPr>
          <a:xfrm>
            <a:off x="1290167" y="1751320"/>
            <a:ext cx="10906570" cy="1738559"/>
            <a:chOff x="0" y="0"/>
            <a:chExt cx="3323137" cy="529724"/>
          </a:xfrm>
        </p:grpSpPr>
        <p:sp>
          <p:nvSpPr>
            <p:cNvPr id="3" name="Freeform 3"/>
            <p:cNvSpPr/>
            <p:nvPr/>
          </p:nvSpPr>
          <p:spPr>
            <a:xfrm>
              <a:off x="0" y="0"/>
              <a:ext cx="3323137" cy="529724"/>
            </a:xfrm>
            <a:custGeom>
              <a:avLst/>
              <a:gdLst/>
              <a:ahLst/>
              <a:cxnLst/>
              <a:rect l="l" t="t" r="r" b="b"/>
              <a:pathLst>
                <a:path w="3323137" h="529724">
                  <a:moveTo>
                    <a:pt x="36202" y="0"/>
                  </a:moveTo>
                  <a:lnTo>
                    <a:pt x="3286935" y="0"/>
                  </a:lnTo>
                  <a:cubicBezTo>
                    <a:pt x="3306929" y="0"/>
                    <a:pt x="3323137" y="16208"/>
                    <a:pt x="3323137" y="36202"/>
                  </a:cubicBezTo>
                  <a:lnTo>
                    <a:pt x="3323137" y="493522"/>
                  </a:lnTo>
                  <a:cubicBezTo>
                    <a:pt x="3323137" y="503123"/>
                    <a:pt x="3319323" y="512331"/>
                    <a:pt x="3312533" y="519120"/>
                  </a:cubicBezTo>
                  <a:cubicBezTo>
                    <a:pt x="3305744" y="525910"/>
                    <a:pt x="3296536" y="529724"/>
                    <a:pt x="3286935" y="529724"/>
                  </a:cubicBezTo>
                  <a:lnTo>
                    <a:pt x="36202" y="529724"/>
                  </a:lnTo>
                  <a:cubicBezTo>
                    <a:pt x="16208" y="529724"/>
                    <a:pt x="0" y="513516"/>
                    <a:pt x="0" y="493522"/>
                  </a:cubicBezTo>
                  <a:lnTo>
                    <a:pt x="0" y="36202"/>
                  </a:lnTo>
                  <a:cubicBezTo>
                    <a:pt x="0" y="16208"/>
                    <a:pt x="16208" y="0"/>
                    <a:pt x="36202" y="0"/>
                  </a:cubicBezTo>
                  <a:close/>
                </a:path>
              </a:pathLst>
            </a:custGeom>
            <a:solidFill>
              <a:srgbClr val="BB830F"/>
            </a:solidFill>
          </p:spPr>
        </p:sp>
        <p:sp>
          <p:nvSpPr>
            <p:cNvPr id="4" name="TextBox 4"/>
            <p:cNvSpPr txBox="1"/>
            <p:nvPr/>
          </p:nvSpPr>
          <p:spPr>
            <a:xfrm>
              <a:off x="0" y="-28575"/>
              <a:ext cx="3323137" cy="558299"/>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52599" y="7249283"/>
            <a:ext cx="6080442" cy="5955771"/>
            <a:chOff x="0" y="0"/>
            <a:chExt cx="1107255" cy="1063652"/>
          </a:xfrm>
        </p:grpSpPr>
        <p:sp>
          <p:nvSpPr>
            <p:cNvPr id="6" name="Freeform 6"/>
            <p:cNvSpPr/>
            <p:nvPr/>
          </p:nvSpPr>
          <p:spPr>
            <a:xfrm>
              <a:off x="0" y="0"/>
              <a:ext cx="1107255" cy="1063652"/>
            </a:xfrm>
            <a:custGeom>
              <a:avLst/>
              <a:gdLst/>
              <a:ahLst/>
              <a:cxnLst/>
              <a:rect l="l" t="t" r="r" b="b"/>
              <a:pathLst>
                <a:path w="1107255" h="1063652">
                  <a:moveTo>
                    <a:pt x="553628" y="0"/>
                  </a:moveTo>
                  <a:cubicBezTo>
                    <a:pt x="247868" y="0"/>
                    <a:pt x="0" y="238107"/>
                    <a:pt x="0" y="531826"/>
                  </a:cubicBezTo>
                  <a:cubicBezTo>
                    <a:pt x="0" y="825545"/>
                    <a:pt x="247868" y="1063652"/>
                    <a:pt x="553628" y="1063652"/>
                  </a:cubicBezTo>
                  <a:cubicBezTo>
                    <a:pt x="859388" y="1063652"/>
                    <a:pt x="1107255" y="825545"/>
                    <a:pt x="1107255" y="531826"/>
                  </a:cubicBezTo>
                  <a:cubicBezTo>
                    <a:pt x="1107255" y="238107"/>
                    <a:pt x="859388" y="0"/>
                    <a:pt x="553628" y="0"/>
                  </a:cubicBezTo>
                  <a:close/>
                </a:path>
              </a:pathLst>
            </a:custGeom>
            <a:solidFill>
              <a:srgbClr val="3E72A6"/>
            </a:solidFill>
          </p:spPr>
        </p:sp>
        <p:sp>
          <p:nvSpPr>
            <p:cNvPr id="7" name="TextBox 7"/>
            <p:cNvSpPr txBox="1"/>
            <p:nvPr/>
          </p:nvSpPr>
          <p:spPr>
            <a:xfrm>
              <a:off x="103805" y="71142"/>
              <a:ext cx="899645" cy="89279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014295" y="-1097762"/>
            <a:ext cx="3573389" cy="3432671"/>
            <a:chOff x="0" y="0"/>
            <a:chExt cx="1107255" cy="1063652"/>
          </a:xfrm>
        </p:grpSpPr>
        <p:sp>
          <p:nvSpPr>
            <p:cNvPr id="9" name="Freeform 9"/>
            <p:cNvSpPr/>
            <p:nvPr/>
          </p:nvSpPr>
          <p:spPr>
            <a:xfrm>
              <a:off x="0" y="0"/>
              <a:ext cx="1107255" cy="1063652"/>
            </a:xfrm>
            <a:custGeom>
              <a:avLst/>
              <a:gdLst/>
              <a:ahLst/>
              <a:cxnLst/>
              <a:rect l="l" t="t" r="r" b="b"/>
              <a:pathLst>
                <a:path w="1107255" h="1063652">
                  <a:moveTo>
                    <a:pt x="553628" y="0"/>
                  </a:moveTo>
                  <a:cubicBezTo>
                    <a:pt x="247868" y="0"/>
                    <a:pt x="0" y="238107"/>
                    <a:pt x="0" y="531826"/>
                  </a:cubicBezTo>
                  <a:cubicBezTo>
                    <a:pt x="0" y="825545"/>
                    <a:pt x="247868" y="1063652"/>
                    <a:pt x="553628" y="1063652"/>
                  </a:cubicBezTo>
                  <a:cubicBezTo>
                    <a:pt x="859388" y="1063652"/>
                    <a:pt x="1107255" y="825545"/>
                    <a:pt x="1107255" y="531826"/>
                  </a:cubicBezTo>
                  <a:cubicBezTo>
                    <a:pt x="1107255" y="238107"/>
                    <a:pt x="859388" y="0"/>
                    <a:pt x="553628" y="0"/>
                  </a:cubicBezTo>
                  <a:close/>
                </a:path>
              </a:pathLst>
            </a:custGeom>
            <a:solidFill>
              <a:srgbClr val="3E72A6"/>
            </a:solidFill>
          </p:spPr>
        </p:sp>
        <p:sp>
          <p:nvSpPr>
            <p:cNvPr id="10" name="TextBox 10"/>
            <p:cNvSpPr txBox="1"/>
            <p:nvPr/>
          </p:nvSpPr>
          <p:spPr>
            <a:xfrm>
              <a:off x="103805" y="71142"/>
              <a:ext cx="899645" cy="892792"/>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1290167" y="391805"/>
            <a:ext cx="11967206" cy="1359514"/>
          </a:xfrm>
          <a:prstGeom prst="rect">
            <a:avLst/>
          </a:prstGeom>
        </p:spPr>
        <p:txBody>
          <a:bodyPr lIns="0" tIns="0" rIns="0" bIns="0" rtlCol="0" anchor="t">
            <a:spAutoFit/>
          </a:bodyPr>
          <a:lstStyle/>
          <a:p>
            <a:pPr algn="l">
              <a:lnSpc>
                <a:spcPts val="10587"/>
              </a:lnSpc>
            </a:pPr>
            <a:r>
              <a:rPr lang="en-US" sz="9538" dirty="0">
                <a:solidFill>
                  <a:srgbClr val="FFFFFF"/>
                </a:solidFill>
                <a:latin typeface="Anton"/>
                <a:ea typeface="Anton"/>
                <a:cs typeface="Anton"/>
                <a:sym typeface="Anton"/>
              </a:rPr>
              <a:t>RFM FEATURE ENGINEERING</a:t>
            </a:r>
          </a:p>
        </p:txBody>
      </p:sp>
      <p:sp>
        <p:nvSpPr>
          <p:cNvPr id="12" name="TextBox 12"/>
          <p:cNvSpPr txBox="1"/>
          <p:nvPr/>
        </p:nvSpPr>
        <p:spPr>
          <a:xfrm>
            <a:off x="1536861" y="1963825"/>
            <a:ext cx="10659877" cy="1714088"/>
          </a:xfrm>
          <a:prstGeom prst="rect">
            <a:avLst/>
          </a:prstGeom>
        </p:spPr>
        <p:txBody>
          <a:bodyPr lIns="0" tIns="0" rIns="0" bIns="0" rtlCol="0" anchor="t">
            <a:spAutoFit/>
          </a:bodyPr>
          <a:lstStyle/>
          <a:p>
            <a:pPr algn="l">
              <a:lnSpc>
                <a:spcPts val="2734"/>
              </a:lnSpc>
            </a:pPr>
            <a:r>
              <a:rPr lang="en-US" sz="2463">
                <a:solidFill>
                  <a:srgbClr val="FFFFFF"/>
                </a:solidFill>
                <a:latin typeface="Anton"/>
                <a:ea typeface="Anton"/>
                <a:cs typeface="Anton"/>
                <a:sym typeface="Anton"/>
              </a:rPr>
              <a:t>CREATED TOTALAMOUNT FEATURE</a:t>
            </a:r>
          </a:p>
          <a:p>
            <a:pPr marL="531964" lvl="1" indent="-265982" algn="l">
              <a:lnSpc>
                <a:spcPts val="2734"/>
              </a:lnSpc>
              <a:buFont typeface="Arial"/>
              <a:buChar char="•"/>
            </a:pPr>
            <a:r>
              <a:rPr lang="en-US" sz="2463">
                <a:solidFill>
                  <a:srgbClr val="FFFFFF"/>
                </a:solidFill>
                <a:latin typeface="Anton"/>
                <a:ea typeface="Anton"/>
                <a:cs typeface="Anton"/>
                <a:sym typeface="Anton"/>
              </a:rPr>
              <a:t>CREATED A NEW COLUMN:    </a:t>
            </a:r>
            <a:r>
              <a:rPr lang="en-US" sz="2463">
                <a:solidFill>
                  <a:srgbClr val="000038"/>
                </a:solidFill>
                <a:latin typeface="Anton"/>
                <a:ea typeface="Anton"/>
                <a:cs typeface="Anton"/>
                <a:sym typeface="Anton"/>
              </a:rPr>
              <a:t>TOTALAMOUNT = QUANTITY × UNITPRICE</a:t>
            </a:r>
          </a:p>
          <a:p>
            <a:pPr marL="531964" lvl="1" indent="-265982" algn="l">
              <a:lnSpc>
                <a:spcPts val="2734"/>
              </a:lnSpc>
              <a:buFont typeface="Arial"/>
              <a:buChar char="•"/>
            </a:pPr>
            <a:r>
              <a:rPr lang="en-US" sz="2463">
                <a:solidFill>
                  <a:srgbClr val="FFFFFF"/>
                </a:solidFill>
                <a:latin typeface="Anton"/>
                <a:ea typeface="Anton"/>
                <a:cs typeface="Anton"/>
                <a:sym typeface="Anton"/>
              </a:rPr>
              <a:t>REASON: THE DATASET DID NOT DIRECTLY CONTAIN TOTAL SPENDING PER TRANSACTION. MONETARY VALUE CALCULATION REQUIRES TOTAL PURCHASE AMOUNT PER INVOICE.</a:t>
            </a:r>
          </a:p>
          <a:p>
            <a:pPr algn="l">
              <a:lnSpc>
                <a:spcPts val="2734"/>
              </a:lnSpc>
            </a:pPr>
            <a:endParaRPr lang="en-US" sz="2463">
              <a:solidFill>
                <a:srgbClr val="FFFFFF"/>
              </a:solidFill>
              <a:latin typeface="Anton"/>
              <a:ea typeface="Anton"/>
              <a:cs typeface="Anton"/>
              <a:sym typeface="Anton"/>
            </a:endParaRPr>
          </a:p>
        </p:txBody>
      </p:sp>
      <p:graphicFrame>
        <p:nvGraphicFramePr>
          <p:cNvPr id="13" name="Table 13"/>
          <p:cNvGraphicFramePr>
            <a:graphicFrameLocks noGrp="1"/>
          </p:cNvGraphicFramePr>
          <p:nvPr/>
        </p:nvGraphicFramePr>
        <p:xfrm>
          <a:off x="208398" y="5733517"/>
          <a:ext cx="17897764" cy="4281121"/>
        </p:xfrm>
        <a:graphic>
          <a:graphicData uri="http://schemas.openxmlformats.org/drawingml/2006/table">
            <a:tbl>
              <a:tblPr/>
              <a:tblGrid>
                <a:gridCol w="6003335">
                  <a:extLst>
                    <a:ext uri="{9D8B030D-6E8A-4147-A177-3AD203B41FA5}">
                      <a16:colId xmlns:a16="http://schemas.microsoft.com/office/drawing/2014/main" val="20000"/>
                    </a:ext>
                  </a:extLst>
                </a:gridCol>
                <a:gridCol w="6188622">
                  <a:extLst>
                    <a:ext uri="{9D8B030D-6E8A-4147-A177-3AD203B41FA5}">
                      <a16:colId xmlns:a16="http://schemas.microsoft.com/office/drawing/2014/main" val="20001"/>
                    </a:ext>
                  </a:extLst>
                </a:gridCol>
                <a:gridCol w="5705807">
                  <a:extLst>
                    <a:ext uri="{9D8B030D-6E8A-4147-A177-3AD203B41FA5}">
                      <a16:colId xmlns:a16="http://schemas.microsoft.com/office/drawing/2014/main" val="20002"/>
                    </a:ext>
                  </a:extLst>
                </a:gridCol>
              </a:tblGrid>
              <a:tr h="961470">
                <a:tc>
                  <a:txBody>
                    <a:bodyPr/>
                    <a:lstStyle/>
                    <a:p>
                      <a:pPr algn="ctr">
                        <a:lnSpc>
                          <a:spcPts val="3220"/>
                        </a:lnSpc>
                        <a:defRPr/>
                      </a:pPr>
                      <a:r>
                        <a:rPr lang="en-US" sz="2300" b="1">
                          <a:solidFill>
                            <a:srgbClr val="225B2F"/>
                          </a:solidFill>
                          <a:latin typeface="Open Sans Bold"/>
                          <a:ea typeface="Open Sans Bold"/>
                          <a:cs typeface="Open Sans Bold"/>
                          <a:sym typeface="Open Sans Bold"/>
                        </a:rPr>
                        <a:t>Recency (R)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FDDC7"/>
                    </a:solidFill>
                  </a:tcPr>
                </a:tc>
                <a:tc>
                  <a:txBody>
                    <a:bodyPr/>
                    <a:lstStyle/>
                    <a:p>
                      <a:pPr algn="ctr">
                        <a:lnSpc>
                          <a:spcPts val="3220"/>
                        </a:lnSpc>
                        <a:defRPr/>
                      </a:pPr>
                      <a:r>
                        <a:rPr lang="en-US" sz="2300" b="1">
                          <a:solidFill>
                            <a:srgbClr val="225B2F"/>
                          </a:solidFill>
                          <a:latin typeface="Open Sans Bold"/>
                          <a:ea typeface="Open Sans Bold"/>
                          <a:cs typeface="Open Sans Bold"/>
                          <a:sym typeface="Open Sans Bold"/>
                        </a:rPr>
                        <a:t>Frequency (F)</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FDDC7"/>
                    </a:solidFill>
                  </a:tcPr>
                </a:tc>
                <a:tc>
                  <a:txBody>
                    <a:bodyPr/>
                    <a:lstStyle/>
                    <a:p>
                      <a:pPr algn="ctr">
                        <a:lnSpc>
                          <a:spcPts val="3219"/>
                        </a:lnSpc>
                        <a:defRPr/>
                      </a:pPr>
                      <a:r>
                        <a:rPr lang="en-US" sz="2299" b="1">
                          <a:solidFill>
                            <a:srgbClr val="225B2F"/>
                          </a:solidFill>
                          <a:latin typeface="Open Sans Bold"/>
                          <a:ea typeface="Open Sans Bold"/>
                          <a:cs typeface="Open Sans Bold"/>
                          <a:sym typeface="Open Sans Bold"/>
                        </a:rPr>
                        <a:t>Monetary (M)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FDDC7"/>
                    </a:solidFill>
                  </a:tcPr>
                </a:tc>
                <a:extLst>
                  <a:ext uri="{0D108BD9-81ED-4DB2-BD59-A6C34878D82A}">
                    <a16:rowId xmlns:a16="http://schemas.microsoft.com/office/drawing/2014/main" val="10000"/>
                  </a:ext>
                </a:extLst>
              </a:tr>
              <a:tr h="3319651">
                <a:tc>
                  <a:txBody>
                    <a:bodyPr/>
                    <a:lstStyle/>
                    <a:p>
                      <a:pPr marL="496571" lvl="1" indent="-248285" algn="ctr">
                        <a:lnSpc>
                          <a:spcPts val="3220"/>
                        </a:lnSpc>
                        <a:buFont typeface="Arial"/>
                        <a:buChar char="•"/>
                        <a:defRPr/>
                      </a:pPr>
                      <a:r>
                        <a:rPr lang="en-US" sz="2300">
                          <a:solidFill>
                            <a:srgbClr val="FFFFFF"/>
                          </a:solidFill>
                          <a:latin typeface="Open Sans"/>
                          <a:ea typeface="Open Sans"/>
                          <a:cs typeface="Open Sans"/>
                          <a:sym typeface="Open Sans"/>
                        </a:rPr>
                        <a:t>Calculated number of days since the customer's last purchase.</a:t>
                      </a:r>
                      <a:endParaRPr lang="en-US" sz="1100"/>
                    </a:p>
                    <a:p>
                      <a:pPr marL="496571" lvl="1" indent="-248285" algn="ctr">
                        <a:lnSpc>
                          <a:spcPts val="3220"/>
                        </a:lnSpc>
                        <a:buFont typeface="Arial"/>
                        <a:buChar char="•"/>
                      </a:pPr>
                      <a:r>
                        <a:rPr lang="en-US" sz="2300">
                          <a:solidFill>
                            <a:srgbClr val="FFFFFF"/>
                          </a:solidFill>
                          <a:latin typeface="Open Sans"/>
                          <a:ea typeface="Open Sans"/>
                          <a:cs typeface="Open Sans"/>
                          <a:sym typeface="Open Sans"/>
                        </a:rPr>
                        <a:t>Reason: Measures how recently a customer engaged with the business    </a:t>
                      </a:r>
                    </a:p>
                    <a:p>
                      <a:pPr algn="ctr">
                        <a:lnSpc>
                          <a:spcPts val="3220"/>
                        </a:lnSpc>
                      </a:pPr>
                      <a:endParaRPr lang="en-US" sz="2300">
                        <a:solidFill>
                          <a:srgbClr val="FFFFFF"/>
                        </a:solidFill>
                        <a:latin typeface="Open Sans"/>
                        <a:ea typeface="Open Sans"/>
                        <a:cs typeface="Open Sans"/>
                        <a:sym typeface="Open Sans"/>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496571" lvl="1" indent="-248285" algn="ctr">
                        <a:lnSpc>
                          <a:spcPts val="3220"/>
                        </a:lnSpc>
                        <a:buFont typeface="Arial"/>
                        <a:buChar char="•"/>
                        <a:defRPr/>
                      </a:pPr>
                      <a:r>
                        <a:rPr lang="en-US" sz="2300">
                          <a:solidFill>
                            <a:srgbClr val="FFFFFF"/>
                          </a:solidFill>
                          <a:latin typeface="Open Sans"/>
                          <a:ea typeface="Open Sans"/>
                          <a:cs typeface="Open Sans"/>
                          <a:sym typeface="Open Sans"/>
                        </a:rPr>
                        <a:t>Counted total number of invoices per customer.</a:t>
                      </a:r>
                      <a:endParaRPr lang="en-US" sz="1100"/>
                    </a:p>
                    <a:p>
                      <a:pPr marL="496571" lvl="1" indent="-248285" algn="ctr">
                        <a:lnSpc>
                          <a:spcPts val="3220"/>
                        </a:lnSpc>
                        <a:buFont typeface="Arial"/>
                        <a:buChar char="•"/>
                      </a:pPr>
                      <a:r>
                        <a:rPr lang="en-US" sz="2300">
                          <a:solidFill>
                            <a:srgbClr val="FFFFFF"/>
                          </a:solidFill>
                          <a:latin typeface="Open Sans"/>
                          <a:ea typeface="Open Sans"/>
                          <a:cs typeface="Open Sans"/>
                          <a:sym typeface="Open Sans"/>
                        </a:rPr>
                        <a:t>Reason: Indicates how often a customer makes purchases.</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496567" lvl="1" indent="-248284" algn="ctr">
                        <a:lnSpc>
                          <a:spcPts val="3219"/>
                        </a:lnSpc>
                        <a:buFont typeface="Arial"/>
                        <a:buChar char="•"/>
                        <a:defRPr/>
                      </a:pPr>
                      <a:r>
                        <a:rPr lang="en-US" sz="2299">
                          <a:solidFill>
                            <a:srgbClr val="FFFFFF"/>
                          </a:solidFill>
                          <a:latin typeface="Open Sans"/>
                          <a:ea typeface="Open Sans"/>
                          <a:cs typeface="Open Sans"/>
                          <a:sym typeface="Open Sans"/>
                        </a:rPr>
                        <a:t>Calculated total spending (sum of TotalAmount) per customer.</a:t>
                      </a:r>
                      <a:endParaRPr lang="en-US" sz="1100"/>
                    </a:p>
                    <a:p>
                      <a:pPr marL="496567" lvl="1" indent="-248284" algn="ctr">
                        <a:lnSpc>
                          <a:spcPts val="3219"/>
                        </a:lnSpc>
                        <a:buFont typeface="Arial"/>
                        <a:buChar char="•"/>
                      </a:pPr>
                      <a:r>
                        <a:rPr lang="en-US" sz="2299">
                          <a:solidFill>
                            <a:srgbClr val="FFFFFF"/>
                          </a:solidFill>
                          <a:latin typeface="Open Sans"/>
                          <a:ea typeface="Open Sans"/>
                          <a:cs typeface="Open Sans"/>
                          <a:sym typeface="Open Sans"/>
                        </a:rPr>
                        <a:t>Reason: Identifies high-value customers.</a:t>
                      </a:r>
                    </a:p>
                    <a:p>
                      <a:pPr algn="ctr">
                        <a:lnSpc>
                          <a:spcPts val="3219"/>
                        </a:lnSpc>
                      </a:pPr>
                      <a:endParaRPr lang="en-US" sz="2299">
                        <a:solidFill>
                          <a:srgbClr val="FFFFFF"/>
                        </a:solidFill>
                        <a:latin typeface="Open Sans"/>
                        <a:ea typeface="Open Sans"/>
                        <a:cs typeface="Open Sans"/>
                        <a:sym typeface="Open Sans"/>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14" name="Group 14"/>
          <p:cNvGrpSpPr/>
          <p:nvPr/>
        </p:nvGrpSpPr>
        <p:grpSpPr>
          <a:xfrm>
            <a:off x="1258992" y="3677913"/>
            <a:ext cx="10906570" cy="1738559"/>
            <a:chOff x="0" y="0"/>
            <a:chExt cx="3323137" cy="529724"/>
          </a:xfrm>
        </p:grpSpPr>
        <p:sp>
          <p:nvSpPr>
            <p:cNvPr id="15" name="Freeform 15"/>
            <p:cNvSpPr/>
            <p:nvPr/>
          </p:nvSpPr>
          <p:spPr>
            <a:xfrm>
              <a:off x="0" y="0"/>
              <a:ext cx="3323137" cy="529724"/>
            </a:xfrm>
            <a:custGeom>
              <a:avLst/>
              <a:gdLst/>
              <a:ahLst/>
              <a:cxnLst/>
              <a:rect l="l" t="t" r="r" b="b"/>
              <a:pathLst>
                <a:path w="3323137" h="529724">
                  <a:moveTo>
                    <a:pt x="36202" y="0"/>
                  </a:moveTo>
                  <a:lnTo>
                    <a:pt x="3286935" y="0"/>
                  </a:lnTo>
                  <a:cubicBezTo>
                    <a:pt x="3306929" y="0"/>
                    <a:pt x="3323137" y="16208"/>
                    <a:pt x="3323137" y="36202"/>
                  </a:cubicBezTo>
                  <a:lnTo>
                    <a:pt x="3323137" y="493522"/>
                  </a:lnTo>
                  <a:cubicBezTo>
                    <a:pt x="3323137" y="503123"/>
                    <a:pt x="3319323" y="512331"/>
                    <a:pt x="3312533" y="519120"/>
                  </a:cubicBezTo>
                  <a:cubicBezTo>
                    <a:pt x="3305744" y="525910"/>
                    <a:pt x="3296536" y="529724"/>
                    <a:pt x="3286935" y="529724"/>
                  </a:cubicBezTo>
                  <a:lnTo>
                    <a:pt x="36202" y="529724"/>
                  </a:lnTo>
                  <a:cubicBezTo>
                    <a:pt x="16208" y="529724"/>
                    <a:pt x="0" y="513516"/>
                    <a:pt x="0" y="493522"/>
                  </a:cubicBezTo>
                  <a:lnTo>
                    <a:pt x="0" y="36202"/>
                  </a:lnTo>
                  <a:cubicBezTo>
                    <a:pt x="0" y="16208"/>
                    <a:pt x="16208" y="0"/>
                    <a:pt x="36202" y="0"/>
                  </a:cubicBezTo>
                  <a:close/>
                </a:path>
              </a:pathLst>
            </a:custGeom>
            <a:solidFill>
              <a:srgbClr val="BB830F"/>
            </a:solidFill>
          </p:spPr>
        </p:sp>
        <p:sp>
          <p:nvSpPr>
            <p:cNvPr id="16" name="TextBox 16"/>
            <p:cNvSpPr txBox="1"/>
            <p:nvPr/>
          </p:nvSpPr>
          <p:spPr>
            <a:xfrm>
              <a:off x="0" y="-28575"/>
              <a:ext cx="3323137" cy="558299"/>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1536861" y="3828929"/>
            <a:ext cx="10659877" cy="1714088"/>
          </a:xfrm>
          <a:prstGeom prst="rect">
            <a:avLst/>
          </a:prstGeom>
        </p:spPr>
        <p:txBody>
          <a:bodyPr lIns="0" tIns="0" rIns="0" bIns="0" rtlCol="0" anchor="t">
            <a:spAutoFit/>
          </a:bodyPr>
          <a:lstStyle/>
          <a:p>
            <a:pPr algn="l">
              <a:lnSpc>
                <a:spcPts val="2734"/>
              </a:lnSpc>
            </a:pPr>
            <a:r>
              <a:rPr lang="en-US" sz="2463">
                <a:solidFill>
                  <a:srgbClr val="FFFFFF"/>
                </a:solidFill>
                <a:latin typeface="Anton"/>
                <a:ea typeface="Anton"/>
                <a:cs typeface="Anton"/>
                <a:sym typeface="Anton"/>
              </a:rPr>
              <a:t>AGGREGATED DATA AT CUSTOMER LEVEL</a:t>
            </a:r>
          </a:p>
          <a:p>
            <a:pPr marL="531964" lvl="1" indent="-265982" algn="l">
              <a:lnSpc>
                <a:spcPts val="2734"/>
              </a:lnSpc>
              <a:buFont typeface="Arial"/>
              <a:buChar char="•"/>
            </a:pPr>
            <a:r>
              <a:rPr lang="en-US" sz="2463">
                <a:solidFill>
                  <a:srgbClr val="FFFFFF"/>
                </a:solidFill>
                <a:latin typeface="Anton"/>
                <a:ea typeface="Anton"/>
                <a:cs typeface="Anton"/>
                <a:sym typeface="Anton"/>
              </a:rPr>
              <a:t>GROUPED TRANSACTIONS BY CUSTOMER ID.</a:t>
            </a:r>
          </a:p>
          <a:p>
            <a:pPr marL="531964" lvl="1" indent="-265982" algn="l">
              <a:lnSpc>
                <a:spcPts val="2734"/>
              </a:lnSpc>
              <a:buFont typeface="Arial"/>
              <a:buChar char="•"/>
            </a:pPr>
            <a:r>
              <a:rPr lang="en-US" sz="2463">
                <a:solidFill>
                  <a:srgbClr val="FFFFFF"/>
                </a:solidFill>
                <a:latin typeface="Anton"/>
                <a:ea typeface="Anton"/>
                <a:cs typeface="Anton"/>
                <a:sym typeface="Anton"/>
              </a:rPr>
              <a:t>CONVERTED TRANSACTION-LEVEL DATA INTO CUSTOMER-LEVEL DATA.</a:t>
            </a:r>
          </a:p>
          <a:p>
            <a:pPr marL="531964" lvl="1" indent="-265982" algn="l">
              <a:lnSpc>
                <a:spcPts val="2734"/>
              </a:lnSpc>
              <a:buFont typeface="Arial"/>
              <a:buChar char="•"/>
            </a:pPr>
            <a:r>
              <a:rPr lang="en-US" sz="2463">
                <a:solidFill>
                  <a:srgbClr val="FFFFFF"/>
                </a:solidFill>
                <a:latin typeface="Anton"/>
                <a:ea typeface="Anton"/>
                <a:cs typeface="Anton"/>
                <a:sym typeface="Anton"/>
              </a:rPr>
              <a:t>REASON: SEGMENTATION IS PERFORMED AT CUSTOMER LEVEL, NOT TRANSACTION LEVEL.</a:t>
            </a:r>
          </a:p>
          <a:p>
            <a:pPr algn="l">
              <a:lnSpc>
                <a:spcPts val="2734"/>
              </a:lnSpc>
            </a:pPr>
            <a:endParaRPr lang="en-US" sz="2463">
              <a:solidFill>
                <a:srgbClr val="FFFFFF"/>
              </a:solidFill>
              <a:latin typeface="Anton"/>
              <a:ea typeface="Anton"/>
              <a:cs typeface="Anton"/>
              <a:sym typeface="Anto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A26"/>
        </a:solidFill>
        <a:effectLst/>
      </p:bgPr>
    </p:bg>
    <p:spTree>
      <p:nvGrpSpPr>
        <p:cNvPr id="1" name=""/>
        <p:cNvGrpSpPr/>
        <p:nvPr/>
      </p:nvGrpSpPr>
      <p:grpSpPr>
        <a:xfrm>
          <a:off x="0" y="0"/>
          <a:ext cx="0" cy="0"/>
          <a:chOff x="0" y="0"/>
          <a:chExt cx="0" cy="0"/>
        </a:xfrm>
      </p:grpSpPr>
      <p:grpSp>
        <p:nvGrpSpPr>
          <p:cNvPr id="2" name="Group 2"/>
          <p:cNvGrpSpPr/>
          <p:nvPr/>
        </p:nvGrpSpPr>
        <p:grpSpPr>
          <a:xfrm>
            <a:off x="-1747509" y="7368946"/>
            <a:ext cx="6075352" cy="5836108"/>
            <a:chOff x="0" y="0"/>
            <a:chExt cx="1107255" cy="1063652"/>
          </a:xfrm>
        </p:grpSpPr>
        <p:sp>
          <p:nvSpPr>
            <p:cNvPr id="3" name="Freeform 3"/>
            <p:cNvSpPr/>
            <p:nvPr/>
          </p:nvSpPr>
          <p:spPr>
            <a:xfrm>
              <a:off x="0" y="0"/>
              <a:ext cx="1107255" cy="1063652"/>
            </a:xfrm>
            <a:custGeom>
              <a:avLst/>
              <a:gdLst/>
              <a:ahLst/>
              <a:cxnLst/>
              <a:rect l="l" t="t" r="r" b="b"/>
              <a:pathLst>
                <a:path w="1107255" h="1063652">
                  <a:moveTo>
                    <a:pt x="553628" y="0"/>
                  </a:moveTo>
                  <a:cubicBezTo>
                    <a:pt x="247868" y="0"/>
                    <a:pt x="0" y="238107"/>
                    <a:pt x="0" y="531826"/>
                  </a:cubicBezTo>
                  <a:cubicBezTo>
                    <a:pt x="0" y="825545"/>
                    <a:pt x="247868" y="1063652"/>
                    <a:pt x="553628" y="1063652"/>
                  </a:cubicBezTo>
                  <a:cubicBezTo>
                    <a:pt x="859388" y="1063652"/>
                    <a:pt x="1107255" y="825545"/>
                    <a:pt x="1107255" y="531826"/>
                  </a:cubicBezTo>
                  <a:cubicBezTo>
                    <a:pt x="1107255" y="238107"/>
                    <a:pt x="859388" y="0"/>
                    <a:pt x="553628" y="0"/>
                  </a:cubicBezTo>
                  <a:close/>
                </a:path>
              </a:pathLst>
            </a:custGeom>
            <a:solidFill>
              <a:srgbClr val="3E72A6"/>
            </a:solidFill>
          </p:spPr>
        </p:sp>
        <p:sp>
          <p:nvSpPr>
            <p:cNvPr id="4" name="TextBox 4"/>
            <p:cNvSpPr txBox="1"/>
            <p:nvPr/>
          </p:nvSpPr>
          <p:spPr>
            <a:xfrm>
              <a:off x="103805" y="71142"/>
              <a:ext cx="899645" cy="89279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28700" y="2254729"/>
            <a:ext cx="6766752" cy="6971805"/>
          </a:xfrm>
          <a:custGeom>
            <a:avLst/>
            <a:gdLst/>
            <a:ahLst/>
            <a:cxnLst/>
            <a:rect l="l" t="t" r="r" b="b"/>
            <a:pathLst>
              <a:path w="6766752" h="6971805">
                <a:moveTo>
                  <a:pt x="0" y="0"/>
                </a:moveTo>
                <a:lnTo>
                  <a:pt x="6766752" y="0"/>
                </a:lnTo>
                <a:lnTo>
                  <a:pt x="6766752" y="6971805"/>
                </a:lnTo>
                <a:lnTo>
                  <a:pt x="0" y="6971805"/>
                </a:lnTo>
                <a:lnTo>
                  <a:pt x="0" y="0"/>
                </a:lnTo>
                <a:close/>
              </a:path>
            </a:pathLst>
          </a:custGeom>
          <a:blipFill>
            <a:blip r:embed="rId2"/>
            <a:stretch>
              <a:fillRect/>
            </a:stretch>
          </a:blipFill>
        </p:spPr>
      </p:sp>
      <p:grpSp>
        <p:nvGrpSpPr>
          <p:cNvPr id="6" name="Group 6"/>
          <p:cNvGrpSpPr/>
          <p:nvPr/>
        </p:nvGrpSpPr>
        <p:grpSpPr>
          <a:xfrm>
            <a:off x="8607130" y="4575296"/>
            <a:ext cx="8083098" cy="1738559"/>
            <a:chOff x="0" y="0"/>
            <a:chExt cx="2462849" cy="529724"/>
          </a:xfrm>
        </p:grpSpPr>
        <p:sp>
          <p:nvSpPr>
            <p:cNvPr id="7" name="Freeform 7"/>
            <p:cNvSpPr/>
            <p:nvPr/>
          </p:nvSpPr>
          <p:spPr>
            <a:xfrm>
              <a:off x="0" y="0"/>
              <a:ext cx="2462849" cy="529724"/>
            </a:xfrm>
            <a:custGeom>
              <a:avLst/>
              <a:gdLst/>
              <a:ahLst/>
              <a:cxnLst/>
              <a:rect l="l" t="t" r="r" b="b"/>
              <a:pathLst>
                <a:path w="2462849" h="529724">
                  <a:moveTo>
                    <a:pt x="48847" y="0"/>
                  </a:moveTo>
                  <a:lnTo>
                    <a:pt x="2414002" y="0"/>
                  </a:lnTo>
                  <a:cubicBezTo>
                    <a:pt x="2426957" y="0"/>
                    <a:pt x="2439382" y="5146"/>
                    <a:pt x="2448542" y="14307"/>
                  </a:cubicBezTo>
                  <a:cubicBezTo>
                    <a:pt x="2457703" y="23468"/>
                    <a:pt x="2462849" y="35892"/>
                    <a:pt x="2462849" y="48847"/>
                  </a:cubicBezTo>
                  <a:lnTo>
                    <a:pt x="2462849" y="480876"/>
                  </a:lnTo>
                  <a:cubicBezTo>
                    <a:pt x="2462849" y="493831"/>
                    <a:pt x="2457703" y="506256"/>
                    <a:pt x="2448542" y="515417"/>
                  </a:cubicBezTo>
                  <a:cubicBezTo>
                    <a:pt x="2439382" y="524577"/>
                    <a:pt x="2426957" y="529724"/>
                    <a:pt x="2414002" y="529724"/>
                  </a:cubicBezTo>
                  <a:lnTo>
                    <a:pt x="48847" y="529724"/>
                  </a:lnTo>
                  <a:cubicBezTo>
                    <a:pt x="21870" y="529724"/>
                    <a:pt x="0" y="507854"/>
                    <a:pt x="0" y="480876"/>
                  </a:cubicBezTo>
                  <a:lnTo>
                    <a:pt x="0" y="48847"/>
                  </a:lnTo>
                  <a:cubicBezTo>
                    <a:pt x="0" y="35892"/>
                    <a:pt x="5146" y="23468"/>
                    <a:pt x="14307" y="14307"/>
                  </a:cubicBezTo>
                  <a:cubicBezTo>
                    <a:pt x="23468" y="5146"/>
                    <a:pt x="35892" y="0"/>
                    <a:pt x="48847" y="0"/>
                  </a:cubicBezTo>
                  <a:close/>
                </a:path>
              </a:pathLst>
            </a:custGeom>
            <a:solidFill>
              <a:srgbClr val="BB830F"/>
            </a:solidFill>
          </p:spPr>
        </p:sp>
        <p:sp>
          <p:nvSpPr>
            <p:cNvPr id="8" name="TextBox 8"/>
            <p:cNvSpPr txBox="1"/>
            <p:nvPr/>
          </p:nvSpPr>
          <p:spPr>
            <a:xfrm>
              <a:off x="0" y="-28575"/>
              <a:ext cx="2462849" cy="558299"/>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8884999" y="4726312"/>
            <a:ext cx="7969626" cy="1420296"/>
          </a:xfrm>
          <a:prstGeom prst="rect">
            <a:avLst/>
          </a:prstGeom>
        </p:spPr>
        <p:txBody>
          <a:bodyPr lIns="0" tIns="0" rIns="0" bIns="0" rtlCol="0" anchor="t">
            <a:spAutoFit/>
          </a:bodyPr>
          <a:lstStyle/>
          <a:p>
            <a:pPr algn="l">
              <a:lnSpc>
                <a:spcPts val="2830"/>
              </a:lnSpc>
            </a:pPr>
            <a:r>
              <a:rPr lang="en-US" sz="2550">
                <a:solidFill>
                  <a:srgbClr val="FFFFFF"/>
                </a:solidFill>
                <a:latin typeface="Anton"/>
                <a:ea typeface="Anton"/>
                <a:cs typeface="Anton"/>
                <a:sym typeface="Anton"/>
              </a:rPr>
              <a:t>“FEATURE ENGINEERING TRANSFORMED RAW TRANSACTION DATA INTO MEANINGFUL BEHAVIORAL METRICS USING RFM ANALYSIS, ENABLING STRUCTURED AND INTERPRETABLE CUSTOMER SEGMENTATION.”</a:t>
            </a:r>
          </a:p>
        </p:txBody>
      </p:sp>
      <p:sp>
        <p:nvSpPr>
          <p:cNvPr id="10" name="TextBox 10"/>
          <p:cNvSpPr txBox="1"/>
          <p:nvPr/>
        </p:nvSpPr>
        <p:spPr>
          <a:xfrm>
            <a:off x="1290167" y="391805"/>
            <a:ext cx="11967206" cy="1359514"/>
          </a:xfrm>
          <a:prstGeom prst="rect">
            <a:avLst/>
          </a:prstGeom>
        </p:spPr>
        <p:txBody>
          <a:bodyPr lIns="0" tIns="0" rIns="0" bIns="0" rtlCol="0" anchor="t">
            <a:spAutoFit/>
          </a:bodyPr>
          <a:lstStyle/>
          <a:p>
            <a:pPr algn="l">
              <a:lnSpc>
                <a:spcPts val="10587"/>
              </a:lnSpc>
            </a:pPr>
            <a:r>
              <a:rPr lang="en-US" sz="9538">
                <a:solidFill>
                  <a:srgbClr val="FFFFFF"/>
                </a:solidFill>
                <a:latin typeface="Anton"/>
                <a:ea typeface="Anton"/>
                <a:cs typeface="Anton"/>
                <a:sym typeface="Anton"/>
              </a:rPr>
              <a:t>RFM FEATURE ENGINEERING</a:t>
            </a:r>
          </a:p>
        </p:txBody>
      </p:sp>
      <p:grpSp>
        <p:nvGrpSpPr>
          <p:cNvPr id="11" name="Group 11"/>
          <p:cNvGrpSpPr/>
          <p:nvPr/>
        </p:nvGrpSpPr>
        <p:grpSpPr>
          <a:xfrm>
            <a:off x="15014295" y="-1097762"/>
            <a:ext cx="3573389" cy="3432671"/>
            <a:chOff x="0" y="0"/>
            <a:chExt cx="1107255" cy="1063652"/>
          </a:xfrm>
        </p:grpSpPr>
        <p:sp>
          <p:nvSpPr>
            <p:cNvPr id="12" name="Freeform 12"/>
            <p:cNvSpPr/>
            <p:nvPr/>
          </p:nvSpPr>
          <p:spPr>
            <a:xfrm>
              <a:off x="0" y="0"/>
              <a:ext cx="1107255" cy="1063652"/>
            </a:xfrm>
            <a:custGeom>
              <a:avLst/>
              <a:gdLst/>
              <a:ahLst/>
              <a:cxnLst/>
              <a:rect l="l" t="t" r="r" b="b"/>
              <a:pathLst>
                <a:path w="1107255" h="1063652">
                  <a:moveTo>
                    <a:pt x="553628" y="0"/>
                  </a:moveTo>
                  <a:cubicBezTo>
                    <a:pt x="247868" y="0"/>
                    <a:pt x="0" y="238107"/>
                    <a:pt x="0" y="531826"/>
                  </a:cubicBezTo>
                  <a:cubicBezTo>
                    <a:pt x="0" y="825545"/>
                    <a:pt x="247868" y="1063652"/>
                    <a:pt x="553628" y="1063652"/>
                  </a:cubicBezTo>
                  <a:cubicBezTo>
                    <a:pt x="859388" y="1063652"/>
                    <a:pt x="1107255" y="825545"/>
                    <a:pt x="1107255" y="531826"/>
                  </a:cubicBezTo>
                  <a:cubicBezTo>
                    <a:pt x="1107255" y="238107"/>
                    <a:pt x="859388" y="0"/>
                    <a:pt x="553628" y="0"/>
                  </a:cubicBezTo>
                  <a:close/>
                </a:path>
              </a:pathLst>
            </a:custGeom>
            <a:solidFill>
              <a:srgbClr val="3E72A6"/>
            </a:solidFill>
          </p:spPr>
        </p:sp>
        <p:sp>
          <p:nvSpPr>
            <p:cNvPr id="13" name="TextBox 13"/>
            <p:cNvSpPr txBox="1"/>
            <p:nvPr/>
          </p:nvSpPr>
          <p:spPr>
            <a:xfrm>
              <a:off x="103805" y="71142"/>
              <a:ext cx="899645" cy="892792"/>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8607130" y="2254729"/>
            <a:ext cx="8652170" cy="1556775"/>
            <a:chOff x="0" y="0"/>
            <a:chExt cx="2636241" cy="474336"/>
          </a:xfrm>
        </p:grpSpPr>
        <p:sp>
          <p:nvSpPr>
            <p:cNvPr id="15" name="Freeform 15"/>
            <p:cNvSpPr/>
            <p:nvPr/>
          </p:nvSpPr>
          <p:spPr>
            <a:xfrm>
              <a:off x="0" y="0"/>
              <a:ext cx="2636241" cy="474336"/>
            </a:xfrm>
            <a:custGeom>
              <a:avLst/>
              <a:gdLst/>
              <a:ahLst/>
              <a:cxnLst/>
              <a:rect l="l" t="t" r="r" b="b"/>
              <a:pathLst>
                <a:path w="2636241" h="474336">
                  <a:moveTo>
                    <a:pt x="45635" y="0"/>
                  </a:moveTo>
                  <a:lnTo>
                    <a:pt x="2590606" y="0"/>
                  </a:lnTo>
                  <a:cubicBezTo>
                    <a:pt x="2615809" y="0"/>
                    <a:pt x="2636241" y="20431"/>
                    <a:pt x="2636241" y="45635"/>
                  </a:cubicBezTo>
                  <a:lnTo>
                    <a:pt x="2636241" y="428701"/>
                  </a:lnTo>
                  <a:cubicBezTo>
                    <a:pt x="2636241" y="440804"/>
                    <a:pt x="2631433" y="452411"/>
                    <a:pt x="2622875" y="460970"/>
                  </a:cubicBezTo>
                  <a:cubicBezTo>
                    <a:pt x="2614316" y="469528"/>
                    <a:pt x="2602709" y="474336"/>
                    <a:pt x="2590606" y="474336"/>
                  </a:cubicBezTo>
                  <a:lnTo>
                    <a:pt x="45635" y="474336"/>
                  </a:lnTo>
                  <a:cubicBezTo>
                    <a:pt x="20431" y="474336"/>
                    <a:pt x="0" y="453904"/>
                    <a:pt x="0" y="428701"/>
                  </a:cubicBezTo>
                  <a:lnTo>
                    <a:pt x="0" y="45635"/>
                  </a:lnTo>
                  <a:cubicBezTo>
                    <a:pt x="0" y="20431"/>
                    <a:pt x="20431" y="0"/>
                    <a:pt x="45635" y="0"/>
                  </a:cubicBezTo>
                  <a:close/>
                </a:path>
              </a:pathLst>
            </a:custGeom>
            <a:solidFill>
              <a:srgbClr val="BB830F"/>
            </a:solidFill>
          </p:spPr>
        </p:sp>
        <p:sp>
          <p:nvSpPr>
            <p:cNvPr id="16" name="TextBox 16"/>
            <p:cNvSpPr txBox="1"/>
            <p:nvPr/>
          </p:nvSpPr>
          <p:spPr>
            <a:xfrm>
              <a:off x="0" y="-28575"/>
              <a:ext cx="2636241" cy="502911"/>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793461" y="2440316"/>
            <a:ext cx="8230378" cy="1371188"/>
          </a:xfrm>
          <a:prstGeom prst="rect">
            <a:avLst/>
          </a:prstGeom>
        </p:spPr>
        <p:txBody>
          <a:bodyPr lIns="0" tIns="0" rIns="0" bIns="0" rtlCol="0" anchor="t">
            <a:spAutoFit/>
          </a:bodyPr>
          <a:lstStyle/>
          <a:p>
            <a:pPr algn="l">
              <a:lnSpc>
                <a:spcPts val="2734"/>
              </a:lnSpc>
            </a:pPr>
            <a:r>
              <a:rPr lang="en-US" sz="2463">
                <a:solidFill>
                  <a:srgbClr val="FFFFFF"/>
                </a:solidFill>
                <a:latin typeface="Anton"/>
                <a:ea typeface="Anton"/>
                <a:cs typeface="Anton"/>
                <a:sym typeface="Anton"/>
              </a:rPr>
              <a:t>CREATED FINAL RFM TABLE</a:t>
            </a:r>
          </a:p>
          <a:p>
            <a:pPr marL="531964" lvl="1" indent="-265982" algn="l">
              <a:lnSpc>
                <a:spcPts val="2734"/>
              </a:lnSpc>
              <a:buFont typeface="Arial"/>
              <a:buChar char="•"/>
            </a:pPr>
            <a:r>
              <a:rPr lang="en-US" sz="2463">
                <a:solidFill>
                  <a:srgbClr val="FFFFFF"/>
                </a:solidFill>
                <a:latin typeface="Anton"/>
                <a:ea typeface="Anton"/>
                <a:cs typeface="Anton"/>
                <a:sym typeface="Anton"/>
              </a:rPr>
              <a:t>RESULTED IN </a:t>
            </a:r>
            <a:r>
              <a:rPr lang="en-US" sz="2463">
                <a:solidFill>
                  <a:srgbClr val="000000"/>
                </a:solidFill>
                <a:latin typeface="Anton"/>
                <a:ea typeface="Anton"/>
                <a:cs typeface="Anton"/>
                <a:sym typeface="Anton"/>
              </a:rPr>
              <a:t>4,338 </a:t>
            </a:r>
            <a:r>
              <a:rPr lang="en-US" sz="2463">
                <a:solidFill>
                  <a:srgbClr val="FFFFFF"/>
                </a:solidFill>
                <a:latin typeface="Anton"/>
                <a:ea typeface="Anton"/>
                <a:cs typeface="Anton"/>
                <a:sym typeface="Anton"/>
              </a:rPr>
              <a:t>UNIQUE CUSTOMERS WITH RFM VALUES.</a:t>
            </a:r>
          </a:p>
          <a:p>
            <a:pPr marL="531964" lvl="1" indent="-265982" algn="l">
              <a:lnSpc>
                <a:spcPts val="2734"/>
              </a:lnSpc>
              <a:buFont typeface="Arial"/>
              <a:buChar char="•"/>
            </a:pPr>
            <a:r>
              <a:rPr lang="en-US" sz="2463">
                <a:solidFill>
                  <a:srgbClr val="FFFFFF"/>
                </a:solidFill>
                <a:latin typeface="Anton"/>
                <a:ea typeface="Anton"/>
                <a:cs typeface="Anton"/>
                <a:sym typeface="Anton"/>
              </a:rPr>
              <a:t>THIS DATASET BECAME THE BASE FOR CLUSTERING AND PREDICTION.</a:t>
            </a:r>
          </a:p>
          <a:p>
            <a:pPr algn="l">
              <a:lnSpc>
                <a:spcPts val="2734"/>
              </a:lnSpc>
            </a:pPr>
            <a:endParaRPr lang="en-US" sz="2463">
              <a:solidFill>
                <a:srgbClr val="FFFFFF"/>
              </a:solidFill>
              <a:latin typeface="Anton"/>
              <a:ea typeface="Anton"/>
              <a:cs typeface="Anton"/>
              <a:sym typeface="Anto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2669A"/>
        </a:solidFill>
        <a:effectLst/>
      </p:bgPr>
    </p:bg>
    <p:spTree>
      <p:nvGrpSpPr>
        <p:cNvPr id="1" name=""/>
        <p:cNvGrpSpPr/>
        <p:nvPr/>
      </p:nvGrpSpPr>
      <p:grpSpPr>
        <a:xfrm>
          <a:off x="0" y="0"/>
          <a:ext cx="0" cy="0"/>
          <a:chOff x="0" y="0"/>
          <a:chExt cx="0" cy="0"/>
        </a:xfrm>
      </p:grpSpPr>
      <p:grpSp>
        <p:nvGrpSpPr>
          <p:cNvPr id="2" name="Group 2"/>
          <p:cNvGrpSpPr/>
          <p:nvPr/>
        </p:nvGrpSpPr>
        <p:grpSpPr>
          <a:xfrm>
            <a:off x="528171" y="1407468"/>
            <a:ext cx="9774995" cy="4425067"/>
            <a:chOff x="0" y="0"/>
            <a:chExt cx="2574484" cy="1165450"/>
          </a:xfrm>
        </p:grpSpPr>
        <p:sp>
          <p:nvSpPr>
            <p:cNvPr id="3" name="Freeform 3">
              <a:extLst>
                <a:ext uri="{C183D7F6-B498-43B3-948B-1728B52AA6E4}">
                  <adec:decorative xmlns:adec="http://schemas.microsoft.com/office/drawing/2017/decorative" val="1"/>
                </a:ext>
              </a:extLst>
            </p:cNvPr>
            <p:cNvSpPr/>
            <p:nvPr/>
          </p:nvSpPr>
          <p:spPr>
            <a:xfrm>
              <a:off x="0" y="0"/>
              <a:ext cx="2574484" cy="1165450"/>
            </a:xfrm>
            <a:custGeom>
              <a:avLst/>
              <a:gdLst/>
              <a:ahLst/>
              <a:cxnLst/>
              <a:rect l="l" t="t" r="r" b="b"/>
              <a:pathLst>
                <a:path w="2574484" h="1165450">
                  <a:moveTo>
                    <a:pt x="14256" y="0"/>
                  </a:moveTo>
                  <a:lnTo>
                    <a:pt x="2560228" y="0"/>
                  </a:lnTo>
                  <a:cubicBezTo>
                    <a:pt x="2568102" y="0"/>
                    <a:pt x="2574484" y="6383"/>
                    <a:pt x="2574484" y="14256"/>
                  </a:cubicBezTo>
                  <a:lnTo>
                    <a:pt x="2574484" y="1151194"/>
                  </a:lnTo>
                  <a:cubicBezTo>
                    <a:pt x="2574484" y="1159067"/>
                    <a:pt x="2568102" y="1165450"/>
                    <a:pt x="2560228" y="1165450"/>
                  </a:cubicBezTo>
                  <a:lnTo>
                    <a:pt x="14256" y="1165450"/>
                  </a:lnTo>
                  <a:cubicBezTo>
                    <a:pt x="6383" y="1165450"/>
                    <a:pt x="0" y="1159067"/>
                    <a:pt x="0" y="1151194"/>
                  </a:cubicBezTo>
                  <a:lnTo>
                    <a:pt x="0" y="14256"/>
                  </a:lnTo>
                  <a:cubicBezTo>
                    <a:pt x="0" y="6383"/>
                    <a:pt x="6383" y="0"/>
                    <a:pt x="14256" y="0"/>
                  </a:cubicBezTo>
                  <a:close/>
                </a:path>
              </a:pathLst>
            </a:custGeom>
            <a:solidFill>
              <a:srgbClr val="2E3F42"/>
            </a:solidFill>
          </p:spPr>
        </p:sp>
        <p:sp>
          <p:nvSpPr>
            <p:cNvPr id="4" name="TextBox 4"/>
            <p:cNvSpPr txBox="1"/>
            <p:nvPr/>
          </p:nvSpPr>
          <p:spPr>
            <a:xfrm>
              <a:off x="0" y="-38100"/>
              <a:ext cx="2574484" cy="12035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193892" y="5280368"/>
            <a:ext cx="9446684" cy="4425067"/>
            <a:chOff x="0" y="0"/>
            <a:chExt cx="2488016" cy="1165450"/>
          </a:xfrm>
        </p:grpSpPr>
        <p:sp>
          <p:nvSpPr>
            <p:cNvPr id="6" name="Freeform 6">
              <a:extLst>
                <a:ext uri="{C183D7F6-B498-43B3-948B-1728B52AA6E4}">
                  <adec:decorative xmlns:adec="http://schemas.microsoft.com/office/drawing/2017/decorative" val="1"/>
                </a:ext>
              </a:extLst>
            </p:cNvPr>
            <p:cNvSpPr/>
            <p:nvPr/>
          </p:nvSpPr>
          <p:spPr>
            <a:xfrm>
              <a:off x="0" y="0"/>
              <a:ext cx="2488016" cy="1165450"/>
            </a:xfrm>
            <a:custGeom>
              <a:avLst/>
              <a:gdLst/>
              <a:ahLst/>
              <a:cxnLst/>
              <a:rect l="l" t="t" r="r" b="b"/>
              <a:pathLst>
                <a:path w="2488016" h="1165450">
                  <a:moveTo>
                    <a:pt x="14752" y="0"/>
                  </a:moveTo>
                  <a:lnTo>
                    <a:pt x="2473264" y="0"/>
                  </a:lnTo>
                  <a:cubicBezTo>
                    <a:pt x="2481411" y="0"/>
                    <a:pt x="2488016" y="6605"/>
                    <a:pt x="2488016" y="14752"/>
                  </a:cubicBezTo>
                  <a:lnTo>
                    <a:pt x="2488016" y="1150698"/>
                  </a:lnTo>
                  <a:cubicBezTo>
                    <a:pt x="2488016" y="1158845"/>
                    <a:pt x="2481411" y="1165450"/>
                    <a:pt x="2473264" y="1165450"/>
                  </a:cubicBezTo>
                  <a:lnTo>
                    <a:pt x="14752" y="1165450"/>
                  </a:lnTo>
                  <a:cubicBezTo>
                    <a:pt x="6605" y="1165450"/>
                    <a:pt x="0" y="1158845"/>
                    <a:pt x="0" y="1150698"/>
                  </a:cubicBezTo>
                  <a:lnTo>
                    <a:pt x="0" y="14752"/>
                  </a:lnTo>
                  <a:cubicBezTo>
                    <a:pt x="0" y="6605"/>
                    <a:pt x="6605" y="0"/>
                    <a:pt x="14752" y="0"/>
                  </a:cubicBezTo>
                  <a:close/>
                </a:path>
              </a:pathLst>
            </a:custGeom>
            <a:solidFill>
              <a:srgbClr val="2E3F42"/>
            </a:solidFill>
          </p:spPr>
        </p:sp>
        <p:sp>
          <p:nvSpPr>
            <p:cNvPr id="7" name="TextBox 7"/>
            <p:cNvSpPr txBox="1"/>
            <p:nvPr/>
          </p:nvSpPr>
          <p:spPr>
            <a:xfrm>
              <a:off x="0" y="-38100"/>
              <a:ext cx="2488016" cy="12035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835539" y="1959635"/>
            <a:ext cx="4924589" cy="3320734"/>
            <a:chOff x="0" y="0"/>
            <a:chExt cx="762948" cy="514469"/>
          </a:xfrm>
        </p:grpSpPr>
        <p:sp>
          <p:nvSpPr>
            <p:cNvPr id="9" name="Freeform 9"/>
            <p:cNvSpPr/>
            <p:nvPr/>
          </p:nvSpPr>
          <p:spPr>
            <a:xfrm>
              <a:off x="0" y="0"/>
              <a:ext cx="762948" cy="514469"/>
            </a:xfrm>
            <a:custGeom>
              <a:avLst/>
              <a:gdLst/>
              <a:ahLst/>
              <a:cxnLst/>
              <a:rect l="l" t="t" r="r" b="b"/>
              <a:pathLst>
                <a:path w="762948" h="514469">
                  <a:moveTo>
                    <a:pt x="25154" y="0"/>
                  </a:moveTo>
                  <a:lnTo>
                    <a:pt x="737794" y="0"/>
                  </a:lnTo>
                  <a:cubicBezTo>
                    <a:pt x="751686" y="0"/>
                    <a:pt x="762948" y="11262"/>
                    <a:pt x="762948" y="25154"/>
                  </a:cubicBezTo>
                  <a:lnTo>
                    <a:pt x="762948" y="489315"/>
                  </a:lnTo>
                  <a:cubicBezTo>
                    <a:pt x="762948" y="503207"/>
                    <a:pt x="751686" y="514469"/>
                    <a:pt x="737794" y="514469"/>
                  </a:cubicBezTo>
                  <a:lnTo>
                    <a:pt x="25154" y="514469"/>
                  </a:lnTo>
                  <a:cubicBezTo>
                    <a:pt x="11262" y="514469"/>
                    <a:pt x="0" y="503207"/>
                    <a:pt x="0" y="489315"/>
                  </a:cubicBezTo>
                  <a:lnTo>
                    <a:pt x="0" y="25154"/>
                  </a:lnTo>
                  <a:cubicBezTo>
                    <a:pt x="0" y="11262"/>
                    <a:pt x="11262" y="0"/>
                    <a:pt x="25154" y="0"/>
                  </a:cubicBezTo>
                  <a:close/>
                </a:path>
              </a:pathLst>
            </a:custGeom>
            <a:blipFill>
              <a:blip r:embed="rId2"/>
              <a:stretch>
                <a:fillRect l="-42" r="-42"/>
              </a:stretch>
            </a:blipFill>
          </p:spPr>
        </p:sp>
      </p:grpSp>
      <p:grpSp>
        <p:nvGrpSpPr>
          <p:cNvPr id="10" name="Group 10"/>
          <p:cNvGrpSpPr/>
          <p:nvPr/>
        </p:nvGrpSpPr>
        <p:grpSpPr>
          <a:xfrm>
            <a:off x="12459766" y="5778677"/>
            <a:ext cx="4637772" cy="3320734"/>
            <a:chOff x="0" y="0"/>
            <a:chExt cx="718512" cy="514469"/>
          </a:xfrm>
        </p:grpSpPr>
        <p:sp>
          <p:nvSpPr>
            <p:cNvPr id="11" name="Freeform 11"/>
            <p:cNvSpPr/>
            <p:nvPr/>
          </p:nvSpPr>
          <p:spPr>
            <a:xfrm>
              <a:off x="0" y="0"/>
              <a:ext cx="718512" cy="514469"/>
            </a:xfrm>
            <a:custGeom>
              <a:avLst/>
              <a:gdLst/>
              <a:ahLst/>
              <a:cxnLst/>
              <a:rect l="l" t="t" r="r" b="b"/>
              <a:pathLst>
                <a:path w="718512" h="514469">
                  <a:moveTo>
                    <a:pt x="26709" y="0"/>
                  </a:moveTo>
                  <a:lnTo>
                    <a:pt x="691803" y="0"/>
                  </a:lnTo>
                  <a:cubicBezTo>
                    <a:pt x="698887" y="0"/>
                    <a:pt x="705680" y="2814"/>
                    <a:pt x="710689" y="7823"/>
                  </a:cubicBezTo>
                  <a:cubicBezTo>
                    <a:pt x="715698" y="12832"/>
                    <a:pt x="718512" y="19625"/>
                    <a:pt x="718512" y="26709"/>
                  </a:cubicBezTo>
                  <a:lnTo>
                    <a:pt x="718512" y="487759"/>
                  </a:lnTo>
                  <a:cubicBezTo>
                    <a:pt x="718512" y="494843"/>
                    <a:pt x="715698" y="501637"/>
                    <a:pt x="710689" y="506646"/>
                  </a:cubicBezTo>
                  <a:cubicBezTo>
                    <a:pt x="705680" y="511655"/>
                    <a:pt x="698887" y="514469"/>
                    <a:pt x="691803" y="514469"/>
                  </a:cubicBezTo>
                  <a:lnTo>
                    <a:pt x="26709" y="514469"/>
                  </a:lnTo>
                  <a:cubicBezTo>
                    <a:pt x="19625" y="514469"/>
                    <a:pt x="12832" y="511655"/>
                    <a:pt x="7823" y="506646"/>
                  </a:cubicBezTo>
                  <a:cubicBezTo>
                    <a:pt x="2814" y="501637"/>
                    <a:pt x="0" y="494843"/>
                    <a:pt x="0" y="487759"/>
                  </a:cubicBezTo>
                  <a:lnTo>
                    <a:pt x="0" y="26709"/>
                  </a:lnTo>
                  <a:cubicBezTo>
                    <a:pt x="0" y="19625"/>
                    <a:pt x="2814" y="12832"/>
                    <a:pt x="7823" y="7823"/>
                  </a:cubicBezTo>
                  <a:cubicBezTo>
                    <a:pt x="12832" y="2814"/>
                    <a:pt x="19625" y="0"/>
                    <a:pt x="26709" y="0"/>
                  </a:cubicBezTo>
                  <a:close/>
                </a:path>
              </a:pathLst>
            </a:custGeom>
            <a:blipFill>
              <a:blip r:embed="rId3"/>
              <a:stretch>
                <a:fillRect l="-3136" r="-3136"/>
              </a:stretch>
            </a:blipFill>
          </p:spPr>
        </p:sp>
      </p:grpSp>
      <p:grpSp>
        <p:nvGrpSpPr>
          <p:cNvPr id="12" name="Group 12"/>
          <p:cNvGrpSpPr/>
          <p:nvPr/>
        </p:nvGrpSpPr>
        <p:grpSpPr>
          <a:xfrm>
            <a:off x="1094347" y="1723884"/>
            <a:ext cx="3436392" cy="3792234"/>
            <a:chOff x="0" y="0"/>
            <a:chExt cx="4581856" cy="5056312"/>
          </a:xfrm>
        </p:grpSpPr>
        <p:sp>
          <p:nvSpPr>
            <p:cNvPr id="13" name="TextBox 13"/>
            <p:cNvSpPr txBox="1"/>
            <p:nvPr/>
          </p:nvSpPr>
          <p:spPr>
            <a:xfrm>
              <a:off x="0" y="76200"/>
              <a:ext cx="4581856" cy="1572260"/>
            </a:xfrm>
            <a:prstGeom prst="rect">
              <a:avLst/>
            </a:prstGeom>
          </p:spPr>
          <p:txBody>
            <a:bodyPr lIns="0" tIns="0" rIns="0" bIns="0" rtlCol="0" anchor="t">
              <a:spAutoFit/>
            </a:bodyPr>
            <a:lstStyle/>
            <a:p>
              <a:pPr marL="0" lvl="0" indent="0" algn="l">
                <a:lnSpc>
                  <a:spcPts val="4425"/>
                </a:lnSpc>
              </a:pPr>
              <a:r>
                <a:rPr lang="en-US" sz="4425" spc="-132">
                  <a:solidFill>
                    <a:srgbClr val="F5F5F5"/>
                  </a:solidFill>
                  <a:latin typeface="DM Sans"/>
                  <a:ea typeface="DM Sans"/>
                  <a:cs typeface="DM Sans"/>
                  <a:sym typeface="DM Sans"/>
                </a:rPr>
                <a:t>Extreme Values</a:t>
              </a:r>
            </a:p>
          </p:txBody>
        </p:sp>
        <p:sp>
          <p:nvSpPr>
            <p:cNvPr id="14" name="TextBox 14"/>
            <p:cNvSpPr txBox="1"/>
            <p:nvPr/>
          </p:nvSpPr>
          <p:spPr>
            <a:xfrm>
              <a:off x="0" y="1971708"/>
              <a:ext cx="4347076" cy="3084604"/>
            </a:xfrm>
            <a:prstGeom prst="rect">
              <a:avLst/>
            </a:prstGeom>
          </p:spPr>
          <p:txBody>
            <a:bodyPr lIns="0" tIns="0" rIns="0" bIns="0" rtlCol="0" anchor="t">
              <a:spAutoFit/>
            </a:bodyPr>
            <a:lstStyle/>
            <a:p>
              <a:pPr marL="0" lvl="0" indent="0" algn="l">
                <a:lnSpc>
                  <a:spcPts val="2277"/>
                </a:lnSpc>
              </a:pPr>
              <a:r>
                <a:rPr lang="en-US" sz="1897" u="none" strike="noStrike">
                  <a:solidFill>
                    <a:srgbClr val="F5F5F5"/>
                  </a:solidFill>
                  <a:latin typeface="DM Sans"/>
                  <a:ea typeface="DM Sans"/>
                  <a:cs typeface="DM Sans"/>
                  <a:sym typeface="DM Sans"/>
                </a:rPr>
                <a:t>High Monetary and Frequency outliers indicate vital customer segments.Few customers generate significant revenue spikes.High-frequency customers drive significant sales growth.</a:t>
              </a:r>
            </a:p>
          </p:txBody>
        </p:sp>
      </p:grpSp>
      <p:grpSp>
        <p:nvGrpSpPr>
          <p:cNvPr id="15" name="Group 15"/>
          <p:cNvGrpSpPr/>
          <p:nvPr/>
        </p:nvGrpSpPr>
        <p:grpSpPr>
          <a:xfrm>
            <a:off x="8760068" y="5768612"/>
            <a:ext cx="3436392" cy="3307067"/>
            <a:chOff x="0" y="0"/>
            <a:chExt cx="4581856" cy="4409423"/>
          </a:xfrm>
        </p:grpSpPr>
        <p:sp>
          <p:nvSpPr>
            <p:cNvPr id="16" name="TextBox 16"/>
            <p:cNvSpPr txBox="1"/>
            <p:nvPr/>
          </p:nvSpPr>
          <p:spPr>
            <a:xfrm>
              <a:off x="0" y="76200"/>
              <a:ext cx="4581856" cy="1572260"/>
            </a:xfrm>
            <a:prstGeom prst="rect">
              <a:avLst/>
            </a:prstGeom>
          </p:spPr>
          <p:txBody>
            <a:bodyPr lIns="0" tIns="0" rIns="0" bIns="0" rtlCol="0" anchor="t">
              <a:spAutoFit/>
            </a:bodyPr>
            <a:lstStyle/>
            <a:p>
              <a:pPr marL="0" lvl="0" indent="0" algn="l">
                <a:lnSpc>
                  <a:spcPts val="4425"/>
                </a:lnSpc>
              </a:pPr>
              <a:r>
                <a:rPr lang="en-US" sz="4425" spc="-132">
                  <a:solidFill>
                    <a:srgbClr val="F5F5F5"/>
                  </a:solidFill>
                  <a:latin typeface="DM Sans"/>
                  <a:ea typeface="DM Sans"/>
                  <a:cs typeface="DM Sans"/>
                  <a:sym typeface="DM Sans"/>
                </a:rPr>
                <a:t>Right-Skewed Distribution</a:t>
              </a:r>
            </a:p>
          </p:txBody>
        </p:sp>
        <p:sp>
          <p:nvSpPr>
            <p:cNvPr id="17" name="TextBox 17"/>
            <p:cNvSpPr txBox="1"/>
            <p:nvPr/>
          </p:nvSpPr>
          <p:spPr>
            <a:xfrm>
              <a:off x="0" y="1961498"/>
              <a:ext cx="4581856" cy="2447925"/>
            </a:xfrm>
            <a:prstGeom prst="rect">
              <a:avLst/>
            </a:prstGeom>
          </p:spPr>
          <p:txBody>
            <a:bodyPr lIns="0" tIns="0" rIns="0" bIns="0" rtlCol="0" anchor="t">
              <a:spAutoFit/>
            </a:bodyPr>
            <a:lstStyle/>
            <a:p>
              <a:pPr marL="0" lvl="0" indent="0" algn="l">
                <a:lnSpc>
                  <a:spcPts val="2400"/>
                </a:lnSpc>
              </a:pPr>
              <a:r>
                <a:rPr lang="en-US" sz="2000" u="none" strike="noStrike">
                  <a:solidFill>
                    <a:srgbClr val="F5F5F5"/>
                  </a:solidFill>
                  <a:latin typeface="DM Sans"/>
                  <a:ea typeface="DM Sans"/>
                  <a:cs typeface="DM Sans"/>
                  <a:sym typeface="DM Sans"/>
                </a:rPr>
                <a:t>The distribution showcases high-spending customers, affecting overall RFM analysis.Slight right skew indicates customer engagement levels.</a:t>
              </a:r>
            </a:p>
          </p:txBody>
        </p:sp>
      </p:grpSp>
      <p:grpSp>
        <p:nvGrpSpPr>
          <p:cNvPr id="18" name="Group 18"/>
          <p:cNvGrpSpPr/>
          <p:nvPr/>
        </p:nvGrpSpPr>
        <p:grpSpPr>
          <a:xfrm>
            <a:off x="14277975" y="1720951"/>
            <a:ext cx="3537700" cy="1390650"/>
            <a:chOff x="0" y="0"/>
            <a:chExt cx="4716933" cy="1854200"/>
          </a:xfrm>
        </p:grpSpPr>
        <p:sp>
          <p:nvSpPr>
            <p:cNvPr id="19" name="TextBox 19"/>
            <p:cNvSpPr txBox="1"/>
            <p:nvPr/>
          </p:nvSpPr>
          <p:spPr>
            <a:xfrm>
              <a:off x="0" y="0"/>
              <a:ext cx="4716933" cy="647700"/>
            </a:xfrm>
            <a:prstGeom prst="rect">
              <a:avLst/>
            </a:prstGeom>
          </p:spPr>
          <p:txBody>
            <a:bodyPr lIns="0" tIns="0" rIns="0" bIns="0" rtlCol="0" anchor="t">
              <a:spAutoFit/>
            </a:bodyPr>
            <a:lstStyle/>
            <a:p>
              <a:pPr marL="0" lvl="0" indent="0" algn="l">
                <a:lnSpc>
                  <a:spcPts val="3840"/>
                </a:lnSpc>
                <a:spcBef>
                  <a:spcPct val="0"/>
                </a:spcBef>
              </a:pPr>
              <a:r>
                <a:rPr lang="en-US" sz="3200" b="1">
                  <a:solidFill>
                    <a:srgbClr val="F0F4F8"/>
                  </a:solidFill>
                  <a:latin typeface="Georgia Pro Condensed Bold"/>
                  <a:ea typeface="Georgia Pro Condensed Bold"/>
                  <a:cs typeface="Georgia Pro Condensed Bold"/>
                  <a:sym typeface="Georgia Pro Condensed Bold"/>
                </a:rPr>
                <a:t>Outliers</a:t>
              </a:r>
            </a:p>
          </p:txBody>
        </p:sp>
        <p:sp>
          <p:nvSpPr>
            <p:cNvPr id="20" name="TextBox 20"/>
            <p:cNvSpPr txBox="1"/>
            <p:nvPr/>
          </p:nvSpPr>
          <p:spPr>
            <a:xfrm>
              <a:off x="0" y="887095"/>
              <a:ext cx="4716933" cy="967105"/>
            </a:xfrm>
            <a:prstGeom prst="rect">
              <a:avLst/>
            </a:prstGeom>
          </p:spPr>
          <p:txBody>
            <a:bodyPr lIns="0" tIns="0" rIns="0" bIns="0" rtlCol="0" anchor="t">
              <a:spAutoFit/>
            </a:bodyPr>
            <a:lstStyle/>
            <a:p>
              <a:pPr marL="0" lvl="0" indent="0" algn="l">
                <a:lnSpc>
                  <a:spcPts val="2940"/>
                </a:lnSpc>
                <a:spcBef>
                  <a:spcPct val="0"/>
                </a:spcBef>
              </a:pPr>
              <a:r>
                <a:rPr lang="en-US" sz="2100">
                  <a:solidFill>
                    <a:srgbClr val="F0F4F8"/>
                  </a:solidFill>
                  <a:latin typeface="TT Interphases"/>
                  <a:ea typeface="TT Interphases"/>
                  <a:cs typeface="TT Interphases"/>
                  <a:sym typeface="TT Interphases"/>
                </a:rPr>
                <a:t>Higher-value outliers show significant customer interest.</a:t>
              </a:r>
            </a:p>
          </p:txBody>
        </p:sp>
      </p:grpSp>
      <p:sp>
        <p:nvSpPr>
          <p:cNvPr id="21" name="TextBox 21"/>
          <p:cNvSpPr txBox="1"/>
          <p:nvPr/>
        </p:nvSpPr>
        <p:spPr>
          <a:xfrm>
            <a:off x="5152367" y="111309"/>
            <a:ext cx="7993287" cy="1102772"/>
          </a:xfrm>
          <a:prstGeom prst="rect">
            <a:avLst/>
          </a:prstGeom>
        </p:spPr>
        <p:txBody>
          <a:bodyPr lIns="0" tIns="0" rIns="0" bIns="0" rtlCol="0" anchor="t">
            <a:spAutoFit/>
          </a:bodyPr>
          <a:lstStyle/>
          <a:p>
            <a:pPr marL="0" lvl="0" indent="0" algn="l">
              <a:lnSpc>
                <a:spcPts val="8394"/>
              </a:lnSpc>
            </a:pPr>
            <a:r>
              <a:rPr lang="en-US" sz="7631">
                <a:solidFill>
                  <a:srgbClr val="F5F6F7"/>
                </a:solidFill>
                <a:latin typeface="Georgia Pro Light"/>
                <a:ea typeface="Georgia Pro Light"/>
                <a:cs typeface="Georgia Pro Light"/>
                <a:sym typeface="Georgia Pro Light"/>
              </a:rPr>
              <a:t>Outlier observation</a:t>
            </a:r>
          </a:p>
        </p:txBody>
      </p:sp>
      <p:grpSp>
        <p:nvGrpSpPr>
          <p:cNvPr id="22" name="Group 22"/>
          <p:cNvGrpSpPr/>
          <p:nvPr/>
        </p:nvGrpSpPr>
        <p:grpSpPr>
          <a:xfrm>
            <a:off x="10454754" y="1723884"/>
            <a:ext cx="4010025" cy="1390650"/>
            <a:chOff x="0" y="0"/>
            <a:chExt cx="5346700" cy="1854200"/>
          </a:xfrm>
        </p:grpSpPr>
        <p:sp>
          <p:nvSpPr>
            <p:cNvPr id="23" name="TextBox 23"/>
            <p:cNvSpPr txBox="1"/>
            <p:nvPr/>
          </p:nvSpPr>
          <p:spPr>
            <a:xfrm>
              <a:off x="0" y="0"/>
              <a:ext cx="5346700" cy="647700"/>
            </a:xfrm>
            <a:prstGeom prst="rect">
              <a:avLst/>
            </a:prstGeom>
          </p:spPr>
          <p:txBody>
            <a:bodyPr lIns="0" tIns="0" rIns="0" bIns="0" rtlCol="0" anchor="t">
              <a:spAutoFit/>
            </a:bodyPr>
            <a:lstStyle/>
            <a:p>
              <a:pPr marL="0" lvl="0" indent="0" algn="l">
                <a:lnSpc>
                  <a:spcPts val="3840"/>
                </a:lnSpc>
                <a:spcBef>
                  <a:spcPct val="0"/>
                </a:spcBef>
              </a:pPr>
              <a:r>
                <a:rPr lang="en-US" sz="3200" b="1">
                  <a:solidFill>
                    <a:srgbClr val="F0F4F8"/>
                  </a:solidFill>
                  <a:latin typeface="Georgia Pro Condensed Bold"/>
                  <a:ea typeface="Georgia Pro Condensed Bold"/>
                  <a:cs typeface="Georgia Pro Condensed Bold"/>
                  <a:sym typeface="Georgia Pro Condensed Bold"/>
                </a:rPr>
                <a:t>Retention</a:t>
              </a:r>
            </a:p>
          </p:txBody>
        </p:sp>
        <p:sp>
          <p:nvSpPr>
            <p:cNvPr id="24" name="TextBox 24"/>
            <p:cNvSpPr txBox="1"/>
            <p:nvPr/>
          </p:nvSpPr>
          <p:spPr>
            <a:xfrm>
              <a:off x="0" y="887095"/>
              <a:ext cx="5346700" cy="967105"/>
            </a:xfrm>
            <a:prstGeom prst="rect">
              <a:avLst/>
            </a:prstGeom>
          </p:spPr>
          <p:txBody>
            <a:bodyPr lIns="0" tIns="0" rIns="0" bIns="0" rtlCol="0" anchor="t">
              <a:spAutoFit/>
            </a:bodyPr>
            <a:lstStyle/>
            <a:p>
              <a:pPr marL="0" lvl="0" indent="0" algn="l">
                <a:lnSpc>
                  <a:spcPts val="2940"/>
                </a:lnSpc>
                <a:spcBef>
                  <a:spcPct val="0"/>
                </a:spcBef>
              </a:pPr>
              <a:r>
                <a:rPr lang="en-US" sz="2100">
                  <a:solidFill>
                    <a:srgbClr val="F0F4F8"/>
                  </a:solidFill>
                  <a:latin typeface="TT Interphases"/>
                  <a:ea typeface="TT Interphases"/>
                  <a:cs typeface="TT Interphases"/>
                  <a:sym typeface="TT Interphases"/>
                </a:rPr>
                <a:t>Consistent purchases indicate strong customer loyalty.</a:t>
              </a:r>
            </a:p>
          </p:txBody>
        </p:sp>
      </p:grpSp>
      <p:grpSp>
        <p:nvGrpSpPr>
          <p:cNvPr id="25" name="Group 25"/>
          <p:cNvGrpSpPr/>
          <p:nvPr/>
        </p:nvGrpSpPr>
        <p:grpSpPr>
          <a:xfrm>
            <a:off x="10454754" y="3502126"/>
            <a:ext cx="6616750" cy="1390650"/>
            <a:chOff x="0" y="0"/>
            <a:chExt cx="8822334" cy="1854200"/>
          </a:xfrm>
        </p:grpSpPr>
        <p:sp>
          <p:nvSpPr>
            <p:cNvPr id="26" name="TextBox 26"/>
            <p:cNvSpPr txBox="1"/>
            <p:nvPr/>
          </p:nvSpPr>
          <p:spPr>
            <a:xfrm>
              <a:off x="0" y="0"/>
              <a:ext cx="2015118" cy="647700"/>
            </a:xfrm>
            <a:prstGeom prst="rect">
              <a:avLst/>
            </a:prstGeom>
          </p:spPr>
          <p:txBody>
            <a:bodyPr lIns="0" tIns="0" rIns="0" bIns="0" rtlCol="0" anchor="t">
              <a:spAutoFit/>
            </a:bodyPr>
            <a:lstStyle/>
            <a:p>
              <a:pPr marL="0" lvl="0" indent="0" algn="l">
                <a:lnSpc>
                  <a:spcPts val="3840"/>
                </a:lnSpc>
                <a:spcBef>
                  <a:spcPct val="0"/>
                </a:spcBef>
              </a:pPr>
              <a:r>
                <a:rPr lang="en-US" sz="3200" b="1">
                  <a:solidFill>
                    <a:srgbClr val="F0F4F8"/>
                  </a:solidFill>
                  <a:latin typeface="Georgia Pro Condensed Bold"/>
                  <a:ea typeface="Georgia Pro Condensed Bold"/>
                  <a:cs typeface="Georgia Pro Condensed Bold"/>
                  <a:sym typeface="Georgia Pro Condensed Bold"/>
                </a:rPr>
                <a:t>Trends</a:t>
              </a:r>
            </a:p>
          </p:txBody>
        </p:sp>
        <p:sp>
          <p:nvSpPr>
            <p:cNvPr id="27" name="TextBox 27"/>
            <p:cNvSpPr txBox="1"/>
            <p:nvPr/>
          </p:nvSpPr>
          <p:spPr>
            <a:xfrm>
              <a:off x="0" y="887095"/>
              <a:ext cx="8822334" cy="967105"/>
            </a:xfrm>
            <a:prstGeom prst="rect">
              <a:avLst/>
            </a:prstGeom>
          </p:spPr>
          <p:txBody>
            <a:bodyPr lIns="0" tIns="0" rIns="0" bIns="0" rtlCol="0" anchor="t">
              <a:spAutoFit/>
            </a:bodyPr>
            <a:lstStyle/>
            <a:p>
              <a:pPr marL="0" lvl="0" indent="0" algn="l">
                <a:lnSpc>
                  <a:spcPts val="2940"/>
                </a:lnSpc>
                <a:spcBef>
                  <a:spcPct val="0"/>
                </a:spcBef>
              </a:pPr>
              <a:r>
                <a:rPr lang="en-US" sz="2100">
                  <a:solidFill>
                    <a:srgbClr val="F0F4F8"/>
                  </a:solidFill>
                  <a:latin typeface="TT Interphases"/>
                  <a:ea typeface="TT Interphases"/>
                  <a:cs typeface="TT Interphases"/>
                  <a:sym typeface="TT Interphases"/>
                </a:rPr>
                <a:t>Majority of customers spend </a:t>
              </a:r>
              <a:r>
                <a:rPr lang="en-US" sz="2100" b="1">
                  <a:solidFill>
                    <a:srgbClr val="F0F4F8"/>
                  </a:solidFill>
                  <a:latin typeface="TT Interphases Bold"/>
                  <a:ea typeface="TT Interphases Bold"/>
                  <a:cs typeface="TT Interphases Bold"/>
                  <a:sym typeface="TT Interphases Bold"/>
                </a:rPr>
                <a:t>small amounts regularly.</a:t>
              </a:r>
            </a:p>
            <a:p>
              <a:pPr marL="0" lvl="0" indent="0" algn="l">
                <a:lnSpc>
                  <a:spcPts val="2940"/>
                </a:lnSpc>
                <a:spcBef>
                  <a:spcPct val="0"/>
                </a:spcBef>
              </a:pPr>
              <a:r>
                <a:rPr lang="en-US" sz="2100">
                  <a:solidFill>
                    <a:srgbClr val="F0F4F8"/>
                  </a:solidFill>
                  <a:latin typeface="TT Interphases"/>
                  <a:ea typeface="TT Interphases"/>
                  <a:cs typeface="TT Interphases"/>
                  <a:sym typeface="TT Interphases"/>
                </a:rPr>
                <a:t>Very few customers spend extremely high amounts.</a:t>
              </a:r>
            </a:p>
          </p:txBody>
        </p:sp>
      </p:grpSp>
      <p:grpSp>
        <p:nvGrpSpPr>
          <p:cNvPr id="28" name="Group 28"/>
          <p:cNvGrpSpPr/>
          <p:nvPr/>
        </p:nvGrpSpPr>
        <p:grpSpPr>
          <a:xfrm>
            <a:off x="678502" y="6229611"/>
            <a:ext cx="6783177" cy="3783524"/>
            <a:chOff x="0" y="0"/>
            <a:chExt cx="9044236" cy="5044699"/>
          </a:xfrm>
        </p:grpSpPr>
        <p:sp>
          <p:nvSpPr>
            <p:cNvPr id="29" name="TextBox 29"/>
            <p:cNvSpPr txBox="1"/>
            <p:nvPr/>
          </p:nvSpPr>
          <p:spPr>
            <a:xfrm>
              <a:off x="0" y="0"/>
              <a:ext cx="8822334" cy="647700"/>
            </a:xfrm>
            <a:prstGeom prst="rect">
              <a:avLst/>
            </a:prstGeom>
          </p:spPr>
          <p:txBody>
            <a:bodyPr lIns="0" tIns="0" rIns="0" bIns="0" rtlCol="0" anchor="t">
              <a:spAutoFit/>
            </a:bodyPr>
            <a:lstStyle/>
            <a:p>
              <a:pPr marL="0" lvl="0" indent="0" algn="l">
                <a:lnSpc>
                  <a:spcPts val="3840"/>
                </a:lnSpc>
                <a:spcBef>
                  <a:spcPct val="0"/>
                </a:spcBef>
              </a:pPr>
              <a:r>
                <a:rPr lang="en-US" sz="3200" b="1">
                  <a:solidFill>
                    <a:srgbClr val="F0F4F8"/>
                  </a:solidFill>
                  <a:latin typeface="Georgia Pro Condensed Bold"/>
                  <a:ea typeface="Georgia Pro Condensed Bold"/>
                  <a:cs typeface="Georgia Pro Condensed Bold"/>
                  <a:sym typeface="Georgia Pro Condensed Bold"/>
                </a:rPr>
                <a:t>💡 Why We Retained the Outliers</a:t>
              </a:r>
            </a:p>
          </p:txBody>
        </p:sp>
        <p:sp>
          <p:nvSpPr>
            <p:cNvPr id="30" name="TextBox 30"/>
            <p:cNvSpPr txBox="1"/>
            <p:nvPr/>
          </p:nvSpPr>
          <p:spPr>
            <a:xfrm>
              <a:off x="0" y="824266"/>
              <a:ext cx="9044236" cy="4220433"/>
            </a:xfrm>
            <a:prstGeom prst="rect">
              <a:avLst/>
            </a:prstGeom>
          </p:spPr>
          <p:txBody>
            <a:bodyPr lIns="0" tIns="0" rIns="0" bIns="0" rtlCol="0" anchor="t">
              <a:spAutoFit/>
            </a:bodyPr>
            <a:lstStyle/>
            <a:p>
              <a:pPr marL="0" lvl="0" indent="0" algn="l">
                <a:lnSpc>
                  <a:spcPts val="2809"/>
                </a:lnSpc>
                <a:spcBef>
                  <a:spcPct val="0"/>
                </a:spcBef>
              </a:pPr>
              <a:r>
                <a:rPr lang="en-US" sz="2006">
                  <a:solidFill>
                    <a:srgbClr val="F0F4F8"/>
                  </a:solidFill>
                  <a:latin typeface="TT Interphases"/>
                  <a:ea typeface="TT Interphases"/>
                  <a:cs typeface="TT Interphases"/>
                  <a:sym typeface="TT Interphases"/>
                </a:rPr>
                <a:t>These extreme values represent high-value or VIP customers, not data errors.</a:t>
              </a:r>
            </a:p>
            <a:p>
              <a:pPr marL="0" lvl="0" indent="0" algn="l">
                <a:lnSpc>
                  <a:spcPts val="2809"/>
                </a:lnSpc>
                <a:spcBef>
                  <a:spcPct val="0"/>
                </a:spcBef>
              </a:pPr>
              <a:r>
                <a:rPr lang="en-US" sz="2006">
                  <a:solidFill>
                    <a:srgbClr val="F0F4F8"/>
                  </a:solidFill>
                  <a:latin typeface="TT Interphases"/>
                  <a:ea typeface="TT Interphases"/>
                  <a:cs typeface="TT Interphases"/>
                  <a:sym typeface="TT Interphases"/>
                </a:rPr>
                <a:t>Removing them would eliminate important business segments.</a:t>
              </a:r>
            </a:p>
            <a:p>
              <a:pPr marL="0" lvl="0" indent="0" algn="l">
                <a:lnSpc>
                  <a:spcPts val="2809"/>
                </a:lnSpc>
                <a:spcBef>
                  <a:spcPct val="0"/>
                </a:spcBef>
              </a:pPr>
              <a:r>
                <a:rPr lang="en-US" sz="2006">
                  <a:solidFill>
                    <a:srgbClr val="F0F4F8"/>
                  </a:solidFill>
                  <a:latin typeface="TT Interphases"/>
                  <a:ea typeface="TT Interphases"/>
                  <a:cs typeface="TT Interphases"/>
                  <a:sym typeface="TT Interphases"/>
                </a:rPr>
                <a:t> Customer segmentation aims to identify valuable customers, including extreme spenders.</a:t>
              </a:r>
            </a:p>
            <a:p>
              <a:pPr marL="0" lvl="0" indent="0" algn="l">
                <a:lnSpc>
                  <a:spcPts val="2809"/>
                </a:lnSpc>
                <a:spcBef>
                  <a:spcPct val="0"/>
                </a:spcBef>
              </a:pPr>
              <a:r>
                <a:rPr lang="en-US" sz="2006">
                  <a:solidFill>
                    <a:srgbClr val="F0F4F8"/>
                  </a:solidFill>
                  <a:latin typeface="TT Interphases"/>
                  <a:ea typeface="TT Interphases"/>
                  <a:cs typeface="TT Interphases"/>
                  <a:sym typeface="TT Interphases"/>
                </a:rPr>
                <a:t> High monetary value is a real behavioral characteristic in e-commerce data.</a:t>
              </a:r>
            </a:p>
            <a:p>
              <a:pPr marL="0" lvl="0" indent="0" algn="l">
                <a:lnSpc>
                  <a:spcPts val="2809"/>
                </a:lnSpc>
                <a:spcBef>
                  <a:spcPct val="0"/>
                </a:spcBef>
              </a:pPr>
              <a:r>
                <a:rPr lang="en-US" sz="2006">
                  <a:solidFill>
                    <a:srgbClr val="F0F4F8"/>
                  </a:solidFill>
                  <a:latin typeface="TT Interphases"/>
                  <a:ea typeface="TT Interphases"/>
                  <a:cs typeface="TT Interphases"/>
                  <a:sym typeface="TT Interphases"/>
                </a:rPr>
                <a:t>Therefore outiers were not removed from the dataset</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51B25"/>
        </a:solidFill>
        <a:effectLst/>
      </p:bgPr>
    </p:bg>
    <p:spTree>
      <p:nvGrpSpPr>
        <p:cNvPr id="1" name=""/>
        <p:cNvGrpSpPr/>
        <p:nvPr/>
      </p:nvGrpSpPr>
      <p:grpSpPr>
        <a:xfrm>
          <a:off x="0" y="0"/>
          <a:ext cx="0" cy="0"/>
          <a:chOff x="0" y="0"/>
          <a:chExt cx="0" cy="0"/>
        </a:xfrm>
      </p:grpSpPr>
      <p:sp>
        <p:nvSpPr>
          <p:cNvPr id="2" name="AutoShape 2"/>
          <p:cNvSpPr/>
          <p:nvPr/>
        </p:nvSpPr>
        <p:spPr>
          <a:xfrm flipV="1">
            <a:off x="666750" y="5148262"/>
            <a:ext cx="5753100" cy="0"/>
          </a:xfrm>
          <a:prstGeom prst="line">
            <a:avLst/>
          </a:prstGeom>
          <a:ln w="9525" cap="flat">
            <a:solidFill>
              <a:srgbClr val="F0F4F8"/>
            </a:solidFill>
            <a:prstDash val="solid"/>
            <a:headEnd type="none" w="sm" len="sm"/>
            <a:tailEnd type="none" w="sm" len="sm"/>
          </a:ln>
        </p:spPr>
      </p:sp>
      <p:sp>
        <p:nvSpPr>
          <p:cNvPr id="3" name="TextBox 3"/>
          <p:cNvSpPr txBox="1"/>
          <p:nvPr/>
        </p:nvSpPr>
        <p:spPr>
          <a:xfrm>
            <a:off x="666750" y="619117"/>
            <a:ext cx="8923353" cy="4524383"/>
          </a:xfrm>
          <a:prstGeom prst="rect">
            <a:avLst/>
          </a:prstGeom>
        </p:spPr>
        <p:txBody>
          <a:bodyPr lIns="0" tIns="0" rIns="0" bIns="0" rtlCol="0" anchor="t">
            <a:spAutoFit/>
          </a:bodyPr>
          <a:lstStyle/>
          <a:p>
            <a:pPr marL="0" lvl="0" indent="0" algn="l">
              <a:lnSpc>
                <a:spcPts val="4492"/>
              </a:lnSpc>
            </a:pPr>
            <a:r>
              <a:rPr lang="en-US" sz="3209" b="1">
                <a:solidFill>
                  <a:srgbClr val="F0F4F8"/>
                </a:solidFill>
                <a:latin typeface="TT Interphases Bold"/>
                <a:ea typeface="TT Interphases Bold"/>
                <a:cs typeface="TT Interphases Bold"/>
                <a:sym typeface="TT Interphases Bold"/>
              </a:rPr>
              <a:t>🔹 Feature Scaling</a:t>
            </a:r>
          </a:p>
          <a:p>
            <a:pPr marL="0" lvl="0" indent="0" algn="l">
              <a:lnSpc>
                <a:spcPts val="2856"/>
              </a:lnSpc>
            </a:pPr>
            <a:r>
              <a:rPr lang="en-US" sz="2040">
                <a:solidFill>
                  <a:srgbClr val="F0F4F8"/>
                </a:solidFill>
                <a:latin typeface="TT Interphases"/>
                <a:ea typeface="TT Interphases"/>
                <a:cs typeface="TT Interphases"/>
                <a:sym typeface="TT Interphases"/>
              </a:rPr>
              <a:t>Why Scaling Was Required</a:t>
            </a:r>
          </a:p>
          <a:p>
            <a:pPr marL="440504" lvl="1" indent="-220252" algn="l">
              <a:lnSpc>
                <a:spcPts val="2856"/>
              </a:lnSpc>
              <a:buFont typeface="Arial"/>
              <a:buChar char="•"/>
            </a:pPr>
            <a:r>
              <a:rPr lang="en-US" sz="2040">
                <a:solidFill>
                  <a:srgbClr val="F0F4F8"/>
                </a:solidFill>
                <a:latin typeface="TT Interphases"/>
                <a:ea typeface="TT Interphases"/>
                <a:cs typeface="TT Interphases"/>
                <a:sym typeface="TT Interphases"/>
              </a:rPr>
              <a:t>RFM features are on different scales:</a:t>
            </a:r>
          </a:p>
          <a:p>
            <a:pPr marL="881008" lvl="2" indent="-293669" algn="l">
              <a:lnSpc>
                <a:spcPts val="2856"/>
              </a:lnSpc>
              <a:buFont typeface="Arial"/>
              <a:buChar char="⚬"/>
            </a:pPr>
            <a:r>
              <a:rPr lang="en-US" sz="2040">
                <a:solidFill>
                  <a:srgbClr val="F0F4F8"/>
                </a:solidFill>
                <a:latin typeface="TT Interphases"/>
                <a:ea typeface="TT Interphases"/>
                <a:cs typeface="TT Interphases"/>
                <a:sym typeface="TT Interphases"/>
              </a:rPr>
              <a:t>Recency → Days</a:t>
            </a:r>
          </a:p>
          <a:p>
            <a:pPr marL="881008" lvl="2" indent="-293669" algn="l">
              <a:lnSpc>
                <a:spcPts val="2856"/>
              </a:lnSpc>
              <a:buFont typeface="Arial"/>
              <a:buChar char="⚬"/>
            </a:pPr>
            <a:r>
              <a:rPr lang="en-US" sz="2040">
                <a:solidFill>
                  <a:srgbClr val="F0F4F8"/>
                </a:solidFill>
                <a:latin typeface="TT Interphases"/>
                <a:ea typeface="TT Interphases"/>
                <a:cs typeface="TT Interphases"/>
                <a:sym typeface="TT Interphases"/>
              </a:rPr>
              <a:t>Frequency → Count</a:t>
            </a:r>
          </a:p>
          <a:p>
            <a:pPr marL="881008" lvl="2" indent="-293669" algn="l">
              <a:lnSpc>
                <a:spcPts val="2856"/>
              </a:lnSpc>
              <a:buFont typeface="Arial"/>
              <a:buChar char="⚬"/>
            </a:pPr>
            <a:r>
              <a:rPr lang="en-US" sz="2040">
                <a:solidFill>
                  <a:srgbClr val="F0F4F8"/>
                </a:solidFill>
                <a:latin typeface="TT Interphases"/>
                <a:ea typeface="TT Interphases"/>
                <a:cs typeface="TT Interphases"/>
                <a:sym typeface="TT Interphases"/>
              </a:rPr>
              <a:t>Monetary → Currency</a:t>
            </a:r>
          </a:p>
          <a:p>
            <a:pPr marL="440504" lvl="1" indent="-220252" algn="l">
              <a:lnSpc>
                <a:spcPts val="2856"/>
              </a:lnSpc>
              <a:buFont typeface="Arial"/>
              <a:buChar char="•"/>
            </a:pPr>
            <a:r>
              <a:rPr lang="en-US" sz="2040">
                <a:solidFill>
                  <a:srgbClr val="F0F4F8"/>
                </a:solidFill>
                <a:latin typeface="TT Interphases"/>
                <a:ea typeface="TT Interphases"/>
                <a:cs typeface="TT Interphases"/>
                <a:sym typeface="TT Interphases"/>
              </a:rPr>
              <a:t>Monetary had very large magnitude.</a:t>
            </a:r>
          </a:p>
          <a:p>
            <a:pPr marL="440504" lvl="1" indent="-220252" algn="l">
              <a:lnSpc>
                <a:spcPts val="2856"/>
              </a:lnSpc>
              <a:buFont typeface="Arial"/>
              <a:buChar char="•"/>
            </a:pPr>
            <a:r>
              <a:rPr lang="en-US" sz="2040">
                <a:solidFill>
                  <a:srgbClr val="F0F4F8"/>
                </a:solidFill>
                <a:latin typeface="TT Interphases"/>
                <a:ea typeface="TT Interphases"/>
                <a:cs typeface="TT Interphases"/>
                <a:sym typeface="TT Interphases"/>
              </a:rPr>
              <a:t>Distance-based algorithms (K-Means, Hierarchical) are sensitive to scale.</a:t>
            </a:r>
          </a:p>
          <a:p>
            <a:pPr marL="0" lvl="0" indent="0" algn="l">
              <a:lnSpc>
                <a:spcPts val="2856"/>
              </a:lnSpc>
            </a:pPr>
            <a:r>
              <a:rPr lang="en-US" sz="2040">
                <a:solidFill>
                  <a:srgbClr val="F0F4F8"/>
                </a:solidFill>
                <a:latin typeface="TT Interphases"/>
                <a:ea typeface="TT Interphases"/>
                <a:cs typeface="TT Interphases"/>
                <a:sym typeface="TT Interphases"/>
              </a:rPr>
              <a:t>–  Action Taken:</a:t>
            </a:r>
          </a:p>
          <a:p>
            <a:pPr marL="440504" lvl="1" indent="-220252" algn="l">
              <a:lnSpc>
                <a:spcPts val="2856"/>
              </a:lnSpc>
              <a:buFont typeface="Arial"/>
              <a:buChar char="•"/>
            </a:pPr>
            <a:r>
              <a:rPr lang="en-US" sz="2040">
                <a:solidFill>
                  <a:srgbClr val="F0F4F8"/>
                </a:solidFill>
                <a:latin typeface="TT Interphases"/>
                <a:ea typeface="TT Interphases"/>
                <a:cs typeface="TT Interphases"/>
                <a:sym typeface="TT Interphases"/>
              </a:rPr>
              <a:t>Applied StandardScaler</a:t>
            </a:r>
          </a:p>
          <a:p>
            <a:pPr marL="440504" lvl="1" indent="-220252" algn="l">
              <a:lnSpc>
                <a:spcPts val="2856"/>
              </a:lnSpc>
              <a:buFont typeface="Arial"/>
              <a:buChar char="•"/>
            </a:pPr>
            <a:r>
              <a:rPr lang="en-US" sz="2040">
                <a:solidFill>
                  <a:srgbClr val="F0F4F8"/>
                </a:solidFill>
                <a:latin typeface="TT Interphases"/>
                <a:ea typeface="TT Interphases"/>
                <a:cs typeface="TT Interphases"/>
                <a:sym typeface="TT Interphases"/>
              </a:rPr>
              <a:t>Ensured equal contribution of all features</a:t>
            </a:r>
          </a:p>
          <a:p>
            <a:pPr marL="0" lvl="0" indent="0" algn="l">
              <a:lnSpc>
                <a:spcPts val="2856"/>
              </a:lnSpc>
            </a:pPr>
            <a:endParaRPr lang="en-US" sz="2040">
              <a:solidFill>
                <a:srgbClr val="F0F4F8"/>
              </a:solidFill>
              <a:latin typeface="TT Interphases"/>
              <a:ea typeface="TT Interphases"/>
              <a:cs typeface="TT Interphases"/>
              <a:sym typeface="TT Interphases"/>
            </a:endParaRPr>
          </a:p>
        </p:txBody>
      </p:sp>
      <p:sp>
        <p:nvSpPr>
          <p:cNvPr id="4" name="Freeform 4"/>
          <p:cNvSpPr/>
          <p:nvPr/>
        </p:nvSpPr>
        <p:spPr>
          <a:xfrm rot="-5566935">
            <a:off x="13222800" y="1517146"/>
            <a:ext cx="8073000" cy="4855849"/>
          </a:xfrm>
          <a:custGeom>
            <a:avLst/>
            <a:gdLst/>
            <a:ahLst/>
            <a:cxnLst/>
            <a:rect l="l" t="t" r="r" b="b"/>
            <a:pathLst>
              <a:path w="8073000" h="4855849">
                <a:moveTo>
                  <a:pt x="0" y="0"/>
                </a:moveTo>
                <a:lnTo>
                  <a:pt x="8073000" y="0"/>
                </a:lnTo>
                <a:lnTo>
                  <a:pt x="8073000" y="4855849"/>
                </a:lnTo>
                <a:lnTo>
                  <a:pt x="0" y="48558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666750" y="5378396"/>
            <a:ext cx="8477250" cy="4246617"/>
          </a:xfrm>
          <a:prstGeom prst="rect">
            <a:avLst/>
          </a:prstGeom>
        </p:spPr>
        <p:txBody>
          <a:bodyPr lIns="0" tIns="0" rIns="0" bIns="0" rtlCol="0" anchor="t">
            <a:spAutoFit/>
          </a:bodyPr>
          <a:lstStyle/>
          <a:p>
            <a:pPr marL="0" lvl="0" indent="0" algn="l">
              <a:lnSpc>
                <a:spcPts val="4460"/>
              </a:lnSpc>
            </a:pPr>
            <a:r>
              <a:rPr lang="en-US" sz="3186" b="1">
                <a:solidFill>
                  <a:srgbClr val="F0F4F8"/>
                </a:solidFill>
                <a:latin typeface="TT Interphases Bold"/>
                <a:ea typeface="TT Interphases Bold"/>
                <a:cs typeface="TT Interphases Bold"/>
                <a:sym typeface="TT Interphases Bold"/>
              </a:rPr>
              <a:t>🔹 Dimensionality Reduction (PCA)</a:t>
            </a:r>
          </a:p>
          <a:p>
            <a:pPr marL="0" lvl="0" indent="0" algn="l">
              <a:lnSpc>
                <a:spcPts val="3060"/>
              </a:lnSpc>
            </a:pPr>
            <a:r>
              <a:rPr lang="en-US" sz="2186">
                <a:solidFill>
                  <a:srgbClr val="F0F4F8"/>
                </a:solidFill>
                <a:latin typeface="TT Interphases"/>
                <a:ea typeface="TT Interphases"/>
                <a:cs typeface="TT Interphases"/>
                <a:sym typeface="TT Interphases"/>
              </a:rPr>
              <a:t>Why PCA?</a:t>
            </a:r>
          </a:p>
          <a:p>
            <a:pPr marL="471979" lvl="1" indent="-235989" algn="l">
              <a:lnSpc>
                <a:spcPts val="3060"/>
              </a:lnSpc>
              <a:buFont typeface="Arial"/>
              <a:buChar char="•"/>
            </a:pPr>
            <a:r>
              <a:rPr lang="en-US" sz="2186">
                <a:solidFill>
                  <a:srgbClr val="F0F4F8"/>
                </a:solidFill>
                <a:latin typeface="TT Interphases"/>
                <a:ea typeface="TT Interphases"/>
                <a:cs typeface="TT Interphases"/>
                <a:sym typeface="TT Interphases"/>
              </a:rPr>
              <a:t>To reduce feature redundancy</a:t>
            </a:r>
          </a:p>
          <a:p>
            <a:pPr marL="471979" lvl="1" indent="-235989" algn="l">
              <a:lnSpc>
                <a:spcPts val="3060"/>
              </a:lnSpc>
              <a:buFont typeface="Arial"/>
              <a:buChar char="•"/>
            </a:pPr>
            <a:r>
              <a:rPr lang="en-US" sz="2186">
                <a:solidFill>
                  <a:srgbClr val="F0F4F8"/>
                </a:solidFill>
                <a:latin typeface="TT Interphases"/>
                <a:ea typeface="TT Interphases"/>
                <a:cs typeface="TT Interphases"/>
                <a:sym typeface="TT Interphases"/>
              </a:rPr>
              <a:t>To visualize clusters in 2D space</a:t>
            </a:r>
          </a:p>
          <a:p>
            <a:pPr marL="471979" lvl="1" indent="-235989" algn="l">
              <a:lnSpc>
                <a:spcPts val="3060"/>
              </a:lnSpc>
              <a:buFont typeface="Arial"/>
              <a:buChar char="•"/>
            </a:pPr>
            <a:r>
              <a:rPr lang="en-US" sz="2186">
                <a:solidFill>
                  <a:srgbClr val="F0F4F8"/>
                </a:solidFill>
                <a:latin typeface="TT Interphases"/>
                <a:ea typeface="TT Interphases"/>
                <a:cs typeface="TT Interphases"/>
                <a:sym typeface="TT Interphases"/>
              </a:rPr>
              <a:t>To improve clustering structure</a:t>
            </a:r>
          </a:p>
          <a:p>
            <a:pPr algn="l">
              <a:lnSpc>
                <a:spcPts val="3060"/>
              </a:lnSpc>
            </a:pPr>
            <a:r>
              <a:rPr lang="en-US" sz="2186">
                <a:solidFill>
                  <a:srgbClr val="F0F4F8"/>
                </a:solidFill>
                <a:latin typeface="TT Interphases"/>
                <a:ea typeface="TT Interphases"/>
                <a:cs typeface="TT Interphases"/>
                <a:sym typeface="TT Interphases"/>
              </a:rPr>
              <a:t> -  Action Taken</a:t>
            </a:r>
          </a:p>
          <a:p>
            <a:pPr marL="471979" lvl="1" indent="-235989" algn="l">
              <a:lnSpc>
                <a:spcPts val="3060"/>
              </a:lnSpc>
              <a:buFont typeface="Arial"/>
              <a:buChar char="•"/>
            </a:pPr>
            <a:r>
              <a:rPr lang="en-US" sz="2186">
                <a:solidFill>
                  <a:srgbClr val="F0F4F8"/>
                </a:solidFill>
                <a:latin typeface="TT Interphases"/>
                <a:ea typeface="TT Interphases"/>
                <a:cs typeface="TT Interphases"/>
                <a:sym typeface="TT Interphases"/>
              </a:rPr>
              <a:t>Applied PCA on scaled RFM data</a:t>
            </a:r>
          </a:p>
          <a:p>
            <a:pPr marL="471979" lvl="1" indent="-235989" algn="l">
              <a:lnSpc>
                <a:spcPts val="3060"/>
              </a:lnSpc>
              <a:buFont typeface="Arial"/>
              <a:buChar char="•"/>
            </a:pPr>
            <a:r>
              <a:rPr lang="en-US" sz="2186">
                <a:solidFill>
                  <a:srgbClr val="F0F4F8"/>
                </a:solidFill>
                <a:latin typeface="TT Interphases"/>
                <a:ea typeface="TT Interphases"/>
                <a:cs typeface="TT Interphases"/>
                <a:sym typeface="TT Interphases"/>
              </a:rPr>
              <a:t>Selected principal components explaining maximum variance</a:t>
            </a:r>
          </a:p>
          <a:p>
            <a:pPr marL="471979" lvl="1" indent="-235989" algn="l">
              <a:lnSpc>
                <a:spcPts val="3060"/>
              </a:lnSpc>
              <a:buFont typeface="Arial"/>
              <a:buChar char="•"/>
            </a:pPr>
            <a:r>
              <a:rPr lang="en-US" sz="2186">
                <a:solidFill>
                  <a:srgbClr val="F0F4F8"/>
                </a:solidFill>
                <a:latin typeface="TT Interphases"/>
                <a:ea typeface="TT Interphases"/>
                <a:cs typeface="TT Interphases"/>
                <a:sym typeface="TT Interphases"/>
              </a:rPr>
              <a:t>Used PCA output for visualization and better separation understanding</a:t>
            </a:r>
          </a:p>
          <a:p>
            <a:pPr marL="0" lvl="0" indent="0" algn="l">
              <a:lnSpc>
                <a:spcPts val="2008"/>
              </a:lnSpc>
            </a:pPr>
            <a:endParaRPr lang="en-US" sz="2186">
              <a:solidFill>
                <a:srgbClr val="F0F4F8"/>
              </a:solidFill>
              <a:latin typeface="TT Interphases"/>
              <a:ea typeface="TT Interphases"/>
              <a:cs typeface="TT Interphases"/>
              <a:sym typeface="TT Interphase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2669A"/>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469764"/>
            <a:ext cx="9234083" cy="3148112"/>
            <a:chOff x="0" y="0"/>
            <a:chExt cx="12312110" cy="4197483"/>
          </a:xfrm>
        </p:grpSpPr>
        <p:sp>
          <p:nvSpPr>
            <p:cNvPr id="5" name="TextBox 5"/>
            <p:cNvSpPr txBox="1"/>
            <p:nvPr/>
          </p:nvSpPr>
          <p:spPr>
            <a:xfrm>
              <a:off x="0" y="66675"/>
              <a:ext cx="12312110" cy="1522828"/>
            </a:xfrm>
            <a:prstGeom prst="rect">
              <a:avLst/>
            </a:prstGeom>
          </p:spPr>
          <p:txBody>
            <a:bodyPr lIns="0" tIns="0" rIns="0" bIns="0" rtlCol="0" anchor="t">
              <a:spAutoFit/>
            </a:bodyPr>
            <a:lstStyle/>
            <a:p>
              <a:pPr marL="0" lvl="0" indent="0" algn="l">
                <a:lnSpc>
                  <a:spcPts val="8627"/>
                </a:lnSpc>
              </a:pPr>
              <a:r>
                <a:rPr lang="en-US" sz="7843">
                  <a:solidFill>
                    <a:srgbClr val="F5F6F7"/>
                  </a:solidFill>
                  <a:latin typeface="Georgia Pro Light"/>
                  <a:ea typeface="Georgia Pro Light"/>
                  <a:cs typeface="Georgia Pro Light"/>
                  <a:sym typeface="Georgia Pro Light"/>
                </a:rPr>
                <a:t>Modeling Techniques</a:t>
              </a:r>
            </a:p>
          </p:txBody>
        </p:sp>
        <p:sp>
          <p:nvSpPr>
            <p:cNvPr id="6" name="TextBox 6"/>
            <p:cNvSpPr txBox="1"/>
            <p:nvPr/>
          </p:nvSpPr>
          <p:spPr>
            <a:xfrm>
              <a:off x="0" y="1892179"/>
              <a:ext cx="12008205" cy="2305304"/>
            </a:xfrm>
            <a:prstGeom prst="rect">
              <a:avLst/>
            </a:prstGeom>
          </p:spPr>
          <p:txBody>
            <a:bodyPr lIns="0" tIns="0" rIns="0" bIns="0" rtlCol="0" anchor="t">
              <a:spAutoFit/>
            </a:bodyPr>
            <a:lstStyle/>
            <a:p>
              <a:pPr algn="l">
                <a:lnSpc>
                  <a:spcPts val="2814"/>
                </a:lnSpc>
              </a:pPr>
              <a:r>
                <a:rPr lang="en-US" sz="2010">
                  <a:solidFill>
                    <a:srgbClr val="F5F6F7"/>
                  </a:solidFill>
                  <a:latin typeface="DM Sans"/>
                  <a:ea typeface="DM Sans"/>
                  <a:cs typeface="DM Sans"/>
                  <a:sym typeface="DM Sans"/>
                </a:rPr>
                <a:t>Implemented and compared:</a:t>
              </a:r>
            </a:p>
            <a:p>
              <a:pPr marL="434016" lvl="1" indent="-217008" algn="l">
                <a:lnSpc>
                  <a:spcPts val="2814"/>
                </a:lnSpc>
                <a:buAutoNum type="arabicPeriod"/>
              </a:pPr>
              <a:r>
                <a:rPr lang="en-US" sz="2010">
                  <a:solidFill>
                    <a:srgbClr val="F5F6F7"/>
                  </a:solidFill>
                  <a:latin typeface="DM Sans"/>
                  <a:ea typeface="DM Sans"/>
                  <a:cs typeface="DM Sans"/>
                  <a:sym typeface="DM Sans"/>
                </a:rPr>
                <a:t> </a:t>
              </a:r>
              <a:r>
                <a:rPr lang="en-US" sz="2010" b="1">
                  <a:solidFill>
                    <a:srgbClr val="F5F6F7"/>
                  </a:solidFill>
                  <a:latin typeface="DM Sans Bold"/>
                  <a:ea typeface="DM Sans Bold"/>
                  <a:cs typeface="DM Sans Bold"/>
                  <a:sym typeface="DM Sans Bold"/>
                </a:rPr>
                <a:t>K-Means Clustering</a:t>
              </a:r>
            </a:p>
            <a:p>
              <a:pPr marL="434016" lvl="1" indent="-217008" algn="l">
                <a:lnSpc>
                  <a:spcPts val="2814"/>
                </a:lnSpc>
                <a:buAutoNum type="arabicPeriod"/>
              </a:pPr>
              <a:r>
                <a:rPr lang="en-US" sz="2010" b="1">
                  <a:solidFill>
                    <a:srgbClr val="F5F6F7"/>
                  </a:solidFill>
                  <a:latin typeface="DM Sans Bold"/>
                  <a:ea typeface="DM Sans Bold"/>
                  <a:cs typeface="DM Sans Bold"/>
                  <a:sym typeface="DM Sans Bold"/>
                </a:rPr>
                <a:t> Hierarchical Clustering (Agglomerative)</a:t>
              </a:r>
            </a:p>
            <a:p>
              <a:pPr marL="434016" lvl="1" indent="-217008" algn="l">
                <a:lnSpc>
                  <a:spcPts val="2814"/>
                </a:lnSpc>
                <a:buAutoNum type="arabicPeriod"/>
              </a:pPr>
              <a:r>
                <a:rPr lang="en-US" sz="2010" b="1">
                  <a:solidFill>
                    <a:srgbClr val="F5F6F7"/>
                  </a:solidFill>
                  <a:latin typeface="DM Sans Bold"/>
                  <a:ea typeface="DM Sans Bold"/>
                  <a:cs typeface="DM Sans Bold"/>
                  <a:sym typeface="DM Sans Bold"/>
                </a:rPr>
                <a:t> DBSCAN</a:t>
              </a:r>
            </a:p>
            <a:p>
              <a:pPr marL="0" lvl="0" indent="0" algn="l">
                <a:lnSpc>
                  <a:spcPts val="2677"/>
                </a:lnSpc>
              </a:pPr>
              <a:endParaRPr lang="en-US" sz="2010" b="1">
                <a:solidFill>
                  <a:srgbClr val="F5F6F7"/>
                </a:solidFill>
                <a:latin typeface="DM Sans Bold"/>
                <a:ea typeface="DM Sans Bold"/>
                <a:cs typeface="DM Sans Bold"/>
                <a:sym typeface="DM Sans Bold"/>
              </a:endParaRPr>
            </a:p>
          </p:txBody>
        </p:sp>
      </p:grpSp>
      <p:sp>
        <p:nvSpPr>
          <p:cNvPr id="7" name="TextBox 7"/>
          <p:cNvSpPr txBox="1"/>
          <p:nvPr/>
        </p:nvSpPr>
        <p:spPr>
          <a:xfrm>
            <a:off x="666750" y="3582679"/>
            <a:ext cx="6210037" cy="1809736"/>
          </a:xfrm>
          <a:prstGeom prst="rect">
            <a:avLst/>
          </a:prstGeom>
        </p:spPr>
        <p:txBody>
          <a:bodyPr lIns="0" tIns="0" rIns="0" bIns="0" rtlCol="0" anchor="t">
            <a:spAutoFit/>
          </a:bodyPr>
          <a:lstStyle/>
          <a:p>
            <a:pPr algn="l">
              <a:lnSpc>
                <a:spcPts val="3570"/>
              </a:lnSpc>
            </a:pPr>
            <a:r>
              <a:rPr lang="en-US" sz="2550">
                <a:solidFill>
                  <a:srgbClr val="F5F6F7"/>
                </a:solidFill>
                <a:latin typeface="DM Sans"/>
                <a:ea typeface="DM Sans"/>
                <a:cs typeface="DM Sans"/>
                <a:sym typeface="DM Sans"/>
              </a:rPr>
              <a:t>🔹 Evaluation Metric</a:t>
            </a:r>
          </a:p>
          <a:p>
            <a:pPr marL="421128" lvl="1" indent="-210564" algn="l">
              <a:lnSpc>
                <a:spcPts val="2730"/>
              </a:lnSpc>
              <a:buFont typeface="Arial"/>
              <a:buChar char="•"/>
            </a:pPr>
            <a:r>
              <a:rPr lang="en-US" sz="1950">
                <a:solidFill>
                  <a:srgbClr val="F5F6F7"/>
                </a:solidFill>
                <a:latin typeface="DM Sans"/>
                <a:ea typeface="DM Sans"/>
                <a:cs typeface="DM Sans"/>
                <a:sym typeface="DM Sans"/>
              </a:rPr>
              <a:t>Used Silhouette Score to measure cluster quality</a:t>
            </a:r>
          </a:p>
          <a:p>
            <a:pPr marL="421128" lvl="1" indent="-210564" algn="l">
              <a:lnSpc>
                <a:spcPts val="2730"/>
              </a:lnSpc>
              <a:buFont typeface="Arial"/>
              <a:buChar char="•"/>
            </a:pPr>
            <a:r>
              <a:rPr lang="en-US" sz="1950">
                <a:solidFill>
                  <a:srgbClr val="F5F6F7"/>
                </a:solidFill>
                <a:latin typeface="DM Sans"/>
                <a:ea typeface="DM Sans"/>
                <a:cs typeface="DM Sans"/>
                <a:sym typeface="DM Sans"/>
              </a:rPr>
              <a:t>Score range: -1 to 1</a:t>
            </a:r>
          </a:p>
          <a:p>
            <a:pPr marL="421128" lvl="1" indent="-210564" algn="l">
              <a:lnSpc>
                <a:spcPts val="2730"/>
              </a:lnSpc>
              <a:buFont typeface="Arial"/>
              <a:buChar char="•"/>
            </a:pPr>
            <a:r>
              <a:rPr lang="en-US" sz="1950">
                <a:solidFill>
                  <a:srgbClr val="F5F6F7"/>
                </a:solidFill>
                <a:latin typeface="DM Sans"/>
                <a:ea typeface="DM Sans"/>
                <a:cs typeface="DM Sans"/>
                <a:sym typeface="DM Sans"/>
              </a:rPr>
              <a:t>Higher score = Better cluster separation</a:t>
            </a:r>
          </a:p>
          <a:p>
            <a:pPr marL="0" lvl="0" indent="0" algn="l">
              <a:lnSpc>
                <a:spcPts val="2730"/>
              </a:lnSpc>
            </a:pPr>
            <a:endParaRPr lang="en-US" sz="1950">
              <a:solidFill>
                <a:srgbClr val="F5F6F7"/>
              </a:solidFill>
              <a:latin typeface="DM Sans"/>
              <a:ea typeface="DM Sans"/>
              <a:cs typeface="DM Sans"/>
              <a:sym typeface="DM Sans"/>
            </a:endParaRPr>
          </a:p>
        </p:txBody>
      </p:sp>
      <p:sp>
        <p:nvSpPr>
          <p:cNvPr id="8" name="TextBox 8"/>
          <p:cNvSpPr txBox="1"/>
          <p:nvPr/>
        </p:nvSpPr>
        <p:spPr>
          <a:xfrm>
            <a:off x="666750" y="5344790"/>
            <a:ext cx="6210037" cy="1809736"/>
          </a:xfrm>
          <a:prstGeom prst="rect">
            <a:avLst/>
          </a:prstGeom>
        </p:spPr>
        <p:txBody>
          <a:bodyPr lIns="0" tIns="0" rIns="0" bIns="0" rtlCol="0" anchor="t">
            <a:spAutoFit/>
          </a:bodyPr>
          <a:lstStyle/>
          <a:p>
            <a:pPr algn="l">
              <a:lnSpc>
                <a:spcPts val="3570"/>
              </a:lnSpc>
            </a:pPr>
            <a:r>
              <a:rPr lang="en-US" sz="2550">
                <a:solidFill>
                  <a:srgbClr val="F5F6F7"/>
                </a:solidFill>
                <a:latin typeface="DM Sans"/>
                <a:ea typeface="DM Sans"/>
                <a:cs typeface="DM Sans"/>
                <a:sym typeface="DM Sans"/>
              </a:rPr>
              <a:t>🔹 Model Comparison</a:t>
            </a:r>
          </a:p>
          <a:p>
            <a:pPr marL="421128" lvl="1" indent="-210564" algn="l">
              <a:lnSpc>
                <a:spcPts val="2730"/>
              </a:lnSpc>
              <a:buFont typeface="Arial"/>
              <a:buChar char="•"/>
            </a:pPr>
            <a:r>
              <a:rPr lang="en-US" sz="1950">
                <a:solidFill>
                  <a:srgbClr val="F5F6F7"/>
                </a:solidFill>
                <a:latin typeface="DM Sans"/>
                <a:ea typeface="DM Sans"/>
                <a:cs typeface="DM Sans"/>
                <a:sym typeface="DM Sans"/>
              </a:rPr>
              <a:t>K-Means → Silhouette Score ≈       </a:t>
            </a:r>
            <a:r>
              <a:rPr lang="en-US" sz="1950" b="1">
                <a:solidFill>
                  <a:srgbClr val="F5F6F7"/>
                </a:solidFill>
                <a:latin typeface="DM Sans Bold"/>
                <a:ea typeface="DM Sans Bold"/>
                <a:cs typeface="DM Sans Bold"/>
                <a:sym typeface="DM Sans Bold"/>
              </a:rPr>
              <a:t>(0.6162)</a:t>
            </a:r>
          </a:p>
          <a:p>
            <a:pPr marL="421128" lvl="1" indent="-210564" algn="l">
              <a:lnSpc>
                <a:spcPts val="2730"/>
              </a:lnSpc>
              <a:buFont typeface="Arial"/>
              <a:buChar char="•"/>
            </a:pPr>
            <a:r>
              <a:rPr lang="en-US" sz="1950">
                <a:solidFill>
                  <a:srgbClr val="F5F6F7"/>
                </a:solidFill>
                <a:latin typeface="DM Sans"/>
                <a:ea typeface="DM Sans"/>
                <a:cs typeface="DM Sans"/>
                <a:sym typeface="DM Sans"/>
              </a:rPr>
              <a:t>Hierarchical → Silhouette Score ≈  </a:t>
            </a:r>
            <a:r>
              <a:rPr lang="en-US" sz="1950" b="1">
                <a:solidFill>
                  <a:srgbClr val="F5F6F7"/>
                </a:solidFill>
                <a:latin typeface="DM Sans Bold"/>
                <a:ea typeface="DM Sans Bold"/>
                <a:cs typeface="DM Sans Bold"/>
                <a:sym typeface="DM Sans Bold"/>
              </a:rPr>
              <a:t>(0.6073)</a:t>
            </a:r>
          </a:p>
          <a:p>
            <a:pPr marL="421128" lvl="1" indent="-210564" algn="l">
              <a:lnSpc>
                <a:spcPts val="2730"/>
              </a:lnSpc>
              <a:buFont typeface="Arial"/>
              <a:buChar char="•"/>
            </a:pPr>
            <a:r>
              <a:rPr lang="en-US" sz="1950">
                <a:solidFill>
                  <a:srgbClr val="F5F6F7"/>
                </a:solidFill>
                <a:latin typeface="DM Sans"/>
                <a:ea typeface="DM Sans"/>
                <a:cs typeface="DM Sans"/>
                <a:sym typeface="DM Sans"/>
              </a:rPr>
              <a:t>DBSCAN → Silhouette Score ≈        </a:t>
            </a:r>
            <a:r>
              <a:rPr lang="en-US" sz="1950" b="1">
                <a:solidFill>
                  <a:srgbClr val="F5F6F7"/>
                </a:solidFill>
                <a:latin typeface="DM Sans Bold"/>
                <a:ea typeface="DM Sans Bold"/>
                <a:cs typeface="DM Sans Bold"/>
                <a:sym typeface="DM Sans Bold"/>
              </a:rPr>
              <a:t>(0.6743).</a:t>
            </a:r>
          </a:p>
          <a:p>
            <a:pPr marL="0" lvl="0" indent="0" algn="l">
              <a:lnSpc>
                <a:spcPts val="2730"/>
              </a:lnSpc>
            </a:pPr>
            <a:endParaRPr lang="en-US" sz="1950" b="1">
              <a:solidFill>
                <a:srgbClr val="F5F6F7"/>
              </a:solidFill>
              <a:latin typeface="DM Sans Bold"/>
              <a:ea typeface="DM Sans Bold"/>
              <a:cs typeface="DM Sans Bold"/>
              <a:sym typeface="DM Sans Bold"/>
            </a:endParaRPr>
          </a:p>
        </p:txBody>
      </p:sp>
      <p:grpSp>
        <p:nvGrpSpPr>
          <p:cNvPr id="9" name="Group 9"/>
          <p:cNvGrpSpPr/>
          <p:nvPr/>
        </p:nvGrpSpPr>
        <p:grpSpPr>
          <a:xfrm>
            <a:off x="249829" y="6973791"/>
            <a:ext cx="10286799" cy="3017583"/>
            <a:chOff x="0" y="0"/>
            <a:chExt cx="3861131" cy="1132644"/>
          </a:xfrm>
        </p:grpSpPr>
        <p:sp>
          <p:nvSpPr>
            <p:cNvPr id="10" name="Freeform 10"/>
            <p:cNvSpPr/>
            <p:nvPr/>
          </p:nvSpPr>
          <p:spPr>
            <a:xfrm>
              <a:off x="0" y="0"/>
              <a:ext cx="3861134" cy="1132644"/>
            </a:xfrm>
            <a:custGeom>
              <a:avLst/>
              <a:gdLst/>
              <a:ahLst/>
              <a:cxnLst/>
              <a:rect l="l" t="t" r="r" b="b"/>
              <a:pathLst>
                <a:path w="3861134" h="1132644">
                  <a:moveTo>
                    <a:pt x="3514175" y="0"/>
                  </a:moveTo>
                  <a:lnTo>
                    <a:pt x="148415" y="0"/>
                  </a:lnTo>
                  <a:cubicBezTo>
                    <a:pt x="66448" y="0"/>
                    <a:pt x="0" y="66448"/>
                    <a:pt x="0" y="148415"/>
                  </a:cubicBezTo>
                  <a:lnTo>
                    <a:pt x="0" y="853252"/>
                  </a:lnTo>
                  <a:cubicBezTo>
                    <a:pt x="0" y="889763"/>
                    <a:pt x="13458" y="924992"/>
                    <a:pt x="37800" y="952204"/>
                  </a:cubicBezTo>
                  <a:lnTo>
                    <a:pt x="154967" y="1083180"/>
                  </a:lnTo>
                  <a:cubicBezTo>
                    <a:pt x="183122" y="1114656"/>
                    <a:pt x="223353" y="1132645"/>
                    <a:pt x="265584" y="1132644"/>
                  </a:cubicBezTo>
                  <a:lnTo>
                    <a:pt x="3712718" y="1132644"/>
                  </a:lnTo>
                  <a:cubicBezTo>
                    <a:pt x="3752080" y="1132645"/>
                    <a:pt x="3789830" y="1117008"/>
                    <a:pt x="3817663" y="1089175"/>
                  </a:cubicBezTo>
                  <a:cubicBezTo>
                    <a:pt x="3845497" y="1061342"/>
                    <a:pt x="3861134" y="1023592"/>
                    <a:pt x="3861134" y="984230"/>
                  </a:cubicBezTo>
                  <a:lnTo>
                    <a:pt x="3861134" y="366141"/>
                  </a:lnTo>
                  <a:cubicBezTo>
                    <a:pt x="3861134" y="329143"/>
                    <a:pt x="3847315" y="293478"/>
                    <a:pt x="3822385" y="266140"/>
                  </a:cubicBezTo>
                  <a:lnTo>
                    <a:pt x="3623842" y="48414"/>
                  </a:lnTo>
                  <a:cubicBezTo>
                    <a:pt x="3595719" y="17574"/>
                    <a:pt x="3555912" y="0"/>
                    <a:pt x="3514175" y="0"/>
                  </a:cubicBezTo>
                  <a:close/>
                </a:path>
              </a:pathLst>
            </a:custGeom>
            <a:solidFill>
              <a:srgbClr val="FFFEFF">
                <a:alpha val="87843"/>
              </a:srgbClr>
            </a:solidFill>
            <a:ln w="38100" cap="sq">
              <a:solidFill>
                <a:srgbClr val="000000">
                  <a:alpha val="87843"/>
                </a:srgbClr>
              </a:solidFill>
              <a:prstDash val="solid"/>
              <a:miter/>
            </a:ln>
          </p:spPr>
        </p:sp>
      </p:grpSp>
      <p:sp>
        <p:nvSpPr>
          <p:cNvPr id="11" name="TextBox 11"/>
          <p:cNvSpPr txBox="1"/>
          <p:nvPr/>
        </p:nvSpPr>
        <p:spPr>
          <a:xfrm>
            <a:off x="666750" y="7106901"/>
            <a:ext cx="9422049" cy="2593127"/>
          </a:xfrm>
          <a:prstGeom prst="rect">
            <a:avLst/>
          </a:prstGeom>
        </p:spPr>
        <p:txBody>
          <a:bodyPr lIns="0" tIns="0" rIns="0" bIns="0" rtlCol="0" anchor="t">
            <a:spAutoFit/>
          </a:bodyPr>
          <a:lstStyle/>
          <a:p>
            <a:pPr marL="0" lvl="0" indent="0" algn="l">
              <a:lnSpc>
                <a:spcPts val="2976"/>
              </a:lnSpc>
            </a:pPr>
            <a:r>
              <a:rPr lang="en-US" sz="2126" spc="-116">
                <a:solidFill>
                  <a:srgbClr val="212121"/>
                </a:solidFill>
                <a:latin typeface="Work Sans"/>
                <a:ea typeface="Work Sans"/>
                <a:cs typeface="Work Sans"/>
                <a:sym typeface="Work Sans"/>
              </a:rPr>
              <a:t>The comparative analysis of </a:t>
            </a:r>
            <a:r>
              <a:rPr lang="en-US" sz="2126" b="1" spc="-116">
                <a:solidFill>
                  <a:srgbClr val="212121"/>
                </a:solidFill>
                <a:latin typeface="Work Sans Bold"/>
                <a:ea typeface="Work Sans Bold"/>
                <a:cs typeface="Work Sans Bold"/>
                <a:sym typeface="Work Sans Bold"/>
              </a:rPr>
              <a:t>Silhouette Scores</a:t>
            </a:r>
            <a:r>
              <a:rPr lang="en-US" sz="2126" spc="-116">
                <a:solidFill>
                  <a:srgbClr val="212121"/>
                </a:solidFill>
                <a:latin typeface="Work Sans"/>
                <a:ea typeface="Work Sans"/>
                <a:cs typeface="Work Sans"/>
                <a:sym typeface="Work Sans"/>
              </a:rPr>
              <a:t> highlights K-Means as the most effective model for actionable customer segmentation, balancing interpretability and cluster representation. Although DBSCAN achieved the highest score, it produced only two broad clusters (primarily VIP vs Others), limiting actionable business segmentation. </a:t>
            </a:r>
            <a:r>
              <a:rPr lang="en-US" sz="2126" b="1" spc="-116">
                <a:solidFill>
                  <a:srgbClr val="212121"/>
                </a:solidFill>
                <a:latin typeface="Work Sans Bold"/>
                <a:ea typeface="Work Sans Bold"/>
                <a:cs typeface="Work Sans Bold"/>
                <a:sym typeface="Work Sans Bold"/>
              </a:rPr>
              <a:t>K-Means</a:t>
            </a:r>
            <a:r>
              <a:rPr lang="en-US" sz="2126" spc="-116">
                <a:solidFill>
                  <a:srgbClr val="212121"/>
                </a:solidFill>
                <a:latin typeface="Work Sans"/>
                <a:ea typeface="Work Sans"/>
                <a:cs typeface="Work Sans"/>
                <a:sym typeface="Work Sans"/>
              </a:rPr>
              <a:t>, with a strong Silhouette Score of </a:t>
            </a:r>
            <a:r>
              <a:rPr lang="en-US" sz="2126" b="1" spc="-116">
                <a:solidFill>
                  <a:srgbClr val="212121"/>
                </a:solidFill>
                <a:latin typeface="Work Sans Bold"/>
                <a:ea typeface="Work Sans Bold"/>
                <a:cs typeface="Work Sans Bold"/>
                <a:sym typeface="Work Sans Bold"/>
              </a:rPr>
              <a:t>0.6162</a:t>
            </a:r>
            <a:r>
              <a:rPr lang="en-US" sz="2126" spc="-116">
                <a:solidFill>
                  <a:srgbClr val="212121"/>
                </a:solidFill>
                <a:latin typeface="Work Sans"/>
                <a:ea typeface="Work Sans"/>
                <a:cs typeface="Work Sans"/>
                <a:sym typeface="Work Sans"/>
              </a:rPr>
              <a:t>, generated well-balanced, interpretable, and business-meaningful customer groups, making it the preferred model.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51B25"/>
        </a:solidFill>
        <a:effectLst/>
      </p:bgPr>
    </p:bg>
    <p:spTree>
      <p:nvGrpSpPr>
        <p:cNvPr id="1" name=""/>
        <p:cNvGrpSpPr/>
        <p:nvPr/>
      </p:nvGrpSpPr>
      <p:grpSpPr>
        <a:xfrm>
          <a:off x="0" y="0"/>
          <a:ext cx="0" cy="0"/>
          <a:chOff x="0" y="0"/>
          <a:chExt cx="0" cy="0"/>
        </a:xfrm>
      </p:grpSpPr>
      <p:sp>
        <p:nvSpPr>
          <p:cNvPr id="2" name="AutoShape 2"/>
          <p:cNvSpPr/>
          <p:nvPr/>
        </p:nvSpPr>
        <p:spPr>
          <a:xfrm flipV="1">
            <a:off x="559994" y="9865774"/>
            <a:ext cx="5753100" cy="0"/>
          </a:xfrm>
          <a:prstGeom prst="line">
            <a:avLst/>
          </a:prstGeom>
          <a:ln w="9525" cap="flat">
            <a:solidFill>
              <a:srgbClr val="7FB3D5"/>
            </a:solidFill>
            <a:prstDash val="solid"/>
            <a:headEnd type="none" w="sm" len="sm"/>
            <a:tailEnd type="none" w="sm" len="sm"/>
          </a:ln>
        </p:spPr>
      </p:sp>
      <p:sp>
        <p:nvSpPr>
          <p:cNvPr id="3" name="TextBox 3"/>
          <p:cNvSpPr txBox="1"/>
          <p:nvPr/>
        </p:nvSpPr>
        <p:spPr>
          <a:xfrm>
            <a:off x="666750" y="1360492"/>
            <a:ext cx="7630746" cy="1851660"/>
          </a:xfrm>
          <a:prstGeom prst="rect">
            <a:avLst/>
          </a:prstGeom>
        </p:spPr>
        <p:txBody>
          <a:bodyPr lIns="0" tIns="0" rIns="0" bIns="0" rtlCol="0" anchor="t">
            <a:spAutoFit/>
          </a:bodyPr>
          <a:lstStyle/>
          <a:p>
            <a:pPr marL="0" lvl="0" indent="0" algn="l">
              <a:lnSpc>
                <a:spcPts val="2940"/>
              </a:lnSpc>
            </a:pPr>
            <a:r>
              <a:rPr lang="en-US" sz="2100">
                <a:solidFill>
                  <a:srgbClr val="D5D8DC"/>
                </a:solidFill>
                <a:latin typeface="TT Interphases"/>
                <a:ea typeface="TT Interphases"/>
                <a:cs typeface="TT Interphases"/>
                <a:sym typeface="TT Interphases"/>
              </a:rPr>
              <a:t>Utilizing the K-Means model with a </a:t>
            </a:r>
            <a:r>
              <a:rPr lang="en-US" sz="2100" b="1">
                <a:solidFill>
                  <a:srgbClr val="D5D8DC"/>
                </a:solidFill>
                <a:latin typeface="TT Interphases Bold"/>
                <a:ea typeface="TT Interphases Bold"/>
                <a:cs typeface="TT Interphases Bold"/>
                <a:sym typeface="TT Interphases Bold"/>
              </a:rPr>
              <a:t>Silhouette Score</a:t>
            </a:r>
            <a:r>
              <a:rPr lang="en-US" sz="2100">
                <a:solidFill>
                  <a:srgbClr val="D5D8DC"/>
                </a:solidFill>
                <a:latin typeface="TT Interphases"/>
                <a:ea typeface="TT Interphases"/>
                <a:cs typeface="TT Interphases"/>
                <a:sym typeface="TT Interphases"/>
              </a:rPr>
              <a:t> of 0.6162, we have identified four distinct customer clusters. Each cluster reveals unique purchasing behaviors, enabling targeted marketing strategies and personalized engagement to enhance customer retention and optimize resource allocation.</a:t>
            </a:r>
          </a:p>
        </p:txBody>
      </p:sp>
      <p:sp>
        <p:nvSpPr>
          <p:cNvPr id="4" name="TextBox 4"/>
          <p:cNvSpPr txBox="1"/>
          <p:nvPr/>
        </p:nvSpPr>
        <p:spPr>
          <a:xfrm>
            <a:off x="559994" y="3427490"/>
            <a:ext cx="6303137" cy="6438284"/>
          </a:xfrm>
          <a:prstGeom prst="rect">
            <a:avLst/>
          </a:prstGeom>
        </p:spPr>
        <p:txBody>
          <a:bodyPr lIns="0" tIns="0" rIns="0" bIns="0" rtlCol="0" anchor="t">
            <a:spAutoFit/>
          </a:bodyPr>
          <a:lstStyle/>
          <a:p>
            <a:pPr marL="0" lvl="0" indent="0" algn="l">
              <a:lnSpc>
                <a:spcPts val="3218"/>
              </a:lnSpc>
            </a:pPr>
            <a:r>
              <a:rPr lang="en-US" sz="2298" b="1">
                <a:solidFill>
                  <a:srgbClr val="D5D8DC"/>
                </a:solidFill>
                <a:latin typeface="TT Interphases Bold"/>
                <a:ea typeface="TT Interphases Bold"/>
                <a:cs typeface="TT Interphases Bold"/>
                <a:sym typeface="TT Interphases Bold"/>
              </a:rPr>
              <a:t>🔹 Cluster 0 – Regular Customers</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Moderate Recency</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Stable and consistent buyers</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Important for maintaining steady revenue</a:t>
            </a:r>
          </a:p>
          <a:p>
            <a:pPr algn="l">
              <a:lnSpc>
                <a:spcPts val="2415"/>
              </a:lnSpc>
            </a:pPr>
            <a:endParaRPr lang="en-US" sz="1725">
              <a:solidFill>
                <a:srgbClr val="D5D8DC"/>
              </a:solidFill>
              <a:latin typeface="TT Interphases"/>
              <a:ea typeface="TT Interphases"/>
              <a:cs typeface="TT Interphases"/>
              <a:sym typeface="TT Interphases"/>
            </a:endParaRPr>
          </a:p>
          <a:p>
            <a:pPr algn="l">
              <a:lnSpc>
                <a:spcPts val="3218"/>
              </a:lnSpc>
            </a:pPr>
            <a:r>
              <a:rPr lang="en-US" sz="2298" b="1">
                <a:solidFill>
                  <a:srgbClr val="D5D8DC"/>
                </a:solidFill>
                <a:latin typeface="TT Interphases Bold"/>
                <a:ea typeface="TT Interphases Bold"/>
                <a:cs typeface="TT Interphases Bold"/>
                <a:sym typeface="TT Interphases Bold"/>
              </a:rPr>
              <a:t>🔹 Cluster 1 – Lost / Low-Value Customers</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Low Monetary</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High churn risk</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Require reactivation strategies</a:t>
            </a:r>
          </a:p>
          <a:p>
            <a:pPr algn="l">
              <a:lnSpc>
                <a:spcPts val="2415"/>
              </a:lnSpc>
            </a:pPr>
            <a:endParaRPr lang="en-US" sz="1725">
              <a:solidFill>
                <a:srgbClr val="D5D8DC"/>
              </a:solidFill>
              <a:latin typeface="TT Interphases"/>
              <a:ea typeface="TT Interphases"/>
              <a:cs typeface="TT Interphases"/>
              <a:sym typeface="TT Interphases"/>
            </a:endParaRPr>
          </a:p>
          <a:p>
            <a:pPr algn="l">
              <a:lnSpc>
                <a:spcPts val="3218"/>
              </a:lnSpc>
            </a:pPr>
            <a:r>
              <a:rPr lang="en-US" sz="2298" b="1">
                <a:solidFill>
                  <a:srgbClr val="D5D8DC"/>
                </a:solidFill>
                <a:latin typeface="TT Interphases Bold"/>
                <a:ea typeface="TT Interphases Bold"/>
                <a:cs typeface="TT Interphases Bold"/>
                <a:sym typeface="TT Interphases Bold"/>
              </a:rPr>
              <a:t>🔹 Cluster 2 – VIP / High-Value Customers</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Very High Monetary</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Core revenue-driving segment</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Ideal for loyalty programs and exclusive offers</a:t>
            </a:r>
          </a:p>
          <a:p>
            <a:pPr algn="l">
              <a:lnSpc>
                <a:spcPts val="2415"/>
              </a:lnSpc>
            </a:pPr>
            <a:endParaRPr lang="en-US" sz="1725">
              <a:solidFill>
                <a:srgbClr val="D5D8DC"/>
              </a:solidFill>
              <a:latin typeface="TT Interphases"/>
              <a:ea typeface="TT Interphases"/>
              <a:cs typeface="TT Interphases"/>
              <a:sym typeface="TT Interphases"/>
            </a:endParaRPr>
          </a:p>
          <a:p>
            <a:pPr algn="l">
              <a:lnSpc>
                <a:spcPts val="3218"/>
              </a:lnSpc>
            </a:pPr>
            <a:r>
              <a:rPr lang="en-US" sz="2298" b="1">
                <a:solidFill>
                  <a:srgbClr val="D5D8DC"/>
                </a:solidFill>
                <a:latin typeface="TT Interphases Bold"/>
                <a:ea typeface="TT Interphases Bold"/>
                <a:cs typeface="TT Interphases Bold"/>
                <a:sym typeface="TT Interphases Bold"/>
              </a:rPr>
              <a:t>🔹 Cluster 3 – Potential Loyal Customers</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Decent Frequency</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Growing customer segment</a:t>
            </a:r>
          </a:p>
          <a:p>
            <a:pPr marL="372536" lvl="1" indent="-186268" algn="l">
              <a:lnSpc>
                <a:spcPts val="2415"/>
              </a:lnSpc>
              <a:buFont typeface="Arial"/>
              <a:buChar char="•"/>
            </a:pPr>
            <a:r>
              <a:rPr lang="en-US" sz="1725">
                <a:solidFill>
                  <a:srgbClr val="D5D8DC"/>
                </a:solidFill>
                <a:latin typeface="TT Interphases"/>
                <a:ea typeface="TT Interphases"/>
                <a:cs typeface="TT Interphases"/>
                <a:sym typeface="TT Interphases"/>
              </a:rPr>
              <a:t>Opportunity for nurturing and upselling</a:t>
            </a:r>
          </a:p>
          <a:p>
            <a:pPr marL="0" lvl="0" indent="0" algn="l">
              <a:lnSpc>
                <a:spcPts val="2099"/>
              </a:lnSpc>
            </a:pPr>
            <a:endParaRPr lang="en-US" sz="1725">
              <a:solidFill>
                <a:srgbClr val="D5D8DC"/>
              </a:solidFill>
              <a:latin typeface="TT Interphases"/>
              <a:ea typeface="TT Interphases"/>
              <a:cs typeface="TT Interphases"/>
              <a:sym typeface="TT Interphases"/>
            </a:endParaRPr>
          </a:p>
        </p:txBody>
      </p:sp>
      <p:sp>
        <p:nvSpPr>
          <p:cNvPr id="5" name="TextBox 5"/>
          <p:cNvSpPr txBox="1"/>
          <p:nvPr/>
        </p:nvSpPr>
        <p:spPr>
          <a:xfrm>
            <a:off x="666750" y="373702"/>
            <a:ext cx="6886575" cy="1034415"/>
          </a:xfrm>
          <a:prstGeom prst="rect">
            <a:avLst/>
          </a:prstGeom>
        </p:spPr>
        <p:txBody>
          <a:bodyPr lIns="0" tIns="0" rIns="0" bIns="0" rtlCol="0" anchor="t">
            <a:spAutoFit/>
          </a:bodyPr>
          <a:lstStyle/>
          <a:p>
            <a:pPr marL="0" lvl="0" indent="0" algn="l">
              <a:lnSpc>
                <a:spcPts val="7920"/>
              </a:lnSpc>
            </a:pPr>
            <a:r>
              <a:rPr lang="en-US" sz="7200">
                <a:solidFill>
                  <a:srgbClr val="F0B27A"/>
                </a:solidFill>
                <a:latin typeface="Georgia Pro Condensed Light"/>
                <a:ea typeface="Georgia Pro Condensed Light"/>
                <a:cs typeface="Georgia Pro Condensed Light"/>
                <a:sym typeface="Georgia Pro Condensed Light"/>
              </a:rPr>
              <a:t>Customer Clusters</a:t>
            </a:r>
          </a:p>
        </p:txBody>
      </p:sp>
      <p:grpSp>
        <p:nvGrpSpPr>
          <p:cNvPr id="6" name="Group 6"/>
          <p:cNvGrpSpPr/>
          <p:nvPr/>
        </p:nvGrpSpPr>
        <p:grpSpPr>
          <a:xfrm>
            <a:off x="9356868" y="368889"/>
            <a:ext cx="8436176" cy="9549222"/>
            <a:chOff x="0" y="0"/>
            <a:chExt cx="2221874" cy="2515021"/>
          </a:xfrm>
        </p:grpSpPr>
        <p:sp>
          <p:nvSpPr>
            <p:cNvPr id="7" name="Freeform 7"/>
            <p:cNvSpPr/>
            <p:nvPr/>
          </p:nvSpPr>
          <p:spPr>
            <a:xfrm>
              <a:off x="0" y="0"/>
              <a:ext cx="2221874" cy="2515021"/>
            </a:xfrm>
            <a:custGeom>
              <a:avLst/>
              <a:gdLst/>
              <a:ahLst/>
              <a:cxnLst/>
              <a:rect l="l" t="t" r="r" b="b"/>
              <a:pathLst>
                <a:path w="2221874" h="2515021">
                  <a:moveTo>
                    <a:pt x="91770" y="0"/>
                  </a:moveTo>
                  <a:lnTo>
                    <a:pt x="2130103" y="0"/>
                  </a:lnTo>
                  <a:cubicBezTo>
                    <a:pt x="2180787" y="0"/>
                    <a:pt x="2221874" y="41087"/>
                    <a:pt x="2221874" y="91770"/>
                  </a:cubicBezTo>
                  <a:lnTo>
                    <a:pt x="2221874" y="2423251"/>
                  </a:lnTo>
                  <a:cubicBezTo>
                    <a:pt x="2221874" y="2447590"/>
                    <a:pt x="2212205" y="2470932"/>
                    <a:pt x="2194995" y="2488142"/>
                  </a:cubicBezTo>
                  <a:cubicBezTo>
                    <a:pt x="2177785" y="2505353"/>
                    <a:pt x="2154442" y="2515021"/>
                    <a:pt x="2130103" y="2515021"/>
                  </a:cubicBezTo>
                  <a:lnTo>
                    <a:pt x="91770" y="2515021"/>
                  </a:lnTo>
                  <a:cubicBezTo>
                    <a:pt x="67431" y="2515021"/>
                    <a:pt x="44089" y="2505353"/>
                    <a:pt x="26879" y="2488142"/>
                  </a:cubicBezTo>
                  <a:cubicBezTo>
                    <a:pt x="9669" y="2470932"/>
                    <a:pt x="0" y="2447590"/>
                    <a:pt x="0" y="2423251"/>
                  </a:cubicBezTo>
                  <a:lnTo>
                    <a:pt x="0" y="91770"/>
                  </a:lnTo>
                  <a:cubicBezTo>
                    <a:pt x="0" y="67431"/>
                    <a:pt x="9669" y="44089"/>
                    <a:pt x="26879" y="26879"/>
                  </a:cubicBezTo>
                  <a:cubicBezTo>
                    <a:pt x="44089" y="9669"/>
                    <a:pt x="67431" y="0"/>
                    <a:pt x="91770" y="0"/>
                  </a:cubicBezTo>
                  <a:close/>
                </a:path>
              </a:pathLst>
            </a:custGeom>
            <a:solidFill>
              <a:srgbClr val="FFFFFF"/>
            </a:solidFill>
          </p:spPr>
        </p:sp>
        <p:sp>
          <p:nvSpPr>
            <p:cNvPr id="8" name="TextBox 8"/>
            <p:cNvSpPr txBox="1"/>
            <p:nvPr/>
          </p:nvSpPr>
          <p:spPr>
            <a:xfrm>
              <a:off x="0" y="0"/>
              <a:ext cx="2221874" cy="2515021"/>
            </a:xfrm>
            <a:prstGeom prst="rect">
              <a:avLst/>
            </a:prstGeom>
          </p:spPr>
          <p:txBody>
            <a:bodyPr lIns="50800" tIns="50800" rIns="50800" bIns="50800" rtlCol="0" anchor="ctr"/>
            <a:lstStyle/>
            <a:p>
              <a:pPr algn="ctr">
                <a:lnSpc>
                  <a:spcPts val="2160"/>
                </a:lnSpc>
              </a:pPr>
              <a:endParaRPr/>
            </a:p>
          </p:txBody>
        </p:sp>
      </p:grpSp>
      <p:pic>
        <p:nvPicPr>
          <p:cNvPr id="9" name="Picture 9"/>
          <p:cNvPicPr>
            <a:picLocks noChangeAspect="1"/>
          </p:cNvPicPr>
          <p:nvPr/>
        </p:nvPicPr>
        <p:blipFill>
          <a:blip r:embed="rId2"/>
          <a:stretch>
            <a:fillRect/>
          </a:stretch>
        </p:blipFill>
        <p:spPr>
          <a:xfrm>
            <a:off x="8869155" y="272297"/>
            <a:ext cx="9198884" cy="97048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2669A"/>
        </a:solidFill>
        <a:effectLst/>
      </p:bgPr>
    </p:bg>
    <p:spTree>
      <p:nvGrpSpPr>
        <p:cNvPr id="1" name=""/>
        <p:cNvGrpSpPr/>
        <p:nvPr/>
      </p:nvGrpSpPr>
      <p:grpSpPr>
        <a:xfrm>
          <a:off x="0" y="0"/>
          <a:ext cx="0" cy="0"/>
          <a:chOff x="0" y="0"/>
          <a:chExt cx="0" cy="0"/>
        </a:xfrm>
      </p:grpSpPr>
      <p:sp>
        <p:nvSpPr>
          <p:cNvPr id="2" name="TextBox 2"/>
          <p:cNvSpPr txBox="1"/>
          <p:nvPr/>
        </p:nvSpPr>
        <p:spPr>
          <a:xfrm>
            <a:off x="666750" y="309996"/>
            <a:ext cx="8073162" cy="1149353"/>
          </a:xfrm>
          <a:prstGeom prst="rect">
            <a:avLst/>
          </a:prstGeom>
        </p:spPr>
        <p:txBody>
          <a:bodyPr lIns="0" tIns="0" rIns="0" bIns="0" rtlCol="0" anchor="t">
            <a:spAutoFit/>
          </a:bodyPr>
          <a:lstStyle/>
          <a:p>
            <a:pPr marL="0" lvl="0" indent="0" algn="l">
              <a:lnSpc>
                <a:spcPts val="8800"/>
              </a:lnSpc>
              <a:spcBef>
                <a:spcPct val="0"/>
              </a:spcBef>
            </a:pPr>
            <a:r>
              <a:rPr lang="en-US" sz="8000">
                <a:solidFill>
                  <a:srgbClr val="F5F6F7"/>
                </a:solidFill>
                <a:latin typeface="Georgia Pro Light"/>
                <a:ea typeface="Georgia Pro Light"/>
                <a:cs typeface="Georgia Pro Light"/>
                <a:sym typeface="Georgia Pro Light"/>
              </a:rPr>
              <a:t>Model Prediction</a:t>
            </a:r>
          </a:p>
        </p:txBody>
      </p:sp>
      <p:grpSp>
        <p:nvGrpSpPr>
          <p:cNvPr id="3" name="Group 3"/>
          <p:cNvGrpSpPr/>
          <p:nvPr/>
        </p:nvGrpSpPr>
        <p:grpSpPr>
          <a:xfrm>
            <a:off x="9002561" y="0"/>
            <a:ext cx="9285439" cy="10461319"/>
            <a:chOff x="0" y="0"/>
            <a:chExt cx="2445548" cy="2755244"/>
          </a:xfrm>
        </p:grpSpPr>
        <p:sp>
          <p:nvSpPr>
            <p:cNvPr id="4" name="Freeform 4"/>
            <p:cNvSpPr/>
            <p:nvPr/>
          </p:nvSpPr>
          <p:spPr>
            <a:xfrm>
              <a:off x="0" y="0"/>
              <a:ext cx="2445548" cy="2755244"/>
            </a:xfrm>
            <a:custGeom>
              <a:avLst/>
              <a:gdLst/>
              <a:ahLst/>
              <a:cxnLst/>
              <a:rect l="l" t="t" r="r" b="b"/>
              <a:pathLst>
                <a:path w="2445548" h="2755244">
                  <a:moveTo>
                    <a:pt x="0" y="0"/>
                  </a:moveTo>
                  <a:lnTo>
                    <a:pt x="2445548" y="0"/>
                  </a:lnTo>
                  <a:lnTo>
                    <a:pt x="2445548" y="2755244"/>
                  </a:lnTo>
                  <a:lnTo>
                    <a:pt x="0" y="2755244"/>
                  </a:lnTo>
                  <a:close/>
                </a:path>
              </a:pathLst>
            </a:custGeom>
            <a:solidFill>
              <a:srgbClr val="FFFFFF"/>
            </a:solidFill>
          </p:spPr>
        </p:sp>
        <p:sp>
          <p:nvSpPr>
            <p:cNvPr id="5" name="TextBox 5"/>
            <p:cNvSpPr txBox="1"/>
            <p:nvPr/>
          </p:nvSpPr>
          <p:spPr>
            <a:xfrm>
              <a:off x="0" y="-47625"/>
              <a:ext cx="2445548" cy="2802869"/>
            </a:xfrm>
            <a:prstGeom prst="rect">
              <a:avLst/>
            </a:prstGeom>
          </p:spPr>
          <p:txBody>
            <a:bodyPr lIns="50800" tIns="50800" rIns="50800" bIns="50800" rtlCol="0" anchor="ctr"/>
            <a:lstStyle/>
            <a:p>
              <a:pPr algn="ctr">
                <a:lnSpc>
                  <a:spcPts val="2903"/>
                </a:lnSpc>
              </a:pPr>
              <a:endParaRPr/>
            </a:p>
          </p:txBody>
        </p:sp>
      </p:grpSp>
      <p:sp>
        <p:nvSpPr>
          <p:cNvPr id="6" name="TextBox 6"/>
          <p:cNvSpPr txBox="1"/>
          <p:nvPr/>
        </p:nvSpPr>
        <p:spPr>
          <a:xfrm>
            <a:off x="9821697" y="2399727"/>
            <a:ext cx="7815073" cy="2790733"/>
          </a:xfrm>
          <a:prstGeom prst="rect">
            <a:avLst/>
          </a:prstGeom>
        </p:spPr>
        <p:txBody>
          <a:bodyPr lIns="0" tIns="0" rIns="0" bIns="0" rtlCol="0" anchor="t">
            <a:spAutoFit/>
          </a:bodyPr>
          <a:lstStyle/>
          <a:p>
            <a:pPr marL="0" lvl="0" indent="0" algn="l">
              <a:lnSpc>
                <a:spcPts val="3155"/>
              </a:lnSpc>
            </a:pPr>
            <a:r>
              <a:rPr lang="en-US" sz="2253">
                <a:solidFill>
                  <a:srgbClr val="000038"/>
                </a:solidFill>
                <a:latin typeface="DM Sans"/>
                <a:ea typeface="DM Sans"/>
                <a:cs typeface="DM Sans"/>
                <a:sym typeface="DM Sans"/>
              </a:rPr>
              <a:t>We implemented </a:t>
            </a:r>
            <a:r>
              <a:rPr lang="en-US" sz="2253" b="1">
                <a:solidFill>
                  <a:srgbClr val="000038"/>
                </a:solidFill>
                <a:latin typeface="DM Sans Bold"/>
                <a:ea typeface="DM Sans Bold"/>
                <a:cs typeface="DM Sans Bold"/>
                <a:sym typeface="DM Sans Bold"/>
              </a:rPr>
              <a:t>Logistic Regression</a:t>
            </a:r>
            <a:r>
              <a:rPr lang="en-US" sz="2253">
                <a:solidFill>
                  <a:srgbClr val="000038"/>
                </a:solidFill>
                <a:latin typeface="DM Sans"/>
                <a:ea typeface="DM Sans"/>
                <a:cs typeface="DM Sans"/>
                <a:sym typeface="DM Sans"/>
              </a:rPr>
              <a:t> to predict customer segments, </a:t>
            </a:r>
          </a:p>
          <a:p>
            <a:pPr marL="486555" lvl="1" indent="-243278" algn="l">
              <a:lnSpc>
                <a:spcPts val="3155"/>
              </a:lnSpc>
              <a:buFont typeface="Arial"/>
              <a:buChar char="•"/>
            </a:pPr>
            <a:r>
              <a:rPr lang="en-US" sz="2253" b="1">
                <a:solidFill>
                  <a:srgbClr val="000038"/>
                </a:solidFill>
                <a:latin typeface="DM Sans Bold"/>
                <a:ea typeface="DM Sans Bold"/>
                <a:cs typeface="DM Sans Bold"/>
                <a:sym typeface="DM Sans Bold"/>
              </a:rPr>
              <a:t>Accuracy: 1.00 </a:t>
            </a:r>
            <a:r>
              <a:rPr lang="en-US" sz="2253">
                <a:solidFill>
                  <a:srgbClr val="000038"/>
                </a:solidFill>
                <a:latin typeface="DM Sans"/>
                <a:ea typeface="DM Sans"/>
                <a:cs typeface="DM Sans"/>
                <a:sym typeface="DM Sans"/>
              </a:rPr>
              <a:t>(100%)</a:t>
            </a:r>
          </a:p>
          <a:p>
            <a:pPr marL="486555" lvl="1" indent="-243278" algn="l">
              <a:lnSpc>
                <a:spcPts val="3155"/>
              </a:lnSpc>
              <a:buFont typeface="Arial"/>
              <a:buChar char="•"/>
            </a:pPr>
            <a:r>
              <a:rPr lang="en-US" sz="2253">
                <a:solidFill>
                  <a:srgbClr val="000038"/>
                </a:solidFill>
                <a:latin typeface="DM Sans"/>
                <a:ea typeface="DM Sans"/>
                <a:cs typeface="DM Sans"/>
                <a:sym typeface="DM Sans"/>
              </a:rPr>
              <a:t>Precision, Recall, F1-Score: 1.00 across classes</a:t>
            </a:r>
          </a:p>
          <a:p>
            <a:pPr marL="486555" lvl="1" indent="-243278" algn="l">
              <a:lnSpc>
                <a:spcPts val="3155"/>
              </a:lnSpc>
              <a:buFont typeface="Arial"/>
              <a:buChar char="•"/>
            </a:pPr>
            <a:r>
              <a:rPr lang="en-US" sz="2253">
                <a:solidFill>
                  <a:srgbClr val="000038"/>
                </a:solidFill>
                <a:latin typeface="DM Sans"/>
                <a:ea typeface="DM Sans"/>
                <a:cs typeface="DM Sans"/>
                <a:sym typeface="DM Sans"/>
              </a:rPr>
              <a:t>Test Samples: 868</a:t>
            </a:r>
          </a:p>
          <a:p>
            <a:pPr marL="486555" lvl="1" indent="-243278" algn="l">
              <a:lnSpc>
                <a:spcPts val="3155"/>
              </a:lnSpc>
              <a:buFont typeface="Arial"/>
              <a:buChar char="•"/>
            </a:pPr>
            <a:r>
              <a:rPr lang="en-US" sz="2253">
                <a:solidFill>
                  <a:srgbClr val="000038"/>
                </a:solidFill>
                <a:latin typeface="DM Sans"/>
                <a:ea typeface="DM Sans"/>
                <a:cs typeface="DM Sans"/>
                <a:sym typeface="DM Sans"/>
              </a:rPr>
              <a:t>Very strong linear separation observed</a:t>
            </a:r>
          </a:p>
          <a:p>
            <a:pPr marL="0" lvl="0" indent="0" algn="l">
              <a:lnSpc>
                <a:spcPts val="3155"/>
              </a:lnSpc>
            </a:pPr>
            <a:endParaRPr lang="en-US" sz="2253">
              <a:solidFill>
                <a:srgbClr val="000038"/>
              </a:solidFill>
              <a:latin typeface="DM Sans"/>
              <a:ea typeface="DM Sans"/>
              <a:cs typeface="DM Sans"/>
              <a:sym typeface="DM Sans"/>
            </a:endParaRPr>
          </a:p>
        </p:txBody>
      </p:sp>
      <p:sp>
        <p:nvSpPr>
          <p:cNvPr id="7" name="TextBox 7"/>
          <p:cNvSpPr txBox="1"/>
          <p:nvPr/>
        </p:nvSpPr>
        <p:spPr>
          <a:xfrm>
            <a:off x="9821697" y="6068877"/>
            <a:ext cx="7815073" cy="2790733"/>
          </a:xfrm>
          <a:prstGeom prst="rect">
            <a:avLst/>
          </a:prstGeom>
        </p:spPr>
        <p:txBody>
          <a:bodyPr lIns="0" tIns="0" rIns="0" bIns="0" rtlCol="0" anchor="t">
            <a:spAutoFit/>
          </a:bodyPr>
          <a:lstStyle/>
          <a:p>
            <a:pPr marL="0" lvl="0" indent="0" algn="l">
              <a:lnSpc>
                <a:spcPts val="3155"/>
              </a:lnSpc>
            </a:pPr>
            <a:r>
              <a:rPr lang="en-US" sz="2253">
                <a:solidFill>
                  <a:srgbClr val="000038"/>
                </a:solidFill>
                <a:latin typeface="DM Sans"/>
                <a:ea typeface="DM Sans"/>
                <a:cs typeface="DM Sans"/>
                <a:sym typeface="DM Sans"/>
              </a:rPr>
              <a:t>The </a:t>
            </a:r>
            <a:r>
              <a:rPr lang="en-US" sz="2253" b="1">
                <a:solidFill>
                  <a:srgbClr val="000038"/>
                </a:solidFill>
                <a:latin typeface="DM Sans Bold"/>
                <a:ea typeface="DM Sans Bold"/>
                <a:cs typeface="DM Sans Bold"/>
                <a:sym typeface="DM Sans Bold"/>
              </a:rPr>
              <a:t>Random Forest model</a:t>
            </a:r>
            <a:r>
              <a:rPr lang="en-US" sz="2253">
                <a:solidFill>
                  <a:srgbClr val="000038"/>
                </a:solidFill>
                <a:latin typeface="DM Sans"/>
                <a:ea typeface="DM Sans"/>
                <a:cs typeface="DM Sans"/>
                <a:sym typeface="DM Sans"/>
              </a:rPr>
              <a:t> was tested alongside Logistic Regression, resulting in a </a:t>
            </a:r>
          </a:p>
          <a:p>
            <a:pPr marL="486555" lvl="1" indent="-243278" algn="l">
              <a:lnSpc>
                <a:spcPts val="3155"/>
              </a:lnSpc>
              <a:buFont typeface="Arial"/>
              <a:buChar char="•"/>
            </a:pPr>
            <a:r>
              <a:rPr lang="en-US" sz="2253" b="1">
                <a:solidFill>
                  <a:srgbClr val="000038"/>
                </a:solidFill>
                <a:latin typeface="DM Sans Bold"/>
                <a:ea typeface="DM Sans Bold"/>
                <a:cs typeface="DM Sans Bold"/>
                <a:sym typeface="DM Sans Bold"/>
              </a:rPr>
              <a:t>Accuracy: 0.9965 </a:t>
            </a:r>
            <a:r>
              <a:rPr lang="en-US" sz="2253">
                <a:solidFill>
                  <a:srgbClr val="000038"/>
                </a:solidFill>
                <a:latin typeface="DM Sans"/>
                <a:ea typeface="DM Sans"/>
                <a:cs typeface="DM Sans"/>
                <a:sym typeface="DM Sans"/>
              </a:rPr>
              <a:t>(99.65%)</a:t>
            </a:r>
          </a:p>
          <a:p>
            <a:pPr marL="486555" lvl="1" indent="-243278" algn="l">
              <a:lnSpc>
                <a:spcPts val="3155"/>
              </a:lnSpc>
              <a:buFont typeface="Arial"/>
              <a:buChar char="•"/>
            </a:pPr>
            <a:r>
              <a:rPr lang="en-US" sz="2253">
                <a:solidFill>
                  <a:srgbClr val="000038"/>
                </a:solidFill>
                <a:latin typeface="DM Sans"/>
                <a:ea typeface="DM Sans"/>
                <a:cs typeface="DM Sans"/>
                <a:sym typeface="DM Sans"/>
              </a:rPr>
              <a:t>Strong performance across major clusters</a:t>
            </a:r>
          </a:p>
          <a:p>
            <a:pPr marL="486555" lvl="1" indent="-243278" algn="l">
              <a:lnSpc>
                <a:spcPts val="3155"/>
              </a:lnSpc>
              <a:buFont typeface="Arial"/>
              <a:buChar char="•"/>
            </a:pPr>
            <a:r>
              <a:rPr lang="en-US" sz="2253">
                <a:solidFill>
                  <a:srgbClr val="000038"/>
                </a:solidFill>
                <a:latin typeface="DM Sans"/>
                <a:ea typeface="DM Sans"/>
                <a:cs typeface="DM Sans"/>
                <a:sym typeface="DM Sans"/>
              </a:rPr>
              <a:t>Better handling of feature interactions</a:t>
            </a:r>
          </a:p>
          <a:p>
            <a:pPr marL="486555" lvl="1" indent="-243278" algn="l">
              <a:lnSpc>
                <a:spcPts val="3155"/>
              </a:lnSpc>
              <a:buFont typeface="Arial"/>
              <a:buChar char="•"/>
            </a:pPr>
            <a:r>
              <a:rPr lang="en-US" sz="2253">
                <a:solidFill>
                  <a:srgbClr val="000038"/>
                </a:solidFill>
                <a:latin typeface="DM Sans"/>
                <a:ea typeface="DM Sans"/>
                <a:cs typeface="DM Sans"/>
                <a:sym typeface="DM Sans"/>
              </a:rPr>
              <a:t>More stable across imbalanced classes</a:t>
            </a:r>
          </a:p>
          <a:p>
            <a:pPr marL="0" lvl="0" indent="0" algn="l">
              <a:lnSpc>
                <a:spcPts val="3155"/>
              </a:lnSpc>
            </a:pPr>
            <a:endParaRPr lang="en-US" sz="2253">
              <a:solidFill>
                <a:srgbClr val="000038"/>
              </a:solidFill>
              <a:latin typeface="DM Sans"/>
              <a:ea typeface="DM Sans"/>
              <a:cs typeface="DM Sans"/>
              <a:sym typeface="DM Sans"/>
            </a:endParaRPr>
          </a:p>
        </p:txBody>
      </p:sp>
      <p:sp>
        <p:nvSpPr>
          <p:cNvPr id="8" name="TextBox 8"/>
          <p:cNvSpPr txBox="1"/>
          <p:nvPr/>
        </p:nvSpPr>
        <p:spPr>
          <a:xfrm>
            <a:off x="9444227" y="5260586"/>
            <a:ext cx="3262498" cy="472710"/>
          </a:xfrm>
          <a:prstGeom prst="rect">
            <a:avLst/>
          </a:prstGeom>
        </p:spPr>
        <p:txBody>
          <a:bodyPr lIns="0" tIns="0" rIns="0" bIns="0" rtlCol="0" anchor="t">
            <a:spAutoFit/>
          </a:bodyPr>
          <a:lstStyle/>
          <a:p>
            <a:pPr marL="0" lvl="0" indent="0" algn="l">
              <a:lnSpc>
                <a:spcPts val="3955"/>
              </a:lnSpc>
            </a:pPr>
            <a:r>
              <a:rPr lang="en-US" sz="2825" b="1">
                <a:solidFill>
                  <a:srgbClr val="000038"/>
                </a:solidFill>
                <a:latin typeface="DM Sans Bold"/>
                <a:ea typeface="DM Sans Bold"/>
                <a:cs typeface="DM Sans Bold"/>
                <a:sym typeface="DM Sans Bold"/>
              </a:rPr>
              <a:t>RANDOM FOREST</a:t>
            </a:r>
          </a:p>
        </p:txBody>
      </p:sp>
      <p:sp>
        <p:nvSpPr>
          <p:cNvPr id="9" name="TextBox 9"/>
          <p:cNvSpPr txBox="1"/>
          <p:nvPr/>
        </p:nvSpPr>
        <p:spPr>
          <a:xfrm>
            <a:off x="666750" y="1630800"/>
            <a:ext cx="3645619" cy="1496092"/>
          </a:xfrm>
          <a:prstGeom prst="rect">
            <a:avLst/>
          </a:prstGeom>
        </p:spPr>
        <p:txBody>
          <a:bodyPr lIns="0" tIns="0" rIns="0" bIns="0" rtlCol="0" anchor="t">
            <a:spAutoFit/>
          </a:bodyPr>
          <a:lstStyle/>
          <a:p>
            <a:pPr marL="0" lvl="0" indent="0" algn="l">
              <a:lnSpc>
                <a:spcPts val="3323"/>
              </a:lnSpc>
            </a:pPr>
            <a:r>
              <a:rPr lang="en-US" sz="2373">
                <a:solidFill>
                  <a:srgbClr val="F5F6F7"/>
                </a:solidFill>
                <a:latin typeface="DM Sans"/>
                <a:ea typeface="DM Sans"/>
                <a:cs typeface="DM Sans"/>
                <a:sym typeface="DM Sans"/>
              </a:rPr>
              <a:t>Models Implemented</a:t>
            </a:r>
          </a:p>
          <a:p>
            <a:pPr marL="447724" lvl="1" indent="-223862" algn="l">
              <a:lnSpc>
                <a:spcPts val="2903"/>
              </a:lnSpc>
              <a:buFont typeface="Arial"/>
              <a:buChar char="•"/>
            </a:pPr>
            <a:r>
              <a:rPr lang="en-US" sz="2073">
                <a:solidFill>
                  <a:srgbClr val="F5F6F7"/>
                </a:solidFill>
                <a:latin typeface="DM Sans"/>
                <a:ea typeface="DM Sans"/>
                <a:cs typeface="DM Sans"/>
                <a:sym typeface="DM Sans"/>
              </a:rPr>
              <a:t>Logistic Regression</a:t>
            </a:r>
          </a:p>
          <a:p>
            <a:pPr marL="447724" lvl="1" indent="-223862" algn="l">
              <a:lnSpc>
                <a:spcPts val="2903"/>
              </a:lnSpc>
              <a:buFont typeface="Arial"/>
              <a:buChar char="•"/>
            </a:pPr>
            <a:r>
              <a:rPr lang="en-US" sz="2073">
                <a:solidFill>
                  <a:srgbClr val="F5F6F7"/>
                </a:solidFill>
                <a:latin typeface="DM Sans"/>
                <a:ea typeface="DM Sans"/>
                <a:cs typeface="DM Sans"/>
                <a:sym typeface="DM Sans"/>
              </a:rPr>
              <a:t>Random Forest Classifier</a:t>
            </a:r>
          </a:p>
          <a:p>
            <a:pPr marL="0" lvl="0" indent="0" algn="l">
              <a:lnSpc>
                <a:spcPts val="2903"/>
              </a:lnSpc>
            </a:pPr>
            <a:endParaRPr lang="en-US" sz="2073">
              <a:solidFill>
                <a:srgbClr val="F5F6F7"/>
              </a:solidFill>
              <a:latin typeface="DM Sans"/>
              <a:ea typeface="DM Sans"/>
              <a:cs typeface="DM Sans"/>
              <a:sym typeface="DM Sans"/>
            </a:endParaRPr>
          </a:p>
        </p:txBody>
      </p:sp>
      <p:sp>
        <p:nvSpPr>
          <p:cNvPr id="10" name="TextBox 10"/>
          <p:cNvSpPr txBox="1"/>
          <p:nvPr/>
        </p:nvSpPr>
        <p:spPr>
          <a:xfrm>
            <a:off x="503602" y="3088219"/>
            <a:ext cx="8073162" cy="2219992"/>
          </a:xfrm>
          <a:prstGeom prst="rect">
            <a:avLst/>
          </a:prstGeom>
        </p:spPr>
        <p:txBody>
          <a:bodyPr lIns="0" tIns="0" rIns="0" bIns="0" rtlCol="0" anchor="t">
            <a:spAutoFit/>
          </a:bodyPr>
          <a:lstStyle/>
          <a:p>
            <a:pPr algn="l">
              <a:lnSpc>
                <a:spcPts val="3323"/>
              </a:lnSpc>
            </a:pPr>
            <a:r>
              <a:rPr lang="en-US" sz="2373">
                <a:solidFill>
                  <a:srgbClr val="F5F6F7"/>
                </a:solidFill>
                <a:latin typeface="DM Sans"/>
                <a:ea typeface="DM Sans"/>
                <a:cs typeface="DM Sans"/>
                <a:sym typeface="DM Sans"/>
              </a:rPr>
              <a:t> Key Observation</a:t>
            </a:r>
          </a:p>
          <a:p>
            <a:pPr marL="447724" lvl="1" indent="-223862" algn="l">
              <a:lnSpc>
                <a:spcPts val="2903"/>
              </a:lnSpc>
              <a:buFont typeface="Arial"/>
              <a:buChar char="•"/>
            </a:pPr>
            <a:r>
              <a:rPr lang="en-US" sz="2073">
                <a:solidFill>
                  <a:srgbClr val="F5F6F7"/>
                </a:solidFill>
                <a:latin typeface="DM Sans"/>
                <a:ea typeface="DM Sans"/>
                <a:cs typeface="DM Sans"/>
                <a:sym typeface="DM Sans"/>
              </a:rPr>
              <a:t>Dataset was imbalanced (one cluster had only 4 samples).</a:t>
            </a:r>
          </a:p>
          <a:p>
            <a:pPr marL="447724" lvl="1" indent="-223862" algn="l">
              <a:lnSpc>
                <a:spcPts val="2903"/>
              </a:lnSpc>
              <a:buFont typeface="Arial"/>
              <a:buChar char="•"/>
            </a:pPr>
            <a:r>
              <a:rPr lang="en-US" sz="2073">
                <a:solidFill>
                  <a:srgbClr val="F5F6F7"/>
                </a:solidFill>
                <a:latin typeface="DM Sans"/>
                <a:ea typeface="DM Sans"/>
                <a:cs typeface="DM Sans"/>
                <a:sym typeface="DM Sans"/>
              </a:rPr>
              <a:t>Clusters were created using RFM features, and the same RFM features were used for prediction.</a:t>
            </a:r>
          </a:p>
          <a:p>
            <a:pPr marL="447724" lvl="1" indent="-223862" algn="l">
              <a:lnSpc>
                <a:spcPts val="2903"/>
              </a:lnSpc>
              <a:buFont typeface="Arial"/>
              <a:buChar char="•"/>
            </a:pPr>
            <a:r>
              <a:rPr lang="en-US" sz="2073">
                <a:solidFill>
                  <a:srgbClr val="F5F6F7"/>
                </a:solidFill>
                <a:latin typeface="DM Sans"/>
                <a:ea typeface="DM Sans"/>
                <a:cs typeface="DM Sans"/>
                <a:sym typeface="DM Sans"/>
              </a:rPr>
              <a:t>This resulted in naturally high classification accuracy.</a:t>
            </a:r>
          </a:p>
          <a:p>
            <a:pPr marL="0" lvl="0" indent="0" algn="l">
              <a:lnSpc>
                <a:spcPts val="2903"/>
              </a:lnSpc>
            </a:pPr>
            <a:endParaRPr lang="en-US" sz="2073">
              <a:solidFill>
                <a:srgbClr val="F5F6F7"/>
              </a:solidFill>
              <a:latin typeface="DM Sans"/>
              <a:ea typeface="DM Sans"/>
              <a:cs typeface="DM Sans"/>
              <a:sym typeface="DM Sans"/>
            </a:endParaRPr>
          </a:p>
        </p:txBody>
      </p:sp>
      <p:sp>
        <p:nvSpPr>
          <p:cNvPr id="11" name="Freeform 11"/>
          <p:cNvSpPr/>
          <p:nvPr/>
        </p:nvSpPr>
        <p:spPr>
          <a:xfrm>
            <a:off x="12558553" y="-1210108"/>
            <a:ext cx="3612766" cy="3612766"/>
          </a:xfrm>
          <a:custGeom>
            <a:avLst/>
            <a:gdLst/>
            <a:ahLst/>
            <a:cxnLst/>
            <a:rect l="l" t="t" r="r" b="b"/>
            <a:pathLst>
              <a:path w="3612766" h="3612766">
                <a:moveTo>
                  <a:pt x="0" y="0"/>
                </a:moveTo>
                <a:lnTo>
                  <a:pt x="3612766" y="0"/>
                </a:lnTo>
                <a:lnTo>
                  <a:pt x="3612766" y="3612766"/>
                </a:lnTo>
                <a:lnTo>
                  <a:pt x="0" y="36127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flipV="1">
            <a:off x="13146586" y="-845752"/>
            <a:ext cx="4381849" cy="2884054"/>
          </a:xfrm>
          <a:custGeom>
            <a:avLst/>
            <a:gdLst/>
            <a:ahLst/>
            <a:cxnLst/>
            <a:rect l="l" t="t" r="r" b="b"/>
            <a:pathLst>
              <a:path w="4381849" h="2884054">
                <a:moveTo>
                  <a:pt x="0" y="2884054"/>
                </a:moveTo>
                <a:lnTo>
                  <a:pt x="4381849" y="2884054"/>
                </a:lnTo>
                <a:lnTo>
                  <a:pt x="4381849" y="0"/>
                </a:lnTo>
                <a:lnTo>
                  <a:pt x="0" y="0"/>
                </a:lnTo>
                <a:lnTo>
                  <a:pt x="0" y="288405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9444227" y="1693093"/>
            <a:ext cx="4285006" cy="472710"/>
          </a:xfrm>
          <a:prstGeom prst="rect">
            <a:avLst/>
          </a:prstGeom>
        </p:spPr>
        <p:txBody>
          <a:bodyPr lIns="0" tIns="0" rIns="0" bIns="0" rtlCol="0" anchor="t">
            <a:spAutoFit/>
          </a:bodyPr>
          <a:lstStyle/>
          <a:p>
            <a:pPr marL="0" lvl="0" indent="0" algn="l">
              <a:lnSpc>
                <a:spcPts val="3955"/>
              </a:lnSpc>
            </a:pPr>
            <a:r>
              <a:rPr lang="en-US" sz="2825" b="1">
                <a:solidFill>
                  <a:srgbClr val="000038"/>
                </a:solidFill>
                <a:latin typeface="DM Sans Bold"/>
                <a:ea typeface="DM Sans Bold"/>
                <a:cs typeface="DM Sans Bold"/>
                <a:sym typeface="DM Sans Bold"/>
              </a:rPr>
              <a:t>LOGISTIC REGRESSION</a:t>
            </a:r>
          </a:p>
        </p:txBody>
      </p:sp>
      <p:grpSp>
        <p:nvGrpSpPr>
          <p:cNvPr id="14" name="Group 14"/>
          <p:cNvGrpSpPr/>
          <p:nvPr/>
        </p:nvGrpSpPr>
        <p:grpSpPr>
          <a:xfrm>
            <a:off x="503602" y="5308211"/>
            <a:ext cx="8083098" cy="4627693"/>
            <a:chOff x="0" y="0"/>
            <a:chExt cx="2462849" cy="1410018"/>
          </a:xfrm>
        </p:grpSpPr>
        <p:sp>
          <p:nvSpPr>
            <p:cNvPr id="15" name="Freeform 15"/>
            <p:cNvSpPr/>
            <p:nvPr/>
          </p:nvSpPr>
          <p:spPr>
            <a:xfrm>
              <a:off x="0" y="0"/>
              <a:ext cx="2462849" cy="1410018"/>
            </a:xfrm>
            <a:custGeom>
              <a:avLst/>
              <a:gdLst/>
              <a:ahLst/>
              <a:cxnLst/>
              <a:rect l="l" t="t" r="r" b="b"/>
              <a:pathLst>
                <a:path w="2462849" h="1410018">
                  <a:moveTo>
                    <a:pt x="48847" y="0"/>
                  </a:moveTo>
                  <a:lnTo>
                    <a:pt x="2414002" y="0"/>
                  </a:lnTo>
                  <a:cubicBezTo>
                    <a:pt x="2426957" y="0"/>
                    <a:pt x="2439382" y="5146"/>
                    <a:pt x="2448542" y="14307"/>
                  </a:cubicBezTo>
                  <a:cubicBezTo>
                    <a:pt x="2457703" y="23468"/>
                    <a:pt x="2462849" y="35892"/>
                    <a:pt x="2462849" y="48847"/>
                  </a:cubicBezTo>
                  <a:lnTo>
                    <a:pt x="2462849" y="1361170"/>
                  </a:lnTo>
                  <a:cubicBezTo>
                    <a:pt x="2462849" y="1374125"/>
                    <a:pt x="2457703" y="1386550"/>
                    <a:pt x="2448542" y="1395711"/>
                  </a:cubicBezTo>
                  <a:cubicBezTo>
                    <a:pt x="2439382" y="1404871"/>
                    <a:pt x="2426957" y="1410018"/>
                    <a:pt x="2414002" y="1410018"/>
                  </a:cubicBezTo>
                  <a:lnTo>
                    <a:pt x="48847" y="1410018"/>
                  </a:lnTo>
                  <a:cubicBezTo>
                    <a:pt x="35892" y="1410018"/>
                    <a:pt x="23468" y="1404871"/>
                    <a:pt x="14307" y="1395711"/>
                  </a:cubicBezTo>
                  <a:cubicBezTo>
                    <a:pt x="5146" y="1386550"/>
                    <a:pt x="0" y="1374125"/>
                    <a:pt x="0" y="1361170"/>
                  </a:cubicBezTo>
                  <a:lnTo>
                    <a:pt x="0" y="48847"/>
                  </a:lnTo>
                  <a:cubicBezTo>
                    <a:pt x="0" y="35892"/>
                    <a:pt x="5146" y="23468"/>
                    <a:pt x="14307" y="14307"/>
                  </a:cubicBezTo>
                  <a:cubicBezTo>
                    <a:pt x="23468" y="5146"/>
                    <a:pt x="35892" y="0"/>
                    <a:pt x="48847" y="0"/>
                  </a:cubicBezTo>
                  <a:close/>
                </a:path>
              </a:pathLst>
            </a:custGeom>
            <a:solidFill>
              <a:srgbClr val="F4F5F7"/>
            </a:solidFill>
          </p:spPr>
        </p:sp>
        <p:sp>
          <p:nvSpPr>
            <p:cNvPr id="16" name="TextBox 16"/>
            <p:cNvSpPr txBox="1"/>
            <p:nvPr/>
          </p:nvSpPr>
          <p:spPr>
            <a:xfrm>
              <a:off x="0" y="-28575"/>
              <a:ext cx="2462849" cy="1438593"/>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12566" y="5535254"/>
            <a:ext cx="7465171" cy="4125981"/>
          </a:xfrm>
          <a:prstGeom prst="rect">
            <a:avLst/>
          </a:prstGeom>
        </p:spPr>
        <p:txBody>
          <a:bodyPr lIns="0" tIns="0" rIns="0" bIns="0" rtlCol="0" anchor="t">
            <a:spAutoFit/>
          </a:bodyPr>
          <a:lstStyle/>
          <a:p>
            <a:pPr marL="0" lvl="0" indent="0" algn="l">
              <a:lnSpc>
                <a:spcPts val="3013"/>
              </a:lnSpc>
            </a:pPr>
            <a:r>
              <a:rPr lang="en-US" sz="2152">
                <a:solidFill>
                  <a:srgbClr val="000038"/>
                </a:solidFill>
                <a:latin typeface="DM Sans"/>
                <a:ea typeface="DM Sans"/>
                <a:cs typeface="DM Sans"/>
                <a:sym typeface="DM Sans"/>
              </a:rPr>
              <a:t>🔹 Why Random Forest Was Selected</a:t>
            </a:r>
          </a:p>
          <a:p>
            <a:pPr marL="0" lvl="0" indent="0" algn="l">
              <a:lnSpc>
                <a:spcPts val="3013"/>
              </a:lnSpc>
            </a:pPr>
            <a:r>
              <a:rPr lang="en-US" sz="2152">
                <a:solidFill>
                  <a:srgbClr val="000038"/>
                </a:solidFill>
                <a:latin typeface="DM Sans"/>
                <a:ea typeface="DM Sans"/>
                <a:cs typeface="DM Sans"/>
                <a:sym typeface="DM Sans"/>
              </a:rPr>
              <a:t>Although Logistic Regression achieved perfect accuracy, Random Forest was selected due to its robustness, flexibility, and stronger real-world reliability.</a:t>
            </a:r>
          </a:p>
          <a:p>
            <a:pPr marL="464770" lvl="1" indent="-232385" algn="l">
              <a:lnSpc>
                <a:spcPts val="3013"/>
              </a:lnSpc>
              <a:buFont typeface="Arial"/>
              <a:buChar char="•"/>
            </a:pPr>
            <a:r>
              <a:rPr lang="en-US" sz="2152">
                <a:solidFill>
                  <a:srgbClr val="000038"/>
                </a:solidFill>
                <a:latin typeface="DM Sans"/>
                <a:ea typeface="DM Sans"/>
                <a:cs typeface="DM Sans"/>
                <a:sym typeface="DM Sans"/>
              </a:rPr>
              <a:t>Captures non-linear relationships between Recency, Frequency, and Monetary.</a:t>
            </a:r>
          </a:p>
          <a:p>
            <a:pPr marL="464770" lvl="1" indent="-232385" algn="l">
              <a:lnSpc>
                <a:spcPts val="3013"/>
              </a:lnSpc>
              <a:buFont typeface="Arial"/>
              <a:buChar char="•"/>
            </a:pPr>
            <a:r>
              <a:rPr lang="en-US" sz="2152">
                <a:solidFill>
                  <a:srgbClr val="000038"/>
                </a:solidFill>
                <a:latin typeface="DM Sans"/>
                <a:ea typeface="DM Sans"/>
                <a:cs typeface="DM Sans"/>
                <a:sym typeface="DM Sans"/>
              </a:rPr>
              <a:t>More robust to real-world data variations.</a:t>
            </a:r>
          </a:p>
          <a:p>
            <a:pPr marL="464770" lvl="1" indent="-232385" algn="l">
              <a:lnSpc>
                <a:spcPts val="3013"/>
              </a:lnSpc>
              <a:buFont typeface="Arial"/>
              <a:buChar char="•"/>
            </a:pPr>
            <a:r>
              <a:rPr lang="en-US" sz="2152">
                <a:solidFill>
                  <a:srgbClr val="000038"/>
                </a:solidFill>
                <a:latin typeface="DM Sans"/>
                <a:ea typeface="DM Sans"/>
                <a:cs typeface="DM Sans"/>
                <a:sym typeface="DM Sans"/>
              </a:rPr>
              <a:t>Handles class imbalance more effectively.</a:t>
            </a:r>
          </a:p>
          <a:p>
            <a:pPr marL="464770" lvl="1" indent="-232385" algn="l">
              <a:lnSpc>
                <a:spcPts val="3013"/>
              </a:lnSpc>
              <a:buFont typeface="Arial"/>
              <a:buChar char="•"/>
            </a:pPr>
            <a:r>
              <a:rPr lang="en-US" sz="2152">
                <a:solidFill>
                  <a:srgbClr val="000038"/>
                </a:solidFill>
                <a:latin typeface="DM Sans"/>
                <a:ea typeface="DM Sans"/>
                <a:cs typeface="DM Sans"/>
                <a:sym typeface="DM Sans"/>
              </a:rPr>
              <a:t>Provides better generalization capability for unseen data.</a:t>
            </a:r>
          </a:p>
          <a:p>
            <a:pPr marL="464770" lvl="1" indent="-232385" algn="l">
              <a:lnSpc>
                <a:spcPts val="3013"/>
              </a:lnSpc>
              <a:buFont typeface="Arial"/>
              <a:buChar char="•"/>
            </a:pPr>
            <a:r>
              <a:rPr lang="en-US" sz="2152">
                <a:solidFill>
                  <a:srgbClr val="000038"/>
                </a:solidFill>
                <a:latin typeface="DM Sans"/>
                <a:ea typeface="DM Sans"/>
                <a:cs typeface="DM Sans"/>
                <a:sym typeface="DM Sans"/>
              </a:rPr>
              <a:t>More suitable for production deployment.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1E2F"/>
        </a:solidFill>
        <a:effectLst/>
      </p:bgPr>
    </p:bg>
    <p:spTree>
      <p:nvGrpSpPr>
        <p:cNvPr id="1" name=""/>
        <p:cNvGrpSpPr/>
        <p:nvPr/>
      </p:nvGrpSpPr>
      <p:grpSpPr>
        <a:xfrm>
          <a:off x="0" y="0"/>
          <a:ext cx="0" cy="0"/>
          <a:chOff x="0" y="0"/>
          <a:chExt cx="0" cy="0"/>
        </a:xfrm>
      </p:grpSpPr>
      <p:sp>
        <p:nvSpPr>
          <p:cNvPr id="2" name="AutoShape 2"/>
          <p:cNvSpPr/>
          <p:nvPr/>
        </p:nvSpPr>
        <p:spPr>
          <a:xfrm>
            <a:off x="0" y="676275"/>
            <a:ext cx="18288000" cy="0"/>
          </a:xfrm>
          <a:prstGeom prst="line">
            <a:avLst/>
          </a:prstGeom>
          <a:ln w="19050" cap="flat">
            <a:solidFill>
              <a:srgbClr val="F5F7FA"/>
            </a:solidFill>
            <a:prstDash val="solid"/>
            <a:headEnd type="none" w="sm" len="sm"/>
            <a:tailEnd type="none" w="sm" len="sm"/>
          </a:ln>
        </p:spPr>
      </p:sp>
      <p:sp>
        <p:nvSpPr>
          <p:cNvPr id="3" name="AutoShape 3"/>
          <p:cNvSpPr/>
          <p:nvPr/>
        </p:nvSpPr>
        <p:spPr>
          <a:xfrm flipV="1">
            <a:off x="0" y="9629775"/>
            <a:ext cx="18413117" cy="0"/>
          </a:xfrm>
          <a:prstGeom prst="line">
            <a:avLst/>
          </a:prstGeom>
          <a:ln w="19050" cap="flat">
            <a:solidFill>
              <a:srgbClr val="F5F7FA"/>
            </a:solidFill>
            <a:prstDash val="solid"/>
            <a:headEnd type="none" w="sm" len="sm"/>
            <a:tailEnd type="none" w="sm" len="sm"/>
          </a:ln>
        </p:spPr>
      </p:sp>
      <p:sp>
        <p:nvSpPr>
          <p:cNvPr id="4" name="Freeform 4"/>
          <p:cNvSpPr/>
          <p:nvPr/>
        </p:nvSpPr>
        <p:spPr>
          <a:xfrm>
            <a:off x="4898947" y="2185456"/>
            <a:ext cx="13389053" cy="7407704"/>
          </a:xfrm>
          <a:custGeom>
            <a:avLst/>
            <a:gdLst/>
            <a:ahLst/>
            <a:cxnLst/>
            <a:rect l="l" t="t" r="r" b="b"/>
            <a:pathLst>
              <a:path w="13389053" h="7407704">
                <a:moveTo>
                  <a:pt x="0" y="0"/>
                </a:moveTo>
                <a:lnTo>
                  <a:pt x="13389053" y="0"/>
                </a:lnTo>
                <a:lnTo>
                  <a:pt x="13389053" y="7407703"/>
                </a:lnTo>
                <a:lnTo>
                  <a:pt x="0" y="7407703"/>
                </a:lnTo>
                <a:lnTo>
                  <a:pt x="0" y="0"/>
                </a:lnTo>
                <a:close/>
              </a:path>
            </a:pathLst>
          </a:custGeom>
          <a:blipFill>
            <a:blip r:embed="rId2"/>
            <a:stretch>
              <a:fillRect l="-4097" t="-6643" r="-5165"/>
            </a:stretch>
          </a:blipFill>
        </p:spPr>
      </p:sp>
      <p:sp>
        <p:nvSpPr>
          <p:cNvPr id="5" name="TextBox 5"/>
          <p:cNvSpPr txBox="1"/>
          <p:nvPr/>
        </p:nvSpPr>
        <p:spPr>
          <a:xfrm>
            <a:off x="2907195" y="903391"/>
            <a:ext cx="11598654" cy="1282065"/>
          </a:xfrm>
          <a:prstGeom prst="rect">
            <a:avLst/>
          </a:prstGeom>
        </p:spPr>
        <p:txBody>
          <a:bodyPr lIns="0" tIns="0" rIns="0" bIns="0" rtlCol="0" anchor="t">
            <a:spAutoFit/>
          </a:bodyPr>
          <a:lstStyle/>
          <a:p>
            <a:pPr marL="0" lvl="0" indent="0" algn="l">
              <a:lnSpc>
                <a:spcPts val="9600"/>
              </a:lnSpc>
            </a:pPr>
            <a:r>
              <a:rPr lang="en-US" sz="9600" spc="-192">
                <a:solidFill>
                  <a:srgbClr val="F5F7FA"/>
                </a:solidFill>
                <a:latin typeface="Noto Serif Display ExtraCondensed Light"/>
                <a:ea typeface="Noto Serif Display ExtraCondensed Light"/>
                <a:cs typeface="Noto Serif Display ExtraCondensed Light"/>
                <a:sym typeface="Noto Serif Display ExtraCondensed Light"/>
              </a:rPr>
              <a:t>Model Deployment Process</a:t>
            </a:r>
          </a:p>
        </p:txBody>
      </p:sp>
      <p:sp>
        <p:nvSpPr>
          <p:cNvPr id="6" name="TextBox 6"/>
          <p:cNvSpPr txBox="1"/>
          <p:nvPr/>
        </p:nvSpPr>
        <p:spPr>
          <a:xfrm>
            <a:off x="0" y="2223556"/>
            <a:ext cx="4835792" cy="7406219"/>
          </a:xfrm>
          <a:prstGeom prst="rect">
            <a:avLst/>
          </a:prstGeom>
        </p:spPr>
        <p:txBody>
          <a:bodyPr lIns="0" tIns="0" rIns="0" bIns="0" rtlCol="0" anchor="t">
            <a:spAutoFit/>
          </a:bodyPr>
          <a:lstStyle/>
          <a:p>
            <a:pPr marL="0" lvl="0" indent="0" algn="l">
              <a:lnSpc>
                <a:spcPts val="3683"/>
              </a:lnSpc>
            </a:pPr>
            <a:endParaRPr/>
          </a:p>
          <a:p>
            <a:pPr marL="662662" lvl="1" indent="-331331" algn="l">
              <a:lnSpc>
                <a:spcPts val="3683"/>
              </a:lnSpc>
              <a:buFont typeface="Arial"/>
              <a:buChar char="•"/>
            </a:pPr>
            <a:r>
              <a:rPr lang="en-US" sz="3069" u="none" strike="noStrike">
                <a:solidFill>
                  <a:srgbClr val="F5F7FA"/>
                </a:solidFill>
                <a:latin typeface="HK Grotesk"/>
                <a:ea typeface="HK Grotesk"/>
                <a:cs typeface="HK Grotesk"/>
                <a:sym typeface="HK Grotesk"/>
              </a:rPr>
              <a:t>Finalized Random Forest model after performance comparison.</a:t>
            </a:r>
          </a:p>
          <a:p>
            <a:pPr marL="662662" lvl="1" indent="-331331" algn="l">
              <a:lnSpc>
                <a:spcPts val="3683"/>
              </a:lnSpc>
              <a:buFont typeface="Arial"/>
              <a:buChar char="•"/>
            </a:pPr>
            <a:r>
              <a:rPr lang="en-US" sz="3069" u="none" strike="noStrike">
                <a:solidFill>
                  <a:srgbClr val="F5F7FA"/>
                </a:solidFill>
                <a:latin typeface="HK Grotesk"/>
                <a:ea typeface="HK Grotesk"/>
                <a:cs typeface="HK Grotesk"/>
                <a:sym typeface="HK Grotesk"/>
              </a:rPr>
              <a:t>Saved trained model using serialization (e.g., Pickle/Joblib).</a:t>
            </a:r>
          </a:p>
          <a:p>
            <a:pPr marL="662662" lvl="1" indent="-331331" algn="l">
              <a:lnSpc>
                <a:spcPts val="3683"/>
              </a:lnSpc>
              <a:buFont typeface="Arial"/>
              <a:buChar char="•"/>
            </a:pPr>
            <a:r>
              <a:rPr lang="en-US" sz="3069" u="none" strike="noStrike">
                <a:solidFill>
                  <a:srgbClr val="F5F7FA"/>
                </a:solidFill>
                <a:latin typeface="HK Grotesk"/>
                <a:ea typeface="HK Grotesk"/>
                <a:cs typeface="HK Grotesk"/>
                <a:sym typeface="HK Grotesk"/>
              </a:rPr>
              <a:t>Integrated model with RFM feature pipeline for real-time predictions.</a:t>
            </a:r>
          </a:p>
          <a:p>
            <a:pPr marL="662662" lvl="1" indent="-331331" algn="l">
              <a:lnSpc>
                <a:spcPts val="3683"/>
              </a:lnSpc>
              <a:buFont typeface="Arial"/>
              <a:buChar char="•"/>
            </a:pPr>
            <a:r>
              <a:rPr lang="en-US" sz="3069" u="none" strike="noStrike">
                <a:solidFill>
                  <a:srgbClr val="F5F7FA"/>
                </a:solidFill>
                <a:latin typeface="HK Grotesk"/>
                <a:ea typeface="HK Grotesk"/>
                <a:cs typeface="HK Grotesk"/>
                <a:sym typeface="HK Grotesk"/>
              </a:rPr>
              <a:t>Output can be used by marketing teams for targeted campaigns and retention strategies.</a:t>
            </a:r>
          </a:p>
          <a:p>
            <a:pPr marL="0" lvl="0" indent="0" algn="l">
              <a:lnSpc>
                <a:spcPts val="3683"/>
              </a:lnSpc>
            </a:pPr>
            <a:endParaRPr lang="en-US" sz="3069" u="none" strike="noStrike">
              <a:solidFill>
                <a:srgbClr val="F5F7FA"/>
              </a:solidFill>
              <a:latin typeface="HK Grotesk"/>
              <a:ea typeface="HK Grotesk"/>
              <a:cs typeface="HK Grotesk"/>
              <a:sym typeface="HK Grotesk"/>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3215549" y="6058156"/>
            <a:ext cx="7848780" cy="7891826"/>
          </a:xfrm>
          <a:custGeom>
            <a:avLst/>
            <a:gdLst/>
            <a:ahLst/>
            <a:cxnLst/>
            <a:rect l="l" t="t" r="r" b="b"/>
            <a:pathLst>
              <a:path w="7848780" h="7891826">
                <a:moveTo>
                  <a:pt x="7848779" y="0"/>
                </a:moveTo>
                <a:lnTo>
                  <a:pt x="0" y="0"/>
                </a:lnTo>
                <a:lnTo>
                  <a:pt x="0" y="7891826"/>
                </a:lnTo>
                <a:lnTo>
                  <a:pt x="7848779" y="7891826"/>
                </a:lnTo>
                <a:lnTo>
                  <a:pt x="7848779" y="0"/>
                </a:lnTo>
                <a:close/>
              </a:path>
            </a:pathLst>
          </a:custGeom>
          <a:blipFill>
            <a:blip r:embed="rId2"/>
            <a:stretch>
              <a:fillRect/>
            </a:stretch>
          </a:blipFill>
        </p:spPr>
      </p:sp>
      <p:sp>
        <p:nvSpPr>
          <p:cNvPr id="3" name="Freeform 3"/>
          <p:cNvSpPr/>
          <p:nvPr/>
        </p:nvSpPr>
        <p:spPr>
          <a:xfrm rot="5465508" flipH="1" flipV="1">
            <a:off x="4356947" y="-5658746"/>
            <a:ext cx="7848780" cy="7891826"/>
          </a:xfrm>
          <a:custGeom>
            <a:avLst/>
            <a:gdLst/>
            <a:ahLst/>
            <a:cxnLst/>
            <a:rect l="l" t="t" r="r" b="b"/>
            <a:pathLst>
              <a:path w="7848780" h="7891826">
                <a:moveTo>
                  <a:pt x="7848779" y="7891826"/>
                </a:moveTo>
                <a:lnTo>
                  <a:pt x="0" y="7891826"/>
                </a:lnTo>
                <a:lnTo>
                  <a:pt x="0" y="0"/>
                </a:lnTo>
                <a:lnTo>
                  <a:pt x="7848779" y="0"/>
                </a:lnTo>
                <a:lnTo>
                  <a:pt x="7848779" y="7891826"/>
                </a:lnTo>
                <a:close/>
              </a:path>
            </a:pathLst>
          </a:custGeom>
          <a:blipFill>
            <a:blip r:embed="rId2">
              <a:alphaModFix amt="78000"/>
            </a:blip>
            <a:stretch>
              <a:fillRect/>
            </a:stretch>
          </a:blipFill>
        </p:spPr>
      </p:sp>
      <p:sp>
        <p:nvSpPr>
          <p:cNvPr id="4" name="Freeform 4"/>
          <p:cNvSpPr/>
          <p:nvPr/>
        </p:nvSpPr>
        <p:spPr>
          <a:xfrm flipV="1">
            <a:off x="6688953" y="-361950"/>
            <a:ext cx="1978456" cy="2286031"/>
          </a:xfrm>
          <a:custGeom>
            <a:avLst/>
            <a:gdLst/>
            <a:ahLst/>
            <a:cxnLst/>
            <a:rect l="l" t="t" r="r" b="b"/>
            <a:pathLst>
              <a:path w="1978456" h="2286031">
                <a:moveTo>
                  <a:pt x="0" y="2286031"/>
                </a:moveTo>
                <a:lnTo>
                  <a:pt x="1978456" y="2286031"/>
                </a:lnTo>
                <a:lnTo>
                  <a:pt x="1978456" y="0"/>
                </a:lnTo>
                <a:lnTo>
                  <a:pt x="0" y="0"/>
                </a:lnTo>
                <a:lnTo>
                  <a:pt x="0" y="2286031"/>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5" name="Picture 5"/>
          <p:cNvPicPr>
            <a:picLocks noChangeAspect="1"/>
          </p:cNvPicPr>
          <p:nvPr/>
        </p:nvPicPr>
        <p:blipFill>
          <a:blip r:embed="rId5"/>
          <a:stretch>
            <a:fillRect/>
          </a:stretch>
        </p:blipFill>
        <p:spPr>
          <a:xfrm>
            <a:off x="8470109" y="639345"/>
            <a:ext cx="8086697" cy="7412838"/>
          </a:xfrm>
          <a:prstGeom prst="rect">
            <a:avLst/>
          </a:prstGeom>
        </p:spPr>
      </p:pic>
      <p:grpSp>
        <p:nvGrpSpPr>
          <p:cNvPr id="6" name="Group 6"/>
          <p:cNvGrpSpPr/>
          <p:nvPr/>
        </p:nvGrpSpPr>
        <p:grpSpPr>
          <a:xfrm>
            <a:off x="17259300" y="-102870"/>
            <a:ext cx="1126686" cy="10622209"/>
            <a:chOff x="0" y="0"/>
            <a:chExt cx="174553" cy="1645658"/>
          </a:xfrm>
        </p:grpSpPr>
        <p:sp>
          <p:nvSpPr>
            <p:cNvPr id="7" name="Freeform 7"/>
            <p:cNvSpPr/>
            <p:nvPr/>
          </p:nvSpPr>
          <p:spPr>
            <a:xfrm flipV="1">
              <a:off x="0" y="0"/>
              <a:ext cx="174553" cy="1645658"/>
            </a:xfrm>
            <a:custGeom>
              <a:avLst/>
              <a:gdLst/>
              <a:ahLst/>
              <a:cxnLst/>
              <a:rect l="l" t="t" r="r" b="b"/>
              <a:pathLst>
                <a:path w="174553" h="1645658">
                  <a:moveTo>
                    <a:pt x="0" y="1645658"/>
                  </a:moveTo>
                  <a:lnTo>
                    <a:pt x="174553" y="1645658"/>
                  </a:lnTo>
                  <a:lnTo>
                    <a:pt x="174553" y="0"/>
                  </a:lnTo>
                  <a:lnTo>
                    <a:pt x="0" y="0"/>
                  </a:lnTo>
                  <a:close/>
                </a:path>
              </a:pathLst>
            </a:custGeom>
            <a:blipFill>
              <a:blip r:embed="rId6"/>
              <a:stretch>
                <a:fillRect l="-657529" r="-657529"/>
              </a:stretch>
            </a:blipFill>
          </p:spPr>
        </p:sp>
      </p:grpSp>
      <p:sp>
        <p:nvSpPr>
          <p:cNvPr id="8" name="TextBox 8"/>
          <p:cNvSpPr txBox="1"/>
          <p:nvPr/>
        </p:nvSpPr>
        <p:spPr>
          <a:xfrm>
            <a:off x="831130" y="2332002"/>
            <a:ext cx="7604201" cy="5685790"/>
          </a:xfrm>
          <a:prstGeom prst="rect">
            <a:avLst/>
          </a:prstGeom>
        </p:spPr>
        <p:txBody>
          <a:bodyPr lIns="0" tIns="0" rIns="0" bIns="0" rtlCol="0" anchor="t">
            <a:spAutoFit/>
          </a:bodyPr>
          <a:lstStyle/>
          <a:p>
            <a:pPr algn="l">
              <a:lnSpc>
                <a:spcPts val="2660"/>
              </a:lnSpc>
              <a:spcBef>
                <a:spcPct val="0"/>
              </a:spcBef>
            </a:pPr>
            <a:r>
              <a:rPr lang="en-US" sz="1900">
                <a:solidFill>
                  <a:srgbClr val="202020"/>
                </a:solidFill>
                <a:latin typeface="Codec Pro"/>
                <a:ea typeface="Codec Pro"/>
                <a:cs typeface="Codec Pro"/>
                <a:sym typeface="Codec Pro"/>
              </a:rPr>
              <a:t>successfully developed a robust customer segmentation and predictive modeling framework for an e-commerce business by leveraging RFM-based behavioral analysis and machine learning techniques. Through detailed exploratory analysis, data preprocessing, clustering comparison, and model evaluation, customers were segmented into four meaningful behavioral groups that reflect purchasing frequency, recency, and spending value</a:t>
            </a:r>
          </a:p>
          <a:p>
            <a:pPr algn="l">
              <a:lnSpc>
                <a:spcPts val="2660"/>
              </a:lnSpc>
              <a:spcBef>
                <a:spcPct val="0"/>
              </a:spcBef>
            </a:pPr>
            <a:endParaRPr lang="en-US" sz="1900">
              <a:solidFill>
                <a:srgbClr val="202020"/>
              </a:solidFill>
              <a:latin typeface="Codec Pro"/>
              <a:ea typeface="Codec Pro"/>
              <a:cs typeface="Codec Pro"/>
              <a:sym typeface="Codec Pro"/>
            </a:endParaRPr>
          </a:p>
          <a:p>
            <a:pPr algn="l">
              <a:lnSpc>
                <a:spcPts val="2660"/>
              </a:lnSpc>
              <a:spcBef>
                <a:spcPct val="0"/>
              </a:spcBef>
            </a:pPr>
            <a:endParaRPr lang="en-US" sz="1900">
              <a:solidFill>
                <a:srgbClr val="202020"/>
              </a:solidFill>
              <a:latin typeface="Codec Pro"/>
              <a:ea typeface="Codec Pro"/>
              <a:cs typeface="Codec Pro"/>
              <a:sym typeface="Codec Pro"/>
            </a:endParaRPr>
          </a:p>
          <a:p>
            <a:pPr algn="l">
              <a:lnSpc>
                <a:spcPts val="2660"/>
              </a:lnSpc>
              <a:spcBef>
                <a:spcPct val="0"/>
              </a:spcBef>
            </a:pPr>
            <a:r>
              <a:rPr lang="en-US" sz="1900">
                <a:solidFill>
                  <a:srgbClr val="202020"/>
                </a:solidFill>
                <a:latin typeface="Codec Pro"/>
                <a:ea typeface="Codec Pro"/>
                <a:cs typeface="Codec Pro"/>
                <a:sym typeface="Codec Pro"/>
              </a:rPr>
              <a:t>Business Insights</a:t>
            </a:r>
          </a:p>
          <a:p>
            <a:pPr marL="410211" lvl="1" indent="-205106" algn="l">
              <a:lnSpc>
                <a:spcPts val="2660"/>
              </a:lnSpc>
              <a:spcBef>
                <a:spcPct val="0"/>
              </a:spcBef>
              <a:buFont typeface="Arial"/>
              <a:buChar char="•"/>
            </a:pPr>
            <a:r>
              <a:rPr lang="en-US" sz="1900">
                <a:solidFill>
                  <a:srgbClr val="202020"/>
                </a:solidFill>
                <a:latin typeface="Codec Pro"/>
                <a:ea typeface="Codec Pro"/>
                <a:cs typeface="Codec Pro"/>
                <a:sym typeface="Codec Pro"/>
              </a:rPr>
              <a:t>Majority revenue is driven by a small % of VIP customers.</a:t>
            </a:r>
          </a:p>
          <a:p>
            <a:pPr marL="410211" lvl="1" indent="-205106" algn="l">
              <a:lnSpc>
                <a:spcPts val="2660"/>
              </a:lnSpc>
              <a:spcBef>
                <a:spcPct val="0"/>
              </a:spcBef>
              <a:buFont typeface="Arial"/>
              <a:buChar char="•"/>
            </a:pPr>
            <a:r>
              <a:rPr lang="en-US" sz="1900">
                <a:solidFill>
                  <a:srgbClr val="202020"/>
                </a:solidFill>
                <a:latin typeface="Codec Pro"/>
                <a:ea typeface="Codec Pro"/>
                <a:cs typeface="Codec Pro"/>
                <a:sym typeface="Codec Pro"/>
              </a:rPr>
              <a:t>Lost customers represent revenue recovery opportunity.</a:t>
            </a:r>
          </a:p>
          <a:p>
            <a:pPr marL="410211" lvl="1" indent="-205106" algn="l">
              <a:lnSpc>
                <a:spcPts val="2660"/>
              </a:lnSpc>
              <a:spcBef>
                <a:spcPct val="0"/>
              </a:spcBef>
              <a:buFont typeface="Arial"/>
              <a:buChar char="•"/>
            </a:pPr>
            <a:r>
              <a:rPr lang="en-US" sz="1900">
                <a:solidFill>
                  <a:srgbClr val="202020"/>
                </a:solidFill>
                <a:latin typeface="Codec Pro"/>
                <a:ea typeface="Codec Pro"/>
                <a:cs typeface="Codec Pro"/>
                <a:sym typeface="Codec Pro"/>
              </a:rPr>
              <a:t>Potential Loyal customers can be converted into VIP with targeted marketing.</a:t>
            </a:r>
          </a:p>
          <a:p>
            <a:pPr marL="410211" lvl="1" indent="-205106" algn="l">
              <a:lnSpc>
                <a:spcPts val="2660"/>
              </a:lnSpc>
              <a:spcBef>
                <a:spcPct val="0"/>
              </a:spcBef>
              <a:buFont typeface="Arial"/>
              <a:buChar char="•"/>
            </a:pPr>
            <a:r>
              <a:rPr lang="en-US" sz="1900">
                <a:solidFill>
                  <a:srgbClr val="202020"/>
                </a:solidFill>
                <a:latin typeface="Codec Pro"/>
                <a:ea typeface="Codec Pro"/>
                <a:cs typeface="Codec Pro"/>
                <a:sym typeface="Codec Pro"/>
              </a:rPr>
              <a:t>Segmentation enables cost-effective campaign strategy.</a:t>
            </a:r>
          </a:p>
          <a:p>
            <a:pPr algn="l">
              <a:lnSpc>
                <a:spcPts val="2660"/>
              </a:lnSpc>
              <a:spcBef>
                <a:spcPct val="0"/>
              </a:spcBef>
            </a:pPr>
            <a:endParaRPr lang="en-US" sz="1900">
              <a:solidFill>
                <a:srgbClr val="202020"/>
              </a:solidFill>
              <a:latin typeface="Codec Pro"/>
              <a:ea typeface="Codec Pro"/>
              <a:cs typeface="Codec Pro"/>
              <a:sym typeface="Codec Pro"/>
            </a:endParaRPr>
          </a:p>
        </p:txBody>
      </p:sp>
      <p:sp>
        <p:nvSpPr>
          <p:cNvPr id="9" name="TextBox 9"/>
          <p:cNvSpPr txBox="1"/>
          <p:nvPr/>
        </p:nvSpPr>
        <p:spPr>
          <a:xfrm>
            <a:off x="9144000" y="7836913"/>
            <a:ext cx="7215891" cy="1351915"/>
          </a:xfrm>
          <a:prstGeom prst="rect">
            <a:avLst/>
          </a:prstGeom>
        </p:spPr>
        <p:txBody>
          <a:bodyPr lIns="0" tIns="0" rIns="0" bIns="0" rtlCol="0" anchor="t">
            <a:spAutoFit/>
          </a:bodyPr>
          <a:lstStyle/>
          <a:p>
            <a:pPr algn="l">
              <a:lnSpc>
                <a:spcPts val="2660"/>
              </a:lnSpc>
              <a:spcBef>
                <a:spcPct val="0"/>
              </a:spcBef>
            </a:pPr>
            <a:r>
              <a:rPr lang="en-US" sz="1900">
                <a:solidFill>
                  <a:srgbClr val="202020"/>
                </a:solidFill>
                <a:latin typeface="Codec Pro"/>
                <a:ea typeface="Codec Pro"/>
                <a:cs typeface="Codec Pro"/>
                <a:sym typeface="Codec Pro"/>
              </a:rPr>
              <a:t>Identified high-value, loyal, potential, and churn-risk customers through our segmentation pipeline, providing actionable business insights and visual dashboards for enhanced decision-making.</a:t>
            </a:r>
          </a:p>
        </p:txBody>
      </p:sp>
      <p:sp>
        <p:nvSpPr>
          <p:cNvPr id="10" name="TextBox 10"/>
          <p:cNvSpPr txBox="1"/>
          <p:nvPr/>
        </p:nvSpPr>
        <p:spPr>
          <a:xfrm>
            <a:off x="640390" y="487361"/>
            <a:ext cx="6048562" cy="1149353"/>
          </a:xfrm>
          <a:prstGeom prst="rect">
            <a:avLst/>
          </a:prstGeom>
        </p:spPr>
        <p:txBody>
          <a:bodyPr lIns="0" tIns="0" rIns="0" bIns="0" rtlCol="0" anchor="t">
            <a:spAutoFit/>
          </a:bodyPr>
          <a:lstStyle/>
          <a:p>
            <a:pPr marL="0" lvl="0" indent="0" algn="l">
              <a:lnSpc>
                <a:spcPts val="8800"/>
              </a:lnSpc>
            </a:pPr>
            <a:r>
              <a:rPr lang="en-US" sz="8000" b="1">
                <a:solidFill>
                  <a:srgbClr val="000000"/>
                </a:solidFill>
                <a:latin typeface="Georgia Pro Bold"/>
                <a:ea typeface="Georgia Pro Bold"/>
                <a:cs typeface="Georgia Pro Bold"/>
                <a:sym typeface="Georgia Pro Bold"/>
              </a:rPr>
              <a:t>Conclusion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7F9FF"/>
        </a:solidFill>
        <a:effectLst/>
      </p:bgPr>
    </p:bg>
    <p:spTree>
      <p:nvGrpSpPr>
        <p:cNvPr id="1" name=""/>
        <p:cNvGrpSpPr/>
        <p:nvPr/>
      </p:nvGrpSpPr>
      <p:grpSpPr>
        <a:xfrm>
          <a:off x="0" y="0"/>
          <a:ext cx="0" cy="0"/>
          <a:chOff x="0" y="0"/>
          <a:chExt cx="0" cy="0"/>
        </a:xfrm>
      </p:grpSpPr>
      <p:sp>
        <p:nvSpPr>
          <p:cNvPr id="2" name="Freeform 2"/>
          <p:cNvSpPr/>
          <p:nvPr/>
        </p:nvSpPr>
        <p:spPr>
          <a:xfrm flipV="1">
            <a:off x="17259300" y="3611365"/>
            <a:ext cx="2813200" cy="5646935"/>
          </a:xfrm>
          <a:custGeom>
            <a:avLst/>
            <a:gdLst/>
            <a:ahLst/>
            <a:cxnLst/>
            <a:rect l="l" t="t" r="r" b="b"/>
            <a:pathLst>
              <a:path w="2813200" h="5646935">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257262" y="-3201368"/>
            <a:ext cx="2813200" cy="5646935"/>
          </a:xfrm>
          <a:custGeom>
            <a:avLst/>
            <a:gdLst/>
            <a:ahLst/>
            <a:cxnLst/>
            <a:rect l="l" t="t" r="r" b="b"/>
            <a:pathLst>
              <a:path w="2813200" h="5646935">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038967" y="7841433"/>
            <a:ext cx="2813200" cy="5646935"/>
          </a:xfrm>
          <a:custGeom>
            <a:avLst/>
            <a:gdLst/>
            <a:ahLst/>
            <a:cxnLst/>
            <a:rect l="l" t="t" r="r" b="b"/>
            <a:pathLst>
              <a:path w="2813200" h="5646935">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784500" y="1028700"/>
            <a:ext cx="2813200" cy="5646935"/>
          </a:xfrm>
          <a:custGeom>
            <a:avLst/>
            <a:gdLst/>
            <a:ahLst/>
            <a:cxnLst/>
            <a:rect l="l" t="t" r="r" b="b"/>
            <a:pathLst>
              <a:path w="2813200" h="5646935">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926064" y="7429986"/>
            <a:ext cx="1954764" cy="2437914"/>
          </a:xfrm>
          <a:custGeom>
            <a:avLst/>
            <a:gdLst/>
            <a:ahLst/>
            <a:cxnLst/>
            <a:rect l="l" t="t" r="r" b="b"/>
            <a:pathLst>
              <a:path w="1954764" h="243791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17259300" y="557698"/>
            <a:ext cx="1954764" cy="2437914"/>
          </a:xfrm>
          <a:custGeom>
            <a:avLst/>
            <a:gdLst/>
            <a:ahLst/>
            <a:cxnLst/>
            <a:rect l="l" t="t" r="r" b="b"/>
            <a:pathLst>
              <a:path w="1954764" h="243791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5373350" y="557698"/>
            <a:ext cx="1885950" cy="942975"/>
          </a:xfrm>
          <a:custGeom>
            <a:avLst/>
            <a:gdLst/>
            <a:ahLst/>
            <a:cxnLst/>
            <a:rect l="l" t="t" r="r" b="b"/>
            <a:pathLst>
              <a:path w="1885950" h="942975">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flipV="1">
            <a:off x="883444" y="8924925"/>
            <a:ext cx="1885950" cy="942975"/>
          </a:xfrm>
          <a:custGeom>
            <a:avLst/>
            <a:gdLst/>
            <a:ahLst/>
            <a:cxnLst/>
            <a:rect l="l" t="t" r="r" b="b"/>
            <a:pathLst>
              <a:path w="1885950" h="942975">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3327384" y="3607558"/>
            <a:ext cx="11633233" cy="3186184"/>
          </a:xfrm>
          <a:prstGeom prst="rect">
            <a:avLst/>
          </a:prstGeom>
        </p:spPr>
        <p:txBody>
          <a:bodyPr lIns="0" tIns="0" rIns="0" bIns="0" rtlCol="0" anchor="t">
            <a:spAutoFit/>
          </a:bodyPr>
          <a:lstStyle/>
          <a:p>
            <a:pPr algn="ctr">
              <a:lnSpc>
                <a:spcPts val="11106"/>
              </a:lnSpc>
            </a:pPr>
            <a:r>
              <a:rPr lang="en-US" sz="12479" b="1">
                <a:solidFill>
                  <a:srgbClr val="034697"/>
                </a:solidFill>
                <a:latin typeface="Futura Bold"/>
                <a:ea typeface="Futura Bold"/>
                <a:cs typeface="Futura Bold"/>
                <a:sym typeface="Futura Bold"/>
              </a:rPr>
              <a:t>THANK</a:t>
            </a:r>
          </a:p>
          <a:p>
            <a:pPr algn="ctr">
              <a:lnSpc>
                <a:spcPts val="11106"/>
              </a:lnSpc>
            </a:pPr>
            <a:r>
              <a:rPr lang="en-US" sz="12479" b="1">
                <a:solidFill>
                  <a:srgbClr val="034697"/>
                </a:solidFill>
                <a:latin typeface="Futura Bold"/>
                <a:ea typeface="Futura Bold"/>
                <a:cs typeface="Futura Bold"/>
                <a:sym typeface="Futura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1598</Words>
  <Application>Microsoft Office PowerPoint</Application>
  <PresentationFormat>Custom</PresentationFormat>
  <Paragraphs>242</Paragraphs>
  <Slides>17</Slides>
  <Notes>0</Notes>
  <HiddenSlides>0</HiddenSlides>
  <MMClips>0</MMClips>
  <ScaleCrop>false</ScaleCrop>
  <HeadingPairs>
    <vt:vector size="6" baseType="variant">
      <vt:variant>
        <vt:lpstr>Fonts Used</vt:lpstr>
      </vt:variant>
      <vt:variant>
        <vt:i4>27</vt:i4>
      </vt:variant>
      <vt:variant>
        <vt:lpstr>Theme</vt:lpstr>
      </vt:variant>
      <vt:variant>
        <vt:i4>1</vt:i4>
      </vt:variant>
      <vt:variant>
        <vt:lpstr>Slide Titles</vt:lpstr>
      </vt:variant>
      <vt:variant>
        <vt:i4>17</vt:i4>
      </vt:variant>
    </vt:vector>
  </HeadingPairs>
  <TitlesOfParts>
    <vt:vector size="45" baseType="lpstr">
      <vt:lpstr>Playpen Sans Bold</vt:lpstr>
      <vt:lpstr>DM Sans</vt:lpstr>
      <vt:lpstr>TT Interphases</vt:lpstr>
      <vt:lpstr>TT Hoves</vt:lpstr>
      <vt:lpstr>TT Interphases Bold</vt:lpstr>
      <vt:lpstr>Open Sans</vt:lpstr>
      <vt:lpstr>Open Sans Bold</vt:lpstr>
      <vt:lpstr>Cooper Hewitt Bold</vt:lpstr>
      <vt:lpstr>DM Sans Bold</vt:lpstr>
      <vt:lpstr>Arial</vt:lpstr>
      <vt:lpstr>Work Sans</vt:lpstr>
      <vt:lpstr>TT Norms Bold</vt:lpstr>
      <vt:lpstr>Noto Serif Display ExtraCondensed Bold</vt:lpstr>
      <vt:lpstr>HK Grotesk Bold</vt:lpstr>
      <vt:lpstr>Anton</vt:lpstr>
      <vt:lpstr>Codec Pro Bold</vt:lpstr>
      <vt:lpstr>HK Grotesk</vt:lpstr>
      <vt:lpstr>Noto Serif Display ExtraCondensed Light</vt:lpstr>
      <vt:lpstr>Futura Bold</vt:lpstr>
      <vt:lpstr>Georgia Pro Condensed Bold</vt:lpstr>
      <vt:lpstr>Calibri</vt:lpstr>
      <vt:lpstr>Georgia Pro Condensed Light</vt:lpstr>
      <vt:lpstr>Work Sans Bold</vt:lpstr>
      <vt:lpstr>TT Hoves Bold</vt:lpstr>
      <vt:lpstr>Codec Pro</vt:lpstr>
      <vt:lpstr>Georgia Pro Bold</vt:lpstr>
      <vt:lpstr>Georgia Pro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[Aniket Gaikwad]</dc:title>
  <cp:lastModifiedBy>Aniket Gaikwad</cp:lastModifiedBy>
  <cp:revision>2</cp:revision>
  <dcterms:created xsi:type="dcterms:W3CDTF">2006-08-16T00:00:00Z</dcterms:created>
  <dcterms:modified xsi:type="dcterms:W3CDTF">2026-02-17T06:34:59Z</dcterms:modified>
  <dc:identifier>DAHBMUh2mWQ</dc:identifier>
</cp:coreProperties>
</file>